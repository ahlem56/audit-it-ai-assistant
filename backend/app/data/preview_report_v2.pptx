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112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545AEA-6857-6BA9-DFDB-CE8BDEC561B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102CF87-0517-5DE1-96F9-A179312986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D52EAA0-6820-0A77-0F3D-42F6E98FF2F6}"/>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78B9347E-4B40-4A6D-AE19-766D8D183D5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B54CEB-4028-CA20-FBED-FFE8CC83B6E7}"/>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220370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DE2839-F8CA-284F-6253-B5A8124EB8E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A6EDC5E-5879-1432-BDEF-A10EB644F84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E4210-61A3-15D3-BD5C-AEE1C3856308}"/>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6A10FC64-CD22-BE60-9000-FA9DDCA4794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D2360A-4F0F-90F2-FFE9-DA0BD68DAAFB}"/>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923415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50C7FE-689B-5577-B91B-09331294386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29DF60C-C412-9B61-236B-D07564C855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978B8C3-5D67-7A37-2FAF-A5823B88F4E3}"/>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D5260735-CB32-992C-BE23-87AD5E31ED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5F5C26-06C1-14D3-1745-6E9EA2BA0481}"/>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25961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BD2EF3-A1B1-3283-491B-32099972A1E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D58ADF-B9EA-B65E-2FDF-79724841C1A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51AD00B-8423-0322-1B0E-DB00945A247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6F169C8-4692-893F-1AE5-A98D90F2A38C}"/>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4532EDD8-7F2A-7851-EB29-34ADF893CC3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399A976-E6C1-84C1-2B81-CFDC7FB6711C}"/>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2612025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96EC35-0BDB-6FA6-90C3-A8E32B6F9B2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C70583E-954F-ECF8-B043-FD7F3DBE2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46FE199-B02F-BA4C-0D22-41CEA716D0F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1E7F32B-CEF9-6B38-4CC3-92B3F9972B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4872A87-5025-82EC-19E8-AC661240FC6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B168823-5647-29FC-AF26-81A70FBC4940}"/>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8" name="Espace réservé du pied de page 7">
            <a:extLst>
              <a:ext uri="{FF2B5EF4-FFF2-40B4-BE49-F238E27FC236}">
                <a16:creationId xmlns:a16="http://schemas.microsoft.com/office/drawing/2014/main" id="{7EBB5DC8-54D6-2A79-F917-4E76F127E3E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5D21ADE-574D-56D0-0ADB-40B7B602E5C3}"/>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405251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EFB49-8CA1-E776-2405-97B7E9B3C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F23F5-1AF0-0FBD-C849-5A1C9C22837B}"/>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4" name="Espace réservé du pied de page 3">
            <a:extLst>
              <a:ext uri="{FF2B5EF4-FFF2-40B4-BE49-F238E27FC236}">
                <a16:creationId xmlns:a16="http://schemas.microsoft.com/office/drawing/2014/main" id="{21D05ED7-1F83-1EA3-4EF2-4842CB121D3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49C303D-F9FC-7F01-170F-6053EF601A07}"/>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550680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FFF601B-F62A-C125-CAC3-85851C2AB8B0}"/>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3" name="Espace réservé du pied de page 2">
            <a:extLst>
              <a:ext uri="{FF2B5EF4-FFF2-40B4-BE49-F238E27FC236}">
                <a16:creationId xmlns:a16="http://schemas.microsoft.com/office/drawing/2014/main" id="{AF29CB86-638C-98CB-0722-D2CFA28636F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F7DC599-1F6F-CCB6-736D-6A671A05D657}"/>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197134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C7569D-05F0-0E3F-1C08-072650DC4A9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F6AF277-E78A-1912-5D99-657D1F962C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3BFB5C3-5B72-6242-941D-50196F013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2349DB-3607-1888-0D93-58F2A0CBF560}"/>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6E3CCE2F-548F-8F66-308A-62D8232054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0F01329-2BAF-4F18-4139-807FF0CB97EB}"/>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2121263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93FA1E-E7FB-639B-6DC0-74947D485C7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830CB6D-51F1-8E61-93C9-8397518A3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14EAFC1-A982-911B-8F25-0935D9DCB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D4F7B95-76CA-9687-1452-9013C0D6CC49}"/>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6AE0FD14-E0F2-0976-7BFE-FC59451C5DF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5C9E0B1-8715-728E-9CA0-2A79A3A7930E}"/>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120637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8C995D-DBA2-7F47-8606-373010AC6E4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258F7BE-0A3C-EF40-2D66-4E3BDDDD289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34F554-4379-DD5A-5C3D-D1BECA5EBA36}"/>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A9C04E1D-7370-7940-AD42-483D388CAA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57F30DA-13CE-A591-4AA6-07C3EA9A4A02}"/>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225213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1E9A13A-457D-9B60-F83E-9EE78FE52C8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B51FBE2-C5D9-EE98-C8D1-BAF44E48331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B9A5EE-B9AE-765F-284D-60BCF7F6A7F5}"/>
              </a:ext>
            </a:extLst>
          </p:cNvPr>
          <p:cNvSpPr>
            <a:spLocks noGrp="1"/>
          </p:cNvSpPr>
          <p:nvPr>
            <p:ph type="dt" sz="half" idx="10"/>
          </p:nvPr>
        </p:nvSpPr>
        <p:spPr/>
        <p:txBody>
          <a:body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4C2EA788-73B6-1B09-DCB0-5816E13E4C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AA94B31-D2D5-37AE-03AD-A1B109BFB24B}"/>
              </a:ext>
            </a:extLst>
          </p:cNvPr>
          <p:cNvSpPr>
            <a:spLocks noGrp="1"/>
          </p:cNvSpPr>
          <p:nvPr>
            <p:ph type="sldNum" sz="quarter" idx="12"/>
          </p:nvPr>
        </p:nvSpPr>
        <p:spPr/>
        <p:txBody>
          <a:bodyPr/>
          <a:lstStyle/>
          <a:p>
            <a:fld id="{F499F47A-4814-4EC4-B5DE-A49EAD29346F}" type="slidenum">
              <a:rPr lang="fr-FR" smtClean="0"/>
              <a:t>‹N°›</a:t>
            </a:fld>
            <a:endParaRPr lang="fr-FR"/>
          </a:p>
        </p:txBody>
      </p:sp>
    </p:spTree>
    <p:extLst>
      <p:ext uri="{BB962C8B-B14F-4D97-AF65-F5344CB8AC3E}">
        <p14:creationId xmlns:p14="http://schemas.microsoft.com/office/powerpoint/2010/main" val="3021895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6CB035-7FD6-F652-529F-A18B33C56B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16A659B-9001-FF0F-FC3E-8CAFB9ABD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B6E1AE2-B0F2-BA33-5F87-BFF5B8AE3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BE4B4D-4D12-4ED1-B17D-E7CE515D62CB}"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FB856371-E891-0E4C-7D3F-0CF28B2C9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706B71B-51B1-15FA-54C9-97B0ED1AB1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99F47A-4814-4EC4-B5DE-A49EAD29346F}" type="slidenum">
              <a:rPr lang="fr-FR" smtClean="0"/>
              <a:t>‹N°›</a:t>
            </a:fld>
            <a:endParaRPr lang="fr-FR"/>
          </a:p>
        </p:txBody>
      </p:sp>
    </p:spTree>
    <p:extLst>
      <p:ext uri="{BB962C8B-B14F-4D97-AF65-F5344CB8AC3E}">
        <p14:creationId xmlns:p14="http://schemas.microsoft.com/office/powerpoint/2010/main" val="2073214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8B7E69-0D82-6334-027D-29B5F6467240}"/>
              </a:ext>
            </a:extLst>
          </p:cNvPr>
          <p:cNvSpPr/>
          <p:nvPr/>
        </p:nvSpPr>
        <p:spPr>
          <a:xfrm>
            <a:off x="0" y="0"/>
            <a:ext cx="12192000" cy="68580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392B98C-1BA2-E357-3BEB-666BF81B2015}"/>
              </a:ext>
            </a:extLst>
          </p:cNvPr>
          <p:cNvSpPr/>
          <p:nvPr/>
        </p:nvSpPr>
        <p:spPr>
          <a:xfrm>
            <a:off x="0" y="0"/>
            <a:ext cx="2667000" cy="68580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1FD00DF-AC31-4E44-3310-8A02D17ABFE1}"/>
              </a:ext>
            </a:extLst>
          </p:cNvPr>
          <p:cNvSpPr/>
          <p:nvPr/>
        </p:nvSpPr>
        <p:spPr>
          <a:xfrm>
            <a:off x="2667000" y="0"/>
            <a:ext cx="203200" cy="68580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E188295-CCC0-1D3A-9AA7-98BB299B36C4}"/>
              </a:ext>
            </a:extLst>
          </p:cNvPr>
          <p:cNvSpPr txBox="1"/>
          <p:nvPr/>
        </p:nvSpPr>
        <p:spPr>
          <a:xfrm>
            <a:off x="444500" y="609600"/>
            <a:ext cx="1778000" cy="769441"/>
          </a:xfrm>
          <a:prstGeom prst="rect">
            <a:avLst/>
          </a:prstGeom>
          <a:noFill/>
        </p:spPr>
        <p:txBody>
          <a:bodyPr vert="horz" rtlCol="0">
            <a:spAutoFit/>
          </a:bodyPr>
          <a:lstStyle/>
          <a:p>
            <a:r>
              <a:rPr lang="fr-FR" sz="2200" b="1">
                <a:solidFill>
                  <a:srgbClr val="FFFFFF"/>
                </a:solidFill>
                <a:latin typeface="Arial" panose="020B0604020202020204" pitchFamily="34" charset="0"/>
              </a:rPr>
              <a:t>Rapport
Audit ITGC</a:t>
            </a:r>
          </a:p>
        </p:txBody>
      </p:sp>
      <p:sp>
        <p:nvSpPr>
          <p:cNvPr id="6" name="ZoneTexte 5">
            <a:extLst>
              <a:ext uri="{FF2B5EF4-FFF2-40B4-BE49-F238E27FC236}">
                <a16:creationId xmlns:a16="http://schemas.microsoft.com/office/drawing/2014/main" id="{D194BF59-88D2-D8F2-8C64-B9A7E478A590}"/>
              </a:ext>
            </a:extLst>
          </p:cNvPr>
          <p:cNvSpPr txBox="1"/>
          <p:nvPr/>
        </p:nvSpPr>
        <p:spPr>
          <a:xfrm>
            <a:off x="3302000" y="1206500"/>
            <a:ext cx="7874000" cy="523220"/>
          </a:xfrm>
          <a:prstGeom prst="rect">
            <a:avLst/>
          </a:prstGeom>
          <a:noFill/>
        </p:spPr>
        <p:txBody>
          <a:bodyPr vert="horz" rtlCol="0">
            <a:spAutoFit/>
          </a:bodyPr>
          <a:lstStyle/>
          <a:p>
            <a:r>
              <a:rPr lang="fr-FR" sz="2800" b="1">
                <a:solidFill>
                  <a:srgbClr val="2E2A26"/>
                </a:solidFill>
                <a:latin typeface="Arial" panose="020B0604020202020204" pitchFamily="34" charset="0"/>
              </a:rPr>
              <a:t>Audit des accès utilisateurs SAP</a:t>
            </a:r>
          </a:p>
        </p:txBody>
      </p:sp>
      <p:sp>
        <p:nvSpPr>
          <p:cNvPr id="7" name="ZoneTexte 6">
            <a:extLst>
              <a:ext uri="{FF2B5EF4-FFF2-40B4-BE49-F238E27FC236}">
                <a16:creationId xmlns:a16="http://schemas.microsoft.com/office/drawing/2014/main" id="{2DC3743E-11DA-2A8F-692E-04B3C72C3F67}"/>
              </a:ext>
            </a:extLst>
          </p:cNvPr>
          <p:cNvSpPr txBox="1"/>
          <p:nvPr/>
        </p:nvSpPr>
        <p:spPr>
          <a:xfrm>
            <a:off x="3302000" y="2413000"/>
            <a:ext cx="6858000" cy="338554"/>
          </a:xfrm>
          <a:prstGeom prst="rect">
            <a:avLst/>
          </a:prstGeom>
          <a:noFill/>
        </p:spPr>
        <p:txBody>
          <a:bodyPr vert="horz" rtlCol="0">
            <a:spAutoFit/>
          </a:bodyPr>
          <a:lstStyle/>
          <a:p>
            <a:r>
              <a:rPr lang="fr-FR" sz="1600" b="1">
                <a:solidFill>
                  <a:srgbClr val="005FEB"/>
                </a:solidFill>
                <a:latin typeface="Arial" panose="020B0604020202020204" pitchFamily="34" charset="0"/>
              </a:rPr>
              <a:t>Mission ITGC - AUDIT-2025-001</a:t>
            </a:r>
          </a:p>
        </p:txBody>
      </p:sp>
      <p:sp>
        <p:nvSpPr>
          <p:cNvPr id="8" name="ZoneTexte 7">
            <a:extLst>
              <a:ext uri="{FF2B5EF4-FFF2-40B4-BE49-F238E27FC236}">
                <a16:creationId xmlns:a16="http://schemas.microsoft.com/office/drawing/2014/main" id="{7BF44C62-7B3F-1A9C-1A80-071C6484F356}"/>
              </a:ext>
            </a:extLst>
          </p:cNvPr>
          <p:cNvSpPr txBox="1"/>
          <p:nvPr/>
        </p:nvSpPr>
        <p:spPr>
          <a:xfrm>
            <a:off x="3302000" y="3302000"/>
            <a:ext cx="6604000" cy="954107"/>
          </a:xfrm>
          <a:prstGeom prst="rect">
            <a:avLst/>
          </a:prstGeom>
          <a:noFill/>
        </p:spPr>
        <p:txBody>
          <a:bodyPr vert="horz" rtlCol="0">
            <a:spAutoFit/>
          </a:bodyPr>
          <a:lstStyle/>
          <a:p>
            <a:r>
              <a:rPr lang="fr-FR" sz="1400">
                <a:solidFill>
                  <a:srgbClr val="2E2A26"/>
                </a:solidFill>
                <a:latin typeface="Arial" panose="020B0604020202020204" pitchFamily="34" charset="0"/>
              </a:rPr>
              <a:t>Entite auditee: Direction des Systèmes d'Information – Groupe XYZ</a:t>
            </a:r>
          </a:p>
          <a:p>
            <a:r>
              <a:rPr lang="fr-FR" sz="1400">
                <a:solidFill>
                  <a:srgbClr val="2E2A26"/>
                </a:solidFill>
                <a:latin typeface="Arial" panose="020B0604020202020204" pitchFamily="34" charset="0"/>
              </a:rPr>
              <a:t>Periode: Janvier 2025 – Mars 2025</a:t>
            </a:r>
          </a:p>
          <a:p>
            <a:r>
              <a:rPr lang="fr-FR" sz="1400">
                <a:solidFill>
                  <a:srgbClr val="2E2A26"/>
                </a:solidFill>
                <a:latin typeface="Arial" panose="020B0604020202020204" pitchFamily="34" charset="0"/>
              </a:rPr>
              <a:t>Date du rapport: 30/04/2025</a:t>
            </a:r>
          </a:p>
          <a:p>
            <a:r>
              <a:rPr lang="fr-FR" sz="1400">
                <a:solidFill>
                  <a:srgbClr val="2E2A26"/>
                </a:solidFill>
                <a:latin typeface="Arial" panose="020B0604020202020204" pitchFamily="34" charset="0"/>
              </a:rPr>
              <a:t>Strictement prive et confidentiel</a:t>
            </a:r>
          </a:p>
        </p:txBody>
      </p:sp>
    </p:spTree>
    <p:extLst>
      <p:ext uri="{BB962C8B-B14F-4D97-AF65-F5344CB8AC3E}">
        <p14:creationId xmlns:p14="http://schemas.microsoft.com/office/powerpoint/2010/main" val="249844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1F5941-14C1-17A0-B90F-6EDF0C56D7E7}"/>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43B6E66-83F0-0748-338F-B5196A31C00C}"/>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2C0B9FA-BC4E-5B18-DA04-CBCEFB92EE6C}"/>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CC6041F-BF24-5439-A056-17717CA2A488}"/>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Sommaire</a:t>
            </a:r>
          </a:p>
        </p:txBody>
      </p:sp>
      <p:sp>
        <p:nvSpPr>
          <p:cNvPr id="6" name="ZoneTexte 5">
            <a:extLst>
              <a:ext uri="{FF2B5EF4-FFF2-40B4-BE49-F238E27FC236}">
                <a16:creationId xmlns:a16="http://schemas.microsoft.com/office/drawing/2014/main" id="{EF02CB9E-3578-A3D2-03C2-332F62109E60}"/>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Structure du rapport d'audit</a:t>
            </a:r>
          </a:p>
        </p:txBody>
      </p:sp>
      <p:sp>
        <p:nvSpPr>
          <p:cNvPr id="7" name="ZoneTexte 6">
            <a:extLst>
              <a:ext uri="{FF2B5EF4-FFF2-40B4-BE49-F238E27FC236}">
                <a16:creationId xmlns:a16="http://schemas.microsoft.com/office/drawing/2014/main" id="{13951333-5804-823D-E531-C5D983FE69D5}"/>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01</a:t>
            </a:r>
          </a:p>
        </p:txBody>
      </p:sp>
      <p:sp>
        <p:nvSpPr>
          <p:cNvPr id="8" name="Rectangle 7">
            <a:extLst>
              <a:ext uri="{FF2B5EF4-FFF2-40B4-BE49-F238E27FC236}">
                <a16:creationId xmlns:a16="http://schemas.microsoft.com/office/drawing/2014/main" id="{AE21EF40-86D6-AF75-B3FE-7032D08FB224}"/>
              </a:ext>
            </a:extLst>
          </p:cNvPr>
          <p:cNvSpPr/>
          <p:nvPr/>
        </p:nvSpPr>
        <p:spPr>
          <a:xfrm>
            <a:off x="508000" y="1524000"/>
            <a:ext cx="5207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00B7ED76-2374-11AC-AB29-A1D97A5D7326}"/>
              </a:ext>
            </a:extLst>
          </p:cNvPr>
          <p:cNvSpPr txBox="1"/>
          <p:nvPr/>
        </p:nvSpPr>
        <p:spPr>
          <a:xfrm>
            <a:off x="685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Sections</a:t>
            </a:r>
          </a:p>
        </p:txBody>
      </p:sp>
      <p:sp>
        <p:nvSpPr>
          <p:cNvPr id="10" name="ZoneTexte 9">
            <a:extLst>
              <a:ext uri="{FF2B5EF4-FFF2-40B4-BE49-F238E27FC236}">
                <a16:creationId xmlns:a16="http://schemas.microsoft.com/office/drawing/2014/main" id="{24BD2DED-EDB9-A940-C6A1-69CF5AE926F1}"/>
              </a:ext>
            </a:extLst>
          </p:cNvPr>
          <p:cNvSpPr txBox="1"/>
          <p:nvPr/>
        </p:nvSpPr>
        <p:spPr>
          <a:xfrm>
            <a:off x="685800" y="2006600"/>
            <a:ext cx="4851400" cy="1200329"/>
          </a:xfrm>
          <a:prstGeom prst="rect">
            <a:avLst/>
          </a:prstGeom>
          <a:noFill/>
        </p:spPr>
        <p:txBody>
          <a:bodyPr vert="horz" rtlCol="0">
            <a:spAutoFit/>
          </a:bodyPr>
          <a:lstStyle/>
          <a:p>
            <a:r>
              <a:rPr lang="fr-FR" sz="1200">
                <a:solidFill>
                  <a:srgbClr val="2E2A26"/>
                </a:solidFill>
                <a:latin typeface="Arial" panose="020B0604020202020204" pitchFamily="34" charset="0"/>
              </a:rPr>
              <a:t>• Preambule</a:t>
            </a:r>
          </a:p>
          <a:p>
            <a:r>
              <a:rPr lang="fr-FR" sz="1200">
                <a:solidFill>
                  <a:srgbClr val="2E2A26"/>
                </a:solidFill>
                <a:latin typeface="Arial" panose="020B0604020202020204" pitchFamily="34" charset="0"/>
              </a:rPr>
              <a:t>• Objectifs de la mission</a:t>
            </a:r>
          </a:p>
          <a:p>
            <a:r>
              <a:rPr lang="fr-FR" sz="1200">
                <a:solidFill>
                  <a:srgbClr val="2E2A26"/>
                </a:solidFill>
                <a:latin typeface="Arial" panose="020B0604020202020204" pitchFamily="34" charset="0"/>
              </a:rPr>
              <a:t>• Intervenants et perimetre</a:t>
            </a:r>
          </a:p>
          <a:p>
            <a:r>
              <a:rPr lang="fr-FR" sz="1200">
                <a:solidFill>
                  <a:srgbClr val="2E2A26"/>
                </a:solidFill>
                <a:latin typeface="Arial" panose="020B0604020202020204" pitchFamily="34" charset="0"/>
              </a:rPr>
              <a:t>• Approche d'audit</a:t>
            </a:r>
          </a:p>
          <a:p>
            <a:r>
              <a:rPr lang="fr-FR" sz="1200">
                <a:solidFill>
                  <a:srgbClr val="2E2A26"/>
                </a:solidFill>
                <a:latin typeface="Arial" panose="020B0604020202020204" pitchFamily="34" charset="0"/>
              </a:rPr>
              <a:t>• Liste des controles couverts</a:t>
            </a:r>
          </a:p>
          <a:p>
            <a:r>
              <a:rPr lang="fr-FR" sz="1200">
                <a:solidFill>
                  <a:srgbClr val="2E2A26"/>
                </a:solidFill>
                <a:latin typeface="Arial" panose="020B0604020202020204" pitchFamily="34" charset="0"/>
              </a:rPr>
              <a:t>• Synthese generale</a:t>
            </a:r>
          </a:p>
        </p:txBody>
      </p:sp>
      <p:sp>
        <p:nvSpPr>
          <p:cNvPr id="11" name="Rectangle 10">
            <a:extLst>
              <a:ext uri="{FF2B5EF4-FFF2-40B4-BE49-F238E27FC236}">
                <a16:creationId xmlns:a16="http://schemas.microsoft.com/office/drawing/2014/main" id="{FD5FFCAA-ECCB-26D3-4D05-ACA8C0FDC5B2}"/>
              </a:ext>
            </a:extLst>
          </p:cNvPr>
          <p:cNvSpPr/>
          <p:nvPr/>
        </p:nvSpPr>
        <p:spPr>
          <a:xfrm>
            <a:off x="6223000" y="1524000"/>
            <a:ext cx="5207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7F624ECC-658D-DB05-2D35-D62C22A2911C}"/>
              </a:ext>
            </a:extLst>
          </p:cNvPr>
          <p:cNvSpPr txBox="1"/>
          <p:nvPr/>
        </p:nvSpPr>
        <p:spPr>
          <a:xfrm>
            <a:off x="6400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Suite du rapport</a:t>
            </a:r>
          </a:p>
        </p:txBody>
      </p:sp>
      <p:sp>
        <p:nvSpPr>
          <p:cNvPr id="13" name="ZoneTexte 12">
            <a:extLst>
              <a:ext uri="{FF2B5EF4-FFF2-40B4-BE49-F238E27FC236}">
                <a16:creationId xmlns:a16="http://schemas.microsoft.com/office/drawing/2014/main" id="{0E882973-20F8-B8C6-F7AD-83A17A8D3F20}"/>
              </a:ext>
            </a:extLst>
          </p:cNvPr>
          <p:cNvSpPr txBox="1"/>
          <p:nvPr/>
        </p:nvSpPr>
        <p:spPr>
          <a:xfrm>
            <a:off x="6400800" y="2006600"/>
            <a:ext cx="4851400" cy="830997"/>
          </a:xfrm>
          <a:prstGeom prst="rect">
            <a:avLst/>
          </a:prstGeom>
          <a:noFill/>
        </p:spPr>
        <p:txBody>
          <a:bodyPr vert="horz" rtlCol="0">
            <a:spAutoFit/>
          </a:bodyPr>
          <a:lstStyle/>
          <a:p>
            <a:r>
              <a:rPr lang="fr-FR" sz="1200">
                <a:solidFill>
                  <a:srgbClr val="2E2A26"/>
                </a:solidFill>
                <a:latin typeface="Arial" panose="020B0604020202020204" pitchFamily="34" charset="0"/>
              </a:rPr>
              <a:t>• Synthese des priorites</a:t>
            </a:r>
          </a:p>
          <a:p>
            <a:r>
              <a:rPr lang="fr-FR" sz="1200">
                <a:solidFill>
                  <a:srgbClr val="2E2A26"/>
                </a:solidFill>
                <a:latin typeface="Arial" panose="020B0604020202020204" pitchFamily="34" charset="0"/>
              </a:rPr>
              <a:t>• Points releves</a:t>
            </a:r>
          </a:p>
          <a:p>
            <a:r>
              <a:rPr lang="fr-FR" sz="1200">
                <a:solidFill>
                  <a:srgbClr val="2E2A26"/>
                </a:solidFill>
                <a:latin typeface="Arial" panose="020B0604020202020204" pitchFamily="34" charset="0"/>
              </a:rPr>
              <a:t>• Recommandations detaillees</a:t>
            </a:r>
          </a:p>
          <a:p>
            <a:r>
              <a:rPr lang="fr-FR" sz="1200">
                <a:solidFill>
                  <a:srgbClr val="2E2A26"/>
                </a:solidFill>
                <a:latin typeface="Arial" panose="020B0604020202020204" pitchFamily="34" charset="0"/>
              </a:rPr>
              <a:t>• Conclusion</a:t>
            </a:r>
          </a:p>
        </p:txBody>
      </p:sp>
    </p:spTree>
    <p:extLst>
      <p:ext uri="{BB962C8B-B14F-4D97-AF65-F5344CB8AC3E}">
        <p14:creationId xmlns:p14="http://schemas.microsoft.com/office/powerpoint/2010/main" val="2846119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F2ED3F-CD11-EAC9-FA97-9F457B04B0A5}"/>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18A5992-366E-928A-EF31-CDAAC99DD5EE}"/>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EFA5EE1-210A-9C19-E646-AFA570BAC36A}"/>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8D26773-0672-93C3-88AF-FB79ADB059FA}"/>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Cadre de notre intervention</a:t>
            </a:r>
          </a:p>
        </p:txBody>
      </p:sp>
      <p:sp>
        <p:nvSpPr>
          <p:cNvPr id="6" name="ZoneTexte 5">
            <a:extLst>
              <a:ext uri="{FF2B5EF4-FFF2-40B4-BE49-F238E27FC236}">
                <a16:creationId xmlns:a16="http://schemas.microsoft.com/office/drawing/2014/main" id="{71277798-A5B1-A5CF-7B12-08BB5633101E}"/>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Preambule et objectifs de la mission</a:t>
            </a:r>
          </a:p>
        </p:txBody>
      </p:sp>
      <p:sp>
        <p:nvSpPr>
          <p:cNvPr id="7" name="ZoneTexte 6">
            <a:extLst>
              <a:ext uri="{FF2B5EF4-FFF2-40B4-BE49-F238E27FC236}">
                <a16:creationId xmlns:a16="http://schemas.microsoft.com/office/drawing/2014/main" id="{3B40726A-30E1-94D4-D3CC-93D11BAE6D0B}"/>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02</a:t>
            </a:r>
          </a:p>
        </p:txBody>
      </p:sp>
      <p:sp>
        <p:nvSpPr>
          <p:cNvPr id="8" name="Rectangle 7">
            <a:extLst>
              <a:ext uri="{FF2B5EF4-FFF2-40B4-BE49-F238E27FC236}">
                <a16:creationId xmlns:a16="http://schemas.microsoft.com/office/drawing/2014/main" id="{55E0EEA6-2210-A0A6-277E-CF7B1F9C666A}"/>
              </a:ext>
            </a:extLst>
          </p:cNvPr>
          <p:cNvSpPr/>
          <p:nvPr/>
        </p:nvSpPr>
        <p:spPr>
          <a:xfrm>
            <a:off x="431800" y="1397000"/>
            <a:ext cx="5308600" cy="2222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E4BC51A2-7309-224F-6AC7-E41110637686}"/>
              </a:ext>
            </a:extLst>
          </p:cNvPr>
          <p:cNvSpPr txBox="1"/>
          <p:nvPr/>
        </p:nvSpPr>
        <p:spPr>
          <a:xfrm>
            <a:off x="609600" y="1574800"/>
            <a:ext cx="4953000" cy="1569660"/>
          </a:xfrm>
          <a:prstGeom prst="rect">
            <a:avLst/>
          </a:prstGeom>
          <a:noFill/>
        </p:spPr>
        <p:txBody>
          <a:bodyPr vert="horz" rtlCol="0">
            <a:spAutoFit/>
          </a:bodyPr>
          <a:lstStyle/>
          <a:p>
            <a:r>
              <a:rPr lang="fr-FR" sz="1200">
                <a:solidFill>
                  <a:srgbClr val="2E2A26"/>
                </a:solidFill>
                <a:latin typeface="Arial" panose="020B0604020202020204" pitchFamily="34" charset="0"/>
              </a:rPr>
              <a:t>Le present document restitue les principaux constats issus de notre revue des controles generaux informatiques conduite chez Direction des Systèmes d'Information – Groupe XYZ sur la periode Janvier 2025 – Mars 2025. Cette intervention s'inscrit dans le cadre d'une mission ITGC et a pour objectif d'apprecier le niveau de maitrise du dispositif de controle interne informatique sur le perimetre retenu. Le present support est confidentiel et destine exclusivement aux parties prenantes de la mission.</a:t>
            </a:r>
          </a:p>
        </p:txBody>
      </p:sp>
      <p:sp>
        <p:nvSpPr>
          <p:cNvPr id="10" name="Rectangle 9">
            <a:extLst>
              <a:ext uri="{FF2B5EF4-FFF2-40B4-BE49-F238E27FC236}">
                <a16:creationId xmlns:a16="http://schemas.microsoft.com/office/drawing/2014/main" id="{B19BC0A2-D1D3-280E-ACAE-E20A9EBBB0D4}"/>
              </a:ext>
            </a:extLst>
          </p:cNvPr>
          <p:cNvSpPr/>
          <p:nvPr/>
        </p:nvSpPr>
        <p:spPr>
          <a:xfrm>
            <a:off x="6019800" y="1397000"/>
            <a:ext cx="5308600" cy="2222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2E6754F-5B54-22BE-8095-648921C9A944}"/>
              </a:ext>
            </a:extLst>
          </p:cNvPr>
          <p:cNvSpPr txBox="1"/>
          <p:nvPr/>
        </p:nvSpPr>
        <p:spPr>
          <a:xfrm>
            <a:off x="6197600" y="15240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Objectifs de la mission</a:t>
            </a:r>
          </a:p>
        </p:txBody>
      </p:sp>
      <p:sp>
        <p:nvSpPr>
          <p:cNvPr id="12" name="ZoneTexte 11">
            <a:extLst>
              <a:ext uri="{FF2B5EF4-FFF2-40B4-BE49-F238E27FC236}">
                <a16:creationId xmlns:a16="http://schemas.microsoft.com/office/drawing/2014/main" id="{01605B5B-D1A4-E8B1-20FA-B265DACA2197}"/>
              </a:ext>
            </a:extLst>
          </p:cNvPr>
          <p:cNvSpPr txBox="1"/>
          <p:nvPr/>
        </p:nvSpPr>
        <p:spPr>
          <a:xfrm>
            <a:off x="6197600" y="1879600"/>
            <a:ext cx="4953000" cy="461665"/>
          </a:xfrm>
          <a:prstGeom prst="rect">
            <a:avLst/>
          </a:prstGeom>
          <a:noFill/>
        </p:spPr>
        <p:txBody>
          <a:bodyPr vert="horz" rtlCol="0">
            <a:spAutoFit/>
          </a:bodyPr>
          <a:lstStyle/>
          <a:p>
            <a:r>
              <a:rPr lang="fr-FR" sz="1200">
                <a:solidFill>
                  <a:srgbClr val="2E2A26"/>
                </a:solidFill>
                <a:latin typeface="Arial" panose="020B0604020202020204" pitchFamily="34" charset="0"/>
              </a:rPr>
              <a:t>• Vérifier la gestion des accès utilisateurs</a:t>
            </a:r>
          </a:p>
          <a:p>
            <a:r>
              <a:rPr lang="fr-FR" sz="1200">
                <a:solidFill>
                  <a:srgbClr val="2E2A26"/>
                </a:solidFill>
                <a:latin typeface="Arial" panose="020B0604020202020204" pitchFamily="34" charset="0"/>
              </a:rPr>
              <a:t>• Évaluer l’efficacité des contrôles internes</a:t>
            </a:r>
          </a:p>
        </p:txBody>
      </p:sp>
      <p:sp>
        <p:nvSpPr>
          <p:cNvPr id="13" name="Rectangle 12">
            <a:extLst>
              <a:ext uri="{FF2B5EF4-FFF2-40B4-BE49-F238E27FC236}">
                <a16:creationId xmlns:a16="http://schemas.microsoft.com/office/drawing/2014/main" id="{0FD18EBA-AA70-23AC-68A1-37527F4FE788}"/>
              </a:ext>
            </a:extLst>
          </p:cNvPr>
          <p:cNvSpPr/>
          <p:nvPr/>
        </p:nvSpPr>
        <p:spPr>
          <a:xfrm>
            <a:off x="431800" y="3873500"/>
            <a:ext cx="5308600" cy="1714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642A3A5C-ACD9-081C-589C-4F50E6E0A064}"/>
              </a:ext>
            </a:extLst>
          </p:cNvPr>
          <p:cNvSpPr txBox="1"/>
          <p:nvPr/>
        </p:nvSpPr>
        <p:spPr>
          <a:xfrm>
            <a:off x="609600" y="40005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Intervenants</a:t>
            </a:r>
          </a:p>
        </p:txBody>
      </p:sp>
      <p:sp>
        <p:nvSpPr>
          <p:cNvPr id="15" name="ZoneTexte 14">
            <a:extLst>
              <a:ext uri="{FF2B5EF4-FFF2-40B4-BE49-F238E27FC236}">
                <a16:creationId xmlns:a16="http://schemas.microsoft.com/office/drawing/2014/main" id="{7797E652-7FD2-3042-F70D-481739851DBE}"/>
              </a:ext>
            </a:extLst>
          </p:cNvPr>
          <p:cNvSpPr txBox="1"/>
          <p:nvPr/>
        </p:nvSpPr>
        <p:spPr>
          <a:xfrm>
            <a:off x="609600" y="4356100"/>
            <a:ext cx="4953000" cy="461665"/>
          </a:xfrm>
          <a:prstGeom prst="rect">
            <a:avLst/>
          </a:prstGeom>
          <a:noFill/>
        </p:spPr>
        <p:txBody>
          <a:bodyPr vert="horz" rtlCol="0">
            <a:spAutoFit/>
          </a:bodyPr>
          <a:lstStyle/>
          <a:p>
            <a:r>
              <a:rPr lang="fr-FR" sz="1200">
                <a:solidFill>
                  <a:srgbClr val="2E2A26"/>
                </a:solidFill>
                <a:latin typeface="Arial" panose="020B0604020202020204" pitchFamily="34" charset="0"/>
              </a:rPr>
              <a:t>• Sara BEN ALI (Auditeur senior)</a:t>
            </a:r>
          </a:p>
          <a:p>
            <a:r>
              <a:rPr lang="fr-FR" sz="1200">
                <a:solidFill>
                  <a:srgbClr val="2E2A26"/>
                </a:solidFill>
                <a:latin typeface="Arial" panose="020B0604020202020204" pitchFamily="34" charset="0"/>
              </a:rPr>
              <a:t>• Mohamed TRABELSI (DSI)</a:t>
            </a:r>
          </a:p>
        </p:txBody>
      </p:sp>
      <p:sp>
        <p:nvSpPr>
          <p:cNvPr id="16" name="Rectangle 15">
            <a:extLst>
              <a:ext uri="{FF2B5EF4-FFF2-40B4-BE49-F238E27FC236}">
                <a16:creationId xmlns:a16="http://schemas.microsoft.com/office/drawing/2014/main" id="{89A94DCF-637E-480D-DA0E-1EAB70F33106}"/>
              </a:ext>
            </a:extLst>
          </p:cNvPr>
          <p:cNvSpPr/>
          <p:nvPr/>
        </p:nvSpPr>
        <p:spPr>
          <a:xfrm>
            <a:off x="6019800" y="3873500"/>
            <a:ext cx="5308600" cy="1714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52E880D1-29FD-67E0-4798-AF2AD8D2F3E3}"/>
              </a:ext>
            </a:extLst>
          </p:cNvPr>
          <p:cNvSpPr txBox="1"/>
          <p:nvPr/>
        </p:nvSpPr>
        <p:spPr>
          <a:xfrm>
            <a:off x="6197600" y="40005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Perimetre d'intervention</a:t>
            </a:r>
          </a:p>
        </p:txBody>
      </p:sp>
      <p:sp>
        <p:nvSpPr>
          <p:cNvPr id="18" name="ZoneTexte 17">
            <a:extLst>
              <a:ext uri="{FF2B5EF4-FFF2-40B4-BE49-F238E27FC236}">
                <a16:creationId xmlns:a16="http://schemas.microsoft.com/office/drawing/2014/main" id="{7918C2CE-63E0-C9BB-6252-4D7C071F4D42}"/>
              </a:ext>
            </a:extLst>
          </p:cNvPr>
          <p:cNvSpPr txBox="1"/>
          <p:nvPr/>
        </p:nvSpPr>
        <p:spPr>
          <a:xfrm>
            <a:off x="6197600" y="4356100"/>
            <a:ext cx="4953000" cy="1569660"/>
          </a:xfrm>
          <a:prstGeom prst="rect">
            <a:avLst/>
          </a:prstGeom>
          <a:noFill/>
        </p:spPr>
        <p:txBody>
          <a:bodyPr vert="horz" rtlCol="0">
            <a:spAutoFit/>
          </a:bodyPr>
          <a:lstStyle/>
          <a:p>
            <a:r>
              <a:rPr lang="fr-FR" sz="1200">
                <a:solidFill>
                  <a:srgbClr val="2E2A26"/>
                </a:solidFill>
                <a:latin typeface="Arial" panose="020B0604020202020204" pitchFamily="34" charset="0"/>
              </a:rPr>
              <a:t>• Applications: Active Directory, SAP, Oracle, Serveur Backup</a:t>
            </a:r>
          </a:p>
          <a:p>
            <a:r>
              <a:rPr lang="fr-FR" sz="1200">
                <a:solidFill>
                  <a:srgbClr val="2E2A26"/>
                </a:solidFill>
                <a:latin typeface="Arial" panose="020B0604020202020204" pitchFamily="34" charset="0"/>
              </a:rPr>
              <a:t>• Processus: APD, PC, CO</a:t>
            </a:r>
          </a:p>
          <a:p>
            <a:r>
              <a:rPr lang="fr-FR" sz="1200">
                <a:solidFill>
                  <a:srgbClr val="2E2A26"/>
                </a:solidFill>
                <a:latin typeface="Arial" panose="020B0604020202020204" pitchFamily="34" charset="0"/>
              </a:rPr>
              <a:t>• Nos travaux ont porte sur les applications suivantes: Active Directory, SAP, Oracle, Serveur Backup. Le perimetre couvre principalement Gestion des acces aux donnees et aux programmes, Gestion des changements et developpements, Exploitation informatique. Les diligences ont ete realisees au travers d'entretiens, d'analyses documentaires et de tests de controles cibles.</a:t>
            </a:r>
          </a:p>
        </p:txBody>
      </p:sp>
    </p:spTree>
    <p:extLst>
      <p:ext uri="{BB962C8B-B14F-4D97-AF65-F5344CB8AC3E}">
        <p14:creationId xmlns:p14="http://schemas.microsoft.com/office/powerpoint/2010/main" val="168752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4A84D9-66F1-7516-EAAF-21AB4E88A6BF}"/>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A2B0C4F-AC5F-2CC7-0393-E197C277F4E6}"/>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3358CFB-0938-D9E2-450E-B3D21E759B61}"/>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B003776-05F8-8103-FA86-FA85D809ECEC}"/>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Approche des travaux d'audit informatique</a:t>
            </a:r>
          </a:p>
        </p:txBody>
      </p:sp>
      <p:sp>
        <p:nvSpPr>
          <p:cNvPr id="6" name="ZoneTexte 5">
            <a:extLst>
              <a:ext uri="{FF2B5EF4-FFF2-40B4-BE49-F238E27FC236}">
                <a16:creationId xmlns:a16="http://schemas.microsoft.com/office/drawing/2014/main" id="{6605201E-B4F9-7E83-97C2-70EC6C9F66AC}"/>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Methodologie de reference</a:t>
            </a:r>
          </a:p>
        </p:txBody>
      </p:sp>
      <p:sp>
        <p:nvSpPr>
          <p:cNvPr id="7" name="ZoneTexte 6">
            <a:extLst>
              <a:ext uri="{FF2B5EF4-FFF2-40B4-BE49-F238E27FC236}">
                <a16:creationId xmlns:a16="http://schemas.microsoft.com/office/drawing/2014/main" id="{53ECF164-00BC-1E5A-003F-0FB594E773C2}"/>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03</a:t>
            </a:r>
          </a:p>
        </p:txBody>
      </p:sp>
      <p:sp>
        <p:nvSpPr>
          <p:cNvPr id="8" name="Rectangle 7">
            <a:extLst>
              <a:ext uri="{FF2B5EF4-FFF2-40B4-BE49-F238E27FC236}">
                <a16:creationId xmlns:a16="http://schemas.microsoft.com/office/drawing/2014/main" id="{E33E4D2B-DE1A-66F7-21DB-32EC3ECFAB62}"/>
              </a:ext>
            </a:extLst>
          </p:cNvPr>
          <p:cNvSpPr/>
          <p:nvPr/>
        </p:nvSpPr>
        <p:spPr>
          <a:xfrm>
            <a:off x="508000" y="1524000"/>
            <a:ext cx="5207000" cy="3810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8AA60EDD-1012-2635-CEAE-C24C9B8BC525}"/>
              </a:ext>
            </a:extLst>
          </p:cNvPr>
          <p:cNvSpPr txBox="1"/>
          <p:nvPr/>
        </p:nvSpPr>
        <p:spPr>
          <a:xfrm>
            <a:off x="685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Approche</a:t>
            </a:r>
          </a:p>
        </p:txBody>
      </p:sp>
      <p:sp>
        <p:nvSpPr>
          <p:cNvPr id="10" name="ZoneTexte 9">
            <a:extLst>
              <a:ext uri="{FF2B5EF4-FFF2-40B4-BE49-F238E27FC236}">
                <a16:creationId xmlns:a16="http://schemas.microsoft.com/office/drawing/2014/main" id="{45389895-A749-C68A-06BB-2A80BC650171}"/>
              </a:ext>
            </a:extLst>
          </p:cNvPr>
          <p:cNvSpPr txBox="1"/>
          <p:nvPr/>
        </p:nvSpPr>
        <p:spPr>
          <a:xfrm>
            <a:off x="685800" y="2006600"/>
            <a:ext cx="4851400" cy="1754326"/>
          </a:xfrm>
          <a:prstGeom prst="rect">
            <a:avLst/>
          </a:prstGeom>
          <a:noFill/>
        </p:spPr>
        <p:txBody>
          <a:bodyPr vert="horz" rtlCol="0">
            <a:spAutoFit/>
          </a:bodyPr>
          <a:lstStyle/>
          <a:p>
            <a:r>
              <a:rPr lang="fr-FR" sz="1200">
                <a:solidFill>
                  <a:srgbClr val="2E2A26"/>
                </a:solidFill>
                <a:latin typeface="Arial" panose="020B0604020202020204" pitchFamily="34" charset="0"/>
              </a:rPr>
              <a:t>• Prise de connaissance de l'environnement informatique de l'entite et des evolutions significatives de l'exercice.</a:t>
            </a:r>
          </a:p>
          <a:p>
            <a:r>
              <a:rPr lang="fr-FR" sz="1200">
                <a:solidFill>
                  <a:srgbClr val="2E2A26"/>
                </a:solidFill>
                <a:latin typeface="Arial" panose="020B0604020202020204" pitchFamily="34" charset="0"/>
              </a:rPr>
              <a:t>• Entretiens avec les interlocuteurs cles, analyse documentaire et collecte des evidences necessaires a la revue.</a:t>
            </a:r>
          </a:p>
          <a:p>
            <a:r>
              <a:rPr lang="fr-FR" sz="1200">
                <a:solidFill>
                  <a:srgbClr val="2E2A26"/>
                </a:solidFill>
                <a:latin typeface="Arial" panose="020B0604020202020204" pitchFamily="34" charset="0"/>
              </a:rPr>
              <a:t>• Execution de tests de controles par sondage et observation sur les processus de gestion des acces, des changements et de l'exploitation informatique.</a:t>
            </a:r>
          </a:p>
          <a:p>
            <a:r>
              <a:rPr lang="fr-FR" sz="1200">
                <a:solidFill>
                  <a:srgbClr val="2E2A26"/>
                </a:solidFill>
                <a:latin typeface="Arial" panose="020B0604020202020204" pitchFamily="34" charset="0"/>
              </a:rPr>
              <a:t>• Synthese des constats, evaluation du niveau de maitrise et formalisation des recommandations a destination du management.</a:t>
            </a:r>
          </a:p>
        </p:txBody>
      </p:sp>
      <p:sp>
        <p:nvSpPr>
          <p:cNvPr id="11" name="Rectangle 10">
            <a:extLst>
              <a:ext uri="{FF2B5EF4-FFF2-40B4-BE49-F238E27FC236}">
                <a16:creationId xmlns:a16="http://schemas.microsoft.com/office/drawing/2014/main" id="{362AAD2C-B5B6-7AF3-C036-F82D21DDDF87}"/>
              </a:ext>
            </a:extLst>
          </p:cNvPr>
          <p:cNvSpPr/>
          <p:nvPr/>
        </p:nvSpPr>
        <p:spPr>
          <a:xfrm>
            <a:off x="6223000" y="1524000"/>
            <a:ext cx="52070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0302FA0-26BE-7D0B-8DD7-C5856FED390A}"/>
              </a:ext>
            </a:extLst>
          </p:cNvPr>
          <p:cNvSpPr txBox="1"/>
          <p:nvPr/>
        </p:nvSpPr>
        <p:spPr>
          <a:xfrm>
            <a:off x="6400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Points forts</a:t>
            </a:r>
          </a:p>
        </p:txBody>
      </p:sp>
      <p:sp>
        <p:nvSpPr>
          <p:cNvPr id="13" name="ZoneTexte 12">
            <a:extLst>
              <a:ext uri="{FF2B5EF4-FFF2-40B4-BE49-F238E27FC236}">
                <a16:creationId xmlns:a16="http://schemas.microsoft.com/office/drawing/2014/main" id="{3A7069EB-5EDF-D86F-4313-6052DC3B0AD2}"/>
              </a:ext>
            </a:extLst>
          </p:cNvPr>
          <p:cNvSpPr txBox="1"/>
          <p:nvPr/>
        </p:nvSpPr>
        <p:spPr>
          <a:xfrm>
            <a:off x="6400800" y="2006600"/>
            <a:ext cx="4851400" cy="1200329"/>
          </a:xfrm>
          <a:prstGeom prst="rect">
            <a:avLst/>
          </a:prstGeom>
          <a:noFill/>
        </p:spPr>
        <p:txBody>
          <a:bodyPr vert="horz" rtlCol="0">
            <a:spAutoFit/>
          </a:bodyPr>
          <a:lstStyle/>
          <a:p>
            <a:r>
              <a:rPr lang="fr-FR" sz="1200">
                <a:solidFill>
                  <a:srgbClr val="2E2A26"/>
                </a:solidFill>
                <a:latin typeface="Arial" panose="020B0604020202020204" pitchFamily="34" charset="0"/>
              </a:rPr>
              <a:t>• Le perimetre de mission et les processus cibles sont clairement identifies dans la feuille Mission.</a:t>
            </a:r>
          </a:p>
          <a:p>
            <a:r>
              <a:rPr lang="fr-FR" sz="1200">
                <a:solidFill>
                  <a:srgbClr val="2E2A26"/>
                </a:solidFill>
                <a:latin typeface="Arial" panose="020B0604020202020204" pitchFamily="34" charset="0"/>
              </a:rPr>
              <a:t>• Des procedures compensatoires existent sur plusieurs constats, ce qui traduit une prise en compte partielle des risques.</a:t>
            </a:r>
          </a:p>
          <a:p>
            <a:r>
              <a:rPr lang="fr-FR" sz="1200">
                <a:solidFill>
                  <a:srgbClr val="2E2A26"/>
                </a:solidFill>
                <a:latin typeface="Arial" panose="020B0604020202020204" pitchFamily="34" charset="0"/>
              </a:rPr>
              <a:t>• Les interlocuteurs cles de la mission sont identifies, facilitant la gouvernance des plans d'action.</a:t>
            </a:r>
          </a:p>
        </p:txBody>
      </p:sp>
      <p:sp>
        <p:nvSpPr>
          <p:cNvPr id="14" name="Rectangle 13">
            <a:extLst>
              <a:ext uri="{FF2B5EF4-FFF2-40B4-BE49-F238E27FC236}">
                <a16:creationId xmlns:a16="http://schemas.microsoft.com/office/drawing/2014/main" id="{7B64427E-031D-D031-0010-D86C356A49B6}"/>
              </a:ext>
            </a:extLst>
          </p:cNvPr>
          <p:cNvSpPr/>
          <p:nvPr/>
        </p:nvSpPr>
        <p:spPr>
          <a:xfrm>
            <a:off x="6223000" y="3556000"/>
            <a:ext cx="52070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F1761BA-C33A-9C60-EC93-7B88225E7B7F}"/>
              </a:ext>
            </a:extLst>
          </p:cNvPr>
          <p:cNvSpPr txBox="1"/>
          <p:nvPr/>
        </p:nvSpPr>
        <p:spPr>
          <a:xfrm>
            <a:off x="6400800" y="3683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Points d'attention</a:t>
            </a:r>
          </a:p>
        </p:txBody>
      </p:sp>
      <p:sp>
        <p:nvSpPr>
          <p:cNvPr id="16" name="ZoneTexte 15">
            <a:extLst>
              <a:ext uri="{FF2B5EF4-FFF2-40B4-BE49-F238E27FC236}">
                <a16:creationId xmlns:a16="http://schemas.microsoft.com/office/drawing/2014/main" id="{B007EE59-E54D-9B0C-5164-BD24666434C5}"/>
              </a:ext>
            </a:extLst>
          </p:cNvPr>
          <p:cNvSpPr txBox="1"/>
          <p:nvPr/>
        </p:nvSpPr>
        <p:spPr>
          <a:xfrm>
            <a:off x="6400800" y="4038600"/>
            <a:ext cx="4851400" cy="1938992"/>
          </a:xfrm>
          <a:prstGeom prst="rect">
            <a:avLst/>
          </a:prstGeom>
          <a:noFill/>
        </p:spPr>
        <p:txBody>
          <a:bodyPr vert="horz" rtlCol="0">
            <a:spAutoFit/>
          </a:bodyPr>
          <a:lstStyle/>
          <a:p>
            <a:r>
              <a:rPr lang="fr-FR" sz="1200">
                <a:solidFill>
                  <a:srgbClr val="2E2A26"/>
                </a:solidFill>
                <a:latin typeface="Arial" panose="020B0604020202020204" pitchFamily="34" charset="0"/>
              </a:rPr>
              <a:t>• APD-01 - Comptes actifs après départ employés: 5 comptes utilisateurs restent actifs après départ; 1 connexion post-départ détectée. Impact potentiel: Accès non autorisé et risque de fuite de données.</a:t>
            </a:r>
          </a:p>
          <a:p>
            <a:r>
              <a:rPr lang="fr-FR" sz="1200">
                <a:solidFill>
                  <a:srgbClr val="2E2A26"/>
                </a:solidFill>
                <a:latin typeface="Arial" panose="020B0604020202020204" pitchFamily="34" charset="0"/>
              </a:rPr>
              <a:t>• APD-02 - Absence de validation des accès: 8 comptes créés sans validation. Impact potentiel: Risque de fraude ou erreur.</a:t>
            </a:r>
          </a:p>
          <a:p>
            <a:r>
              <a:rPr lang="fr-FR" sz="1200">
                <a:solidFill>
                  <a:srgbClr val="2E2A26"/>
                </a:solidFill>
                <a:latin typeface="Arial" panose="020B0604020202020204" pitchFamily="34" charset="0"/>
              </a:rPr>
              <a:t>• CO-01 - Absence de test de restauration: Aucun test sur 12 mois. Impact potentiel: Risque perte de données.</a:t>
            </a:r>
          </a:p>
          <a:p>
            <a:r>
              <a:rPr lang="fr-FR" sz="1200">
                <a:solidFill>
                  <a:srgbClr val="2E2A26"/>
                </a:solidFill>
                <a:latin typeface="Arial" panose="020B0604020202020204" pitchFamily="34" charset="0"/>
              </a:rPr>
              <a:t>• PC-01 - Changements non validés: 3 changements déployés sans validation. Impact potentiel: Instabilité système.</a:t>
            </a:r>
          </a:p>
        </p:txBody>
      </p:sp>
    </p:spTree>
    <p:extLst>
      <p:ext uri="{BB962C8B-B14F-4D97-AF65-F5344CB8AC3E}">
        <p14:creationId xmlns:p14="http://schemas.microsoft.com/office/powerpoint/2010/main" val="2237821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1EC274-047E-74C0-05E3-B2B62189018A}"/>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2E4CBA6-2380-950B-6B19-73EDA6BAF893}"/>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44655EE-3D1B-FA33-3960-9836DB95ADD4}"/>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805F692-CF33-03AD-70E8-AD12461D27A9}"/>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0F7C1F78-E1D8-21AB-465C-5662F3AD6CDA}"/>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Gestion des acces aux donnees et aux programmes</a:t>
            </a:r>
          </a:p>
        </p:txBody>
      </p:sp>
      <p:sp>
        <p:nvSpPr>
          <p:cNvPr id="7" name="ZoneTexte 6">
            <a:extLst>
              <a:ext uri="{FF2B5EF4-FFF2-40B4-BE49-F238E27FC236}">
                <a16:creationId xmlns:a16="http://schemas.microsoft.com/office/drawing/2014/main" id="{DB1461D7-8473-85E0-A369-A651A5C498BE}"/>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04</a:t>
            </a:r>
          </a:p>
        </p:txBody>
      </p:sp>
      <p:sp>
        <p:nvSpPr>
          <p:cNvPr id="8" name="Rectangle 7">
            <a:extLst>
              <a:ext uri="{FF2B5EF4-FFF2-40B4-BE49-F238E27FC236}">
                <a16:creationId xmlns:a16="http://schemas.microsoft.com/office/drawing/2014/main" id="{A81E1FA4-DBEB-00D8-2E73-A0800D45BD3C}"/>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A543D772-73CF-D847-317D-C9378D6F5EFB}"/>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Gestion des acces aux donnees et aux programmes</a:t>
            </a:r>
          </a:p>
        </p:txBody>
      </p:sp>
      <p:sp>
        <p:nvSpPr>
          <p:cNvPr id="10" name="ZoneTexte 9">
            <a:extLst>
              <a:ext uri="{FF2B5EF4-FFF2-40B4-BE49-F238E27FC236}">
                <a16:creationId xmlns:a16="http://schemas.microsoft.com/office/drawing/2014/main" id="{18CD40AF-B6AB-2FBC-354A-B5E76F9EA9A0}"/>
              </a:ext>
            </a:extLst>
          </p:cNvPr>
          <p:cNvSpPr txBox="1"/>
          <p:nvPr/>
        </p:nvSpPr>
        <p:spPr>
          <a:xfrm>
            <a:off x="609600" y="1955800"/>
            <a:ext cx="10566400" cy="1938992"/>
          </a:xfrm>
          <a:prstGeom prst="rect">
            <a:avLst/>
          </a:prstGeom>
          <a:noFill/>
        </p:spPr>
        <p:txBody>
          <a:bodyPr vert="horz" rtlCol="0">
            <a:spAutoFit/>
          </a:bodyPr>
          <a:lstStyle/>
          <a:p>
            <a:r>
              <a:rPr lang="fr-FR" sz="1200">
                <a:solidFill>
                  <a:srgbClr val="2E2A26"/>
                </a:solidFill>
                <a:latin typeface="Arial" panose="020B0604020202020204" pitchFamily="34" charset="0"/>
              </a:rPr>
              <a:t>• APD-01 | Les demandes d'acces aux applications du systeme d'information sont autorisees et validees par le management. | Procedure de test: Verifier l'existence d'une validation formelle des creations et modifications d'acces.</a:t>
            </a:r>
          </a:p>
          <a:p>
            <a:r>
              <a:rPr lang="fr-FR" sz="1200">
                <a:solidFill>
                  <a:srgbClr val="2E2A26"/>
                </a:solidFill>
                <a:latin typeface="Arial" panose="020B0604020202020204" pitchFamily="34" charset="0"/>
              </a:rPr>
              <a:t>• APD-02 | Les droits d'acces des utilisateurs quittant l'entite sont retires en temps opportun. | Procedure de test: Comparer les departs / mobilites aux comptes toujours actifs dans les applications et infrastructures.</a:t>
            </a:r>
          </a:p>
          <a:p>
            <a:r>
              <a:rPr lang="fr-FR" sz="1200">
                <a:solidFill>
                  <a:srgbClr val="2E2A26"/>
                </a:solidFill>
                <a:latin typeface="Arial" panose="020B0604020202020204" pitchFamily="34" charset="0"/>
              </a:rPr>
              <a:t>• APD-03 | Les droits et transactions sensibles sont revus periodiquement. | Procedure de test: S'assurer qu'une revue periodique des acces et privileges etendus est planifiee et documentee.</a:t>
            </a:r>
          </a:p>
          <a:p>
            <a:r>
              <a:rPr lang="fr-FR" sz="1200">
                <a:solidFill>
                  <a:srgbClr val="2E2A26"/>
                </a:solidFill>
                <a:latin typeface="Arial" panose="020B0604020202020204" pitchFamily="34" charset="0"/>
              </a:rPr>
              <a:t>• APD-04 | Les comptes privilegies et generiques font l'objet d'un suivi adapte. | Procedure de test: Verifier l'encadrement des comptes d'administration et la surveillance des activites sensibles.</a:t>
            </a:r>
          </a:p>
          <a:p>
            <a:r>
              <a:rPr lang="fr-FR" sz="1200">
                <a:solidFill>
                  <a:srgbClr val="2E2A26"/>
                </a:solidFill>
                <a:latin typeface="Arial" panose="020B0604020202020204" pitchFamily="34" charset="0"/>
              </a:rPr>
              <a:t>• APD-05 | Les parametres de securite et mots de passe sont conformes aux politiques en vigueur. | Procedure de test: Revoir la configuration des parametres de securite et l'alignement avec la politique de securite.</a:t>
            </a:r>
          </a:p>
        </p:txBody>
      </p:sp>
    </p:spTree>
    <p:extLst>
      <p:ext uri="{BB962C8B-B14F-4D97-AF65-F5344CB8AC3E}">
        <p14:creationId xmlns:p14="http://schemas.microsoft.com/office/powerpoint/2010/main" val="319673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92453C-0D0D-A60E-AB72-287D42A678E8}"/>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78E24A9-B831-C1A1-F5ED-8533BA572881}"/>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9EC6B4C-3446-C3EB-33EA-AE8A71409484}"/>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3D340CAA-54E5-144C-7D47-70C61DBD3B9B}"/>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6C4CDB46-6A8B-BA7E-46E1-2A2E1B8AA5E9}"/>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Gestion des changements et developpements</a:t>
            </a:r>
          </a:p>
        </p:txBody>
      </p:sp>
      <p:sp>
        <p:nvSpPr>
          <p:cNvPr id="7" name="ZoneTexte 6">
            <a:extLst>
              <a:ext uri="{FF2B5EF4-FFF2-40B4-BE49-F238E27FC236}">
                <a16:creationId xmlns:a16="http://schemas.microsoft.com/office/drawing/2014/main" id="{C0601299-15FE-9B08-10D4-6D8694E80D40}"/>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05</a:t>
            </a:r>
          </a:p>
        </p:txBody>
      </p:sp>
      <p:sp>
        <p:nvSpPr>
          <p:cNvPr id="8" name="Rectangle 7">
            <a:extLst>
              <a:ext uri="{FF2B5EF4-FFF2-40B4-BE49-F238E27FC236}">
                <a16:creationId xmlns:a16="http://schemas.microsoft.com/office/drawing/2014/main" id="{417C705C-9B16-478A-FCA0-D7B372FEDF8D}"/>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26843B89-20A8-0047-22A2-E38359731B1C}"/>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Gestion des changements et developpements</a:t>
            </a:r>
          </a:p>
        </p:txBody>
      </p:sp>
      <p:sp>
        <p:nvSpPr>
          <p:cNvPr id="10" name="ZoneTexte 9">
            <a:extLst>
              <a:ext uri="{FF2B5EF4-FFF2-40B4-BE49-F238E27FC236}">
                <a16:creationId xmlns:a16="http://schemas.microsoft.com/office/drawing/2014/main" id="{32F91B2B-1613-9768-3DD9-A7A2D19231F9}"/>
              </a:ext>
            </a:extLst>
          </p:cNvPr>
          <p:cNvSpPr txBox="1"/>
          <p:nvPr/>
        </p:nvSpPr>
        <p:spPr>
          <a:xfrm>
            <a:off x="609600" y="1955800"/>
            <a:ext cx="10566400" cy="830997"/>
          </a:xfrm>
          <a:prstGeom prst="rect">
            <a:avLst/>
          </a:prstGeom>
          <a:noFill/>
        </p:spPr>
        <p:txBody>
          <a:bodyPr vert="horz" rtlCol="0">
            <a:spAutoFit/>
          </a:bodyPr>
          <a:lstStyle/>
          <a:p>
            <a:r>
              <a:rPr lang="fr-FR" sz="1200">
                <a:solidFill>
                  <a:srgbClr val="2E2A26"/>
                </a:solidFill>
                <a:latin typeface="Arial" panose="020B0604020202020204" pitchFamily="34" charset="0"/>
              </a:rPr>
              <a:t>• PC-01 | Les changements applicatifs sont testes et valides avant mise en production. | Procedure de test: Examiner un echantillon de changements et verifier les validations prealables a la mise en production.</a:t>
            </a:r>
          </a:p>
          <a:p>
            <a:r>
              <a:rPr lang="fr-FR" sz="1200">
                <a:solidFill>
                  <a:srgbClr val="2E2A26"/>
                </a:solidFill>
                <a:latin typeface="Arial" panose="020B0604020202020204" pitchFamily="34" charset="0"/>
              </a:rPr>
              <a:t>• PC-02 | Les environnements de developpement, de test et de production sont separes. | Procedure de test: Confirmer la separation logique et organisationnelle entre les environnements.</a:t>
            </a:r>
          </a:p>
        </p:txBody>
      </p:sp>
    </p:spTree>
    <p:extLst>
      <p:ext uri="{BB962C8B-B14F-4D97-AF65-F5344CB8AC3E}">
        <p14:creationId xmlns:p14="http://schemas.microsoft.com/office/powerpoint/2010/main" val="4063998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DDF9C5-75CE-D7D6-2473-E71F6AD60F81}"/>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5D94AA3-842E-A06A-1F90-9758170023AD}"/>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ECAC40F-3F17-A081-4317-6F13EC33B032}"/>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A5BD35D-EFD0-D3E3-BCE3-59CE61CF9FA7}"/>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C0524EF7-E169-E0B0-5071-0DF53F1D862C}"/>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Exploitation informatique</a:t>
            </a:r>
          </a:p>
        </p:txBody>
      </p:sp>
      <p:sp>
        <p:nvSpPr>
          <p:cNvPr id="7" name="ZoneTexte 6">
            <a:extLst>
              <a:ext uri="{FF2B5EF4-FFF2-40B4-BE49-F238E27FC236}">
                <a16:creationId xmlns:a16="http://schemas.microsoft.com/office/drawing/2014/main" id="{00AFDD1A-CF60-28AA-808D-D25D00AC91C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06</a:t>
            </a:r>
          </a:p>
        </p:txBody>
      </p:sp>
      <p:sp>
        <p:nvSpPr>
          <p:cNvPr id="8" name="Rectangle 7">
            <a:extLst>
              <a:ext uri="{FF2B5EF4-FFF2-40B4-BE49-F238E27FC236}">
                <a16:creationId xmlns:a16="http://schemas.microsoft.com/office/drawing/2014/main" id="{F411D98F-5961-77E4-147A-51C3A4D89FEB}"/>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DC59163-5847-542F-A3A0-4A42CEE6170F}"/>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Exploitation informatique</a:t>
            </a:r>
          </a:p>
        </p:txBody>
      </p:sp>
      <p:sp>
        <p:nvSpPr>
          <p:cNvPr id="10" name="ZoneTexte 9">
            <a:extLst>
              <a:ext uri="{FF2B5EF4-FFF2-40B4-BE49-F238E27FC236}">
                <a16:creationId xmlns:a16="http://schemas.microsoft.com/office/drawing/2014/main" id="{575491D8-FCA6-F392-6B70-DD09F339AAB2}"/>
              </a:ext>
            </a:extLst>
          </p:cNvPr>
          <p:cNvSpPr txBox="1"/>
          <p:nvPr/>
        </p:nvSpPr>
        <p:spPr>
          <a:xfrm>
            <a:off x="609600" y="1955800"/>
            <a:ext cx="10566400" cy="1200329"/>
          </a:xfrm>
          <a:prstGeom prst="rect">
            <a:avLst/>
          </a:prstGeom>
          <a:noFill/>
        </p:spPr>
        <p:txBody>
          <a:bodyPr vert="horz" rtlCol="0">
            <a:spAutoFit/>
          </a:bodyPr>
          <a:lstStyle/>
          <a:p>
            <a:r>
              <a:rPr lang="fr-FR" sz="1200">
                <a:solidFill>
                  <a:srgbClr val="2E2A26"/>
                </a:solidFill>
                <a:latin typeface="Arial" panose="020B0604020202020204" pitchFamily="34" charset="0"/>
              </a:rPr>
              <a:t>• CO-01 | Les sauvegardes sont realisees et regulierement testees. | Procedure de test: Verifier la periodicite des sauvegardes et la realisation de tests de restauration.</a:t>
            </a:r>
          </a:p>
          <a:p>
            <a:r>
              <a:rPr lang="fr-FR" sz="1200">
                <a:solidFill>
                  <a:srgbClr val="2E2A26"/>
                </a:solidFill>
                <a:latin typeface="Arial" panose="020B0604020202020204" pitchFamily="34" charset="0"/>
              </a:rPr>
              <a:t>• CO-02 | Les incidents de production sont identifies, traces et resolus dans des delais appropries. | Procedure de test: Analyser le suivi des incidents et les delais de resolution associes.</a:t>
            </a:r>
          </a:p>
          <a:p>
            <a:r>
              <a:rPr lang="fr-FR" sz="1200">
                <a:solidFill>
                  <a:srgbClr val="2E2A26"/>
                </a:solidFill>
                <a:latin typeface="Arial" panose="020B0604020202020204" pitchFamily="34" charset="0"/>
              </a:rPr>
              <a:t>• CO-03 | Les prestations informatiques externalisees font l'objet d'un suivi adapte. | Procedure de test: Examiner les mecanismes de pilotage et de controle des prestataires IT externes.</a:t>
            </a:r>
          </a:p>
        </p:txBody>
      </p:sp>
    </p:spTree>
    <p:extLst>
      <p:ext uri="{BB962C8B-B14F-4D97-AF65-F5344CB8AC3E}">
        <p14:creationId xmlns:p14="http://schemas.microsoft.com/office/powerpoint/2010/main" val="2371730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01124B-0A54-7FAA-9973-0BCA5236682C}"/>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E660020-A8A1-8EDB-CA4C-1347286D3C9E}"/>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D29FFEB-40AD-BBB5-4CF2-0498F078B91A}"/>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A982C35-36EB-BEB9-719B-C4DE40C8E917}"/>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generale</a:t>
            </a:r>
          </a:p>
        </p:txBody>
      </p:sp>
      <p:sp>
        <p:nvSpPr>
          <p:cNvPr id="6" name="ZoneTexte 5">
            <a:extLst>
              <a:ext uri="{FF2B5EF4-FFF2-40B4-BE49-F238E27FC236}">
                <a16:creationId xmlns:a16="http://schemas.microsoft.com/office/drawing/2014/main" id="{366DAE64-FA27-D587-8D10-7E896ABA12A3}"/>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Vue d'ensemble du dispositif audite</a:t>
            </a:r>
          </a:p>
        </p:txBody>
      </p:sp>
      <p:sp>
        <p:nvSpPr>
          <p:cNvPr id="7" name="ZoneTexte 6">
            <a:extLst>
              <a:ext uri="{FF2B5EF4-FFF2-40B4-BE49-F238E27FC236}">
                <a16:creationId xmlns:a16="http://schemas.microsoft.com/office/drawing/2014/main" id="{105061A9-66E8-5013-167D-CD3D715D7C8D}"/>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07</a:t>
            </a:r>
          </a:p>
        </p:txBody>
      </p:sp>
      <p:sp>
        <p:nvSpPr>
          <p:cNvPr id="8" name="Rectangle 7">
            <a:extLst>
              <a:ext uri="{FF2B5EF4-FFF2-40B4-BE49-F238E27FC236}">
                <a16:creationId xmlns:a16="http://schemas.microsoft.com/office/drawing/2014/main" id="{CC08F977-FD9B-B481-31D7-A180800B2836}"/>
              </a:ext>
            </a:extLst>
          </p:cNvPr>
          <p:cNvSpPr/>
          <p:nvPr/>
        </p:nvSpPr>
        <p:spPr>
          <a:xfrm>
            <a:off x="3556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A401F5C8-7B85-4EC1-A4DD-69D49464A226}"/>
              </a:ext>
            </a:extLst>
          </p:cNvPr>
          <p:cNvSpPr txBox="1"/>
          <p:nvPr/>
        </p:nvSpPr>
        <p:spPr>
          <a:xfrm>
            <a:off x="5334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Applications auditees</a:t>
            </a:r>
          </a:p>
        </p:txBody>
      </p:sp>
      <p:sp>
        <p:nvSpPr>
          <p:cNvPr id="10" name="ZoneTexte 9">
            <a:extLst>
              <a:ext uri="{FF2B5EF4-FFF2-40B4-BE49-F238E27FC236}">
                <a16:creationId xmlns:a16="http://schemas.microsoft.com/office/drawing/2014/main" id="{D50FE5B2-3CC2-7F1A-8A0E-EADA990527DB}"/>
              </a:ext>
            </a:extLst>
          </p:cNvPr>
          <p:cNvSpPr txBox="1"/>
          <p:nvPr/>
        </p:nvSpPr>
        <p:spPr>
          <a:xfrm>
            <a:off x="5334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4</a:t>
            </a:r>
          </a:p>
        </p:txBody>
      </p:sp>
      <p:sp>
        <p:nvSpPr>
          <p:cNvPr id="11" name="ZoneTexte 10">
            <a:extLst>
              <a:ext uri="{FF2B5EF4-FFF2-40B4-BE49-F238E27FC236}">
                <a16:creationId xmlns:a16="http://schemas.microsoft.com/office/drawing/2014/main" id="{4A123AF8-1E14-E0A3-13FE-97795D3D68EF}"/>
              </a:ext>
            </a:extLst>
          </p:cNvPr>
          <p:cNvSpPr txBox="1"/>
          <p:nvPr/>
        </p:nvSpPr>
        <p:spPr>
          <a:xfrm>
            <a:off x="533400" y="2413000"/>
            <a:ext cx="2311400" cy="369332"/>
          </a:xfrm>
          <a:prstGeom prst="rect">
            <a:avLst/>
          </a:prstGeom>
          <a:noFill/>
        </p:spPr>
        <p:txBody>
          <a:bodyPr vert="horz" rtlCol="0">
            <a:spAutoFit/>
          </a:bodyPr>
          <a:lstStyle/>
          <a:p>
            <a:r>
              <a:rPr lang="fr-FR" sz="900">
                <a:solidFill>
                  <a:srgbClr val="7A726B"/>
                </a:solidFill>
                <a:latin typeface="Arial" panose="020B0604020202020204" pitchFamily="34" charset="0"/>
              </a:rPr>
              <a:t>Active Directory, SAP, Oracle, Serveur Backup</a:t>
            </a:r>
          </a:p>
        </p:txBody>
      </p:sp>
      <p:sp>
        <p:nvSpPr>
          <p:cNvPr id="12" name="Rectangle 11">
            <a:extLst>
              <a:ext uri="{FF2B5EF4-FFF2-40B4-BE49-F238E27FC236}">
                <a16:creationId xmlns:a16="http://schemas.microsoft.com/office/drawing/2014/main" id="{49A4BC0E-23EB-C253-090A-5821A146FB34}"/>
              </a:ext>
            </a:extLst>
          </p:cNvPr>
          <p:cNvSpPr/>
          <p:nvPr/>
        </p:nvSpPr>
        <p:spPr>
          <a:xfrm>
            <a:off x="32512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F13B1ACE-F80A-F6CB-99FD-3B59BC50684A}"/>
              </a:ext>
            </a:extLst>
          </p:cNvPr>
          <p:cNvSpPr txBox="1"/>
          <p:nvPr/>
        </p:nvSpPr>
        <p:spPr>
          <a:xfrm>
            <a:off x="34290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Observations relevees</a:t>
            </a:r>
          </a:p>
        </p:txBody>
      </p:sp>
      <p:sp>
        <p:nvSpPr>
          <p:cNvPr id="14" name="ZoneTexte 13">
            <a:extLst>
              <a:ext uri="{FF2B5EF4-FFF2-40B4-BE49-F238E27FC236}">
                <a16:creationId xmlns:a16="http://schemas.microsoft.com/office/drawing/2014/main" id="{308B5AB6-14C7-25D8-3A75-47B25D8DF4D2}"/>
              </a:ext>
            </a:extLst>
          </p:cNvPr>
          <p:cNvSpPr txBox="1"/>
          <p:nvPr/>
        </p:nvSpPr>
        <p:spPr>
          <a:xfrm>
            <a:off x="34290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4</a:t>
            </a:r>
          </a:p>
        </p:txBody>
      </p:sp>
      <p:sp>
        <p:nvSpPr>
          <p:cNvPr id="15" name="ZoneTexte 14">
            <a:extLst>
              <a:ext uri="{FF2B5EF4-FFF2-40B4-BE49-F238E27FC236}">
                <a16:creationId xmlns:a16="http://schemas.microsoft.com/office/drawing/2014/main" id="{F0384F58-8D8F-1181-8803-0020690A8C68}"/>
              </a:ext>
            </a:extLst>
          </p:cNvPr>
          <p:cNvSpPr txBox="1"/>
          <p:nvPr/>
        </p:nvSpPr>
        <p:spPr>
          <a:xfrm>
            <a:off x="3429000" y="2413000"/>
            <a:ext cx="2311400" cy="369332"/>
          </a:xfrm>
          <a:prstGeom prst="rect">
            <a:avLst/>
          </a:prstGeom>
          <a:noFill/>
        </p:spPr>
        <p:txBody>
          <a:bodyPr vert="horz" rtlCol="0">
            <a:spAutoFit/>
          </a:bodyPr>
          <a:lstStyle/>
          <a:p>
            <a:r>
              <a:rPr lang="fr-FR" sz="900">
                <a:solidFill>
                  <a:srgbClr val="7A726B"/>
                </a:solidFill>
                <a:latin typeface="Arial" panose="020B0604020202020204" pitchFamily="34" charset="0"/>
              </a:rPr>
              <a:t>Constats valides issus de la feuille Observations</a:t>
            </a:r>
          </a:p>
        </p:txBody>
      </p:sp>
      <p:sp>
        <p:nvSpPr>
          <p:cNvPr id="16" name="Rectangle 15">
            <a:extLst>
              <a:ext uri="{FF2B5EF4-FFF2-40B4-BE49-F238E27FC236}">
                <a16:creationId xmlns:a16="http://schemas.microsoft.com/office/drawing/2014/main" id="{7F4477A3-F91C-A458-DD82-7630E90A5289}"/>
              </a:ext>
            </a:extLst>
          </p:cNvPr>
          <p:cNvSpPr/>
          <p:nvPr/>
        </p:nvSpPr>
        <p:spPr>
          <a:xfrm>
            <a:off x="61468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974CD6E7-F712-F795-C25A-A5C6B6EB136C}"/>
              </a:ext>
            </a:extLst>
          </p:cNvPr>
          <p:cNvSpPr txBox="1"/>
          <p:nvPr/>
        </p:nvSpPr>
        <p:spPr>
          <a:xfrm>
            <a:off x="63246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Processus couverts</a:t>
            </a:r>
          </a:p>
        </p:txBody>
      </p:sp>
      <p:sp>
        <p:nvSpPr>
          <p:cNvPr id="18" name="ZoneTexte 17">
            <a:extLst>
              <a:ext uri="{FF2B5EF4-FFF2-40B4-BE49-F238E27FC236}">
                <a16:creationId xmlns:a16="http://schemas.microsoft.com/office/drawing/2014/main" id="{0A7C6A33-0BF1-A091-20C1-5BF0E37682E1}"/>
              </a:ext>
            </a:extLst>
          </p:cNvPr>
          <p:cNvSpPr txBox="1"/>
          <p:nvPr/>
        </p:nvSpPr>
        <p:spPr>
          <a:xfrm>
            <a:off x="63246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3</a:t>
            </a:r>
          </a:p>
        </p:txBody>
      </p:sp>
      <p:sp>
        <p:nvSpPr>
          <p:cNvPr id="19" name="ZoneTexte 18">
            <a:extLst>
              <a:ext uri="{FF2B5EF4-FFF2-40B4-BE49-F238E27FC236}">
                <a16:creationId xmlns:a16="http://schemas.microsoft.com/office/drawing/2014/main" id="{F06025F6-414F-3911-276E-518B72CDB33D}"/>
              </a:ext>
            </a:extLst>
          </p:cNvPr>
          <p:cNvSpPr txBox="1"/>
          <p:nvPr/>
        </p:nvSpPr>
        <p:spPr>
          <a:xfrm>
            <a:off x="6324600" y="2413000"/>
            <a:ext cx="2311400" cy="230832"/>
          </a:xfrm>
          <a:prstGeom prst="rect">
            <a:avLst/>
          </a:prstGeom>
          <a:noFill/>
        </p:spPr>
        <p:txBody>
          <a:bodyPr vert="horz" rtlCol="0">
            <a:spAutoFit/>
          </a:bodyPr>
          <a:lstStyle/>
          <a:p>
            <a:r>
              <a:rPr lang="fr-FR" sz="900">
                <a:solidFill>
                  <a:srgbClr val="7A726B"/>
                </a:solidFill>
                <a:latin typeface="Arial" panose="020B0604020202020204" pitchFamily="34" charset="0"/>
              </a:rPr>
              <a:t>APD, PC, CO</a:t>
            </a:r>
          </a:p>
        </p:txBody>
      </p:sp>
      <p:sp>
        <p:nvSpPr>
          <p:cNvPr id="20" name="Rectangle 19">
            <a:extLst>
              <a:ext uri="{FF2B5EF4-FFF2-40B4-BE49-F238E27FC236}">
                <a16:creationId xmlns:a16="http://schemas.microsoft.com/office/drawing/2014/main" id="{D202D477-BE4A-373E-8B42-E4DD63B02BB1}"/>
              </a:ext>
            </a:extLst>
          </p:cNvPr>
          <p:cNvSpPr/>
          <p:nvPr/>
        </p:nvSpPr>
        <p:spPr>
          <a:xfrm>
            <a:off x="90424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BA0CDAF6-3114-0A80-8434-7C5C401028C8}"/>
              </a:ext>
            </a:extLst>
          </p:cNvPr>
          <p:cNvSpPr txBox="1"/>
          <p:nvPr/>
        </p:nvSpPr>
        <p:spPr>
          <a:xfrm>
            <a:off x="92202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Priorite dominante</a:t>
            </a:r>
          </a:p>
        </p:txBody>
      </p:sp>
      <p:sp>
        <p:nvSpPr>
          <p:cNvPr id="22" name="ZoneTexte 21">
            <a:extLst>
              <a:ext uri="{FF2B5EF4-FFF2-40B4-BE49-F238E27FC236}">
                <a16:creationId xmlns:a16="http://schemas.microsoft.com/office/drawing/2014/main" id="{50F90FEF-6CB3-F695-5A40-56C4EFFB662D}"/>
              </a:ext>
            </a:extLst>
          </p:cNvPr>
          <p:cNvSpPr txBox="1"/>
          <p:nvPr/>
        </p:nvSpPr>
        <p:spPr>
          <a:xfrm>
            <a:off x="92202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Critique</a:t>
            </a:r>
          </a:p>
        </p:txBody>
      </p:sp>
      <p:sp>
        <p:nvSpPr>
          <p:cNvPr id="23" name="ZoneTexte 22">
            <a:extLst>
              <a:ext uri="{FF2B5EF4-FFF2-40B4-BE49-F238E27FC236}">
                <a16:creationId xmlns:a16="http://schemas.microsoft.com/office/drawing/2014/main" id="{70EEF287-14F3-734E-1F3E-EF4AA297A35D}"/>
              </a:ext>
            </a:extLst>
          </p:cNvPr>
          <p:cNvSpPr txBox="1"/>
          <p:nvPr/>
        </p:nvSpPr>
        <p:spPr>
          <a:xfrm>
            <a:off x="9220200" y="2413000"/>
            <a:ext cx="2311400" cy="230832"/>
          </a:xfrm>
          <a:prstGeom prst="rect">
            <a:avLst/>
          </a:prstGeom>
          <a:noFill/>
        </p:spPr>
        <p:txBody>
          <a:bodyPr vert="horz" rtlCol="0">
            <a:spAutoFit/>
          </a:bodyPr>
          <a:lstStyle/>
          <a:p>
            <a:r>
              <a:rPr lang="fr-FR" sz="900">
                <a:solidFill>
                  <a:srgbClr val="7A726B"/>
                </a:solidFill>
                <a:latin typeface="Arial" panose="020B0604020202020204" pitchFamily="34" charset="0"/>
              </a:rPr>
              <a:t>2 observation(s)</a:t>
            </a:r>
          </a:p>
        </p:txBody>
      </p:sp>
      <p:sp>
        <p:nvSpPr>
          <p:cNvPr id="24" name="Rectangle 23">
            <a:extLst>
              <a:ext uri="{FF2B5EF4-FFF2-40B4-BE49-F238E27FC236}">
                <a16:creationId xmlns:a16="http://schemas.microsoft.com/office/drawing/2014/main" id="{3E795B75-ABAC-D424-030F-0B7D1AD8B732}"/>
              </a:ext>
            </a:extLst>
          </p:cNvPr>
          <p:cNvSpPr/>
          <p:nvPr/>
        </p:nvSpPr>
        <p:spPr>
          <a:xfrm>
            <a:off x="431800" y="3124200"/>
            <a:ext cx="5461000" cy="1143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E8574B1E-956C-E3F7-F7DF-3C69D6016DC9}"/>
              </a:ext>
            </a:extLst>
          </p:cNvPr>
          <p:cNvSpPr txBox="1"/>
          <p:nvPr/>
        </p:nvSpPr>
        <p:spPr>
          <a:xfrm>
            <a:off x="609600" y="3302000"/>
            <a:ext cx="5105400" cy="1200329"/>
          </a:xfrm>
          <a:prstGeom prst="rect">
            <a:avLst/>
          </a:prstGeom>
          <a:noFill/>
        </p:spPr>
        <p:txBody>
          <a:bodyPr vert="horz" rtlCol="0">
            <a:spAutoFit/>
          </a:bodyPr>
          <a:lstStyle/>
          <a:p>
            <a:r>
              <a:rPr lang="fr-FR" sz="1200">
                <a:solidFill>
                  <a:srgbClr val="2E2A26"/>
                </a:solidFill>
                <a:latin typeface="Arial" panose="020B0604020202020204" pitchFamily="34" charset="0"/>
              </a:rPr>
              <a:t>La revue ITGC menee sur Direction des Systèmes d'Information – Groupe XYZ a mis en evidence 4 observation(s) significative(s) sur les applications Active Directory, SAP, Oracle, Serveur Backup. Les constats les plus sensibles concernent la gestion des acces, la validation des changements et la robustesse des sauvegardes, avec un impact direct potentiel sur la securite et l'integrite des donnees.</a:t>
            </a:r>
          </a:p>
        </p:txBody>
      </p:sp>
      <p:sp>
        <p:nvSpPr>
          <p:cNvPr id="26" name="Rectangle 25">
            <a:extLst>
              <a:ext uri="{FF2B5EF4-FFF2-40B4-BE49-F238E27FC236}">
                <a16:creationId xmlns:a16="http://schemas.microsoft.com/office/drawing/2014/main" id="{B6F25E6C-E745-D273-1D5B-6B15F43B3BD6}"/>
              </a:ext>
            </a:extLst>
          </p:cNvPr>
          <p:cNvSpPr/>
          <p:nvPr/>
        </p:nvSpPr>
        <p:spPr>
          <a:xfrm>
            <a:off x="6121400" y="3124200"/>
            <a:ext cx="5232400" cy="1143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0EE1CF08-9F0E-A025-7BEC-143592141AD2}"/>
              </a:ext>
            </a:extLst>
          </p:cNvPr>
          <p:cNvSpPr txBox="1"/>
          <p:nvPr/>
        </p:nvSpPr>
        <p:spPr>
          <a:xfrm>
            <a:off x="6299200" y="3302000"/>
            <a:ext cx="4876800" cy="830997"/>
          </a:xfrm>
          <a:prstGeom prst="rect">
            <a:avLst/>
          </a:prstGeom>
          <a:noFill/>
        </p:spPr>
        <p:txBody>
          <a:bodyPr vert="horz" rtlCol="0">
            <a:spAutoFit/>
          </a:bodyPr>
          <a:lstStyle/>
          <a:p>
            <a:r>
              <a:rPr lang="fr-FR" sz="1200">
                <a:solidFill>
                  <a:srgbClr val="2E2A26"/>
                </a:solidFill>
                <a:latin typeface="Arial" panose="020B0604020202020204" pitchFamily="34" charset="0"/>
              </a:rPr>
              <a:t>Le dispositif de controle interne IT presente un niveau de maturite global faible. Les principales faiblesses se concentrent sur les controles de gestion des acces, la validation des changements et la capacite de restauration des sauvegardes.</a:t>
            </a:r>
          </a:p>
        </p:txBody>
      </p:sp>
      <p:sp>
        <p:nvSpPr>
          <p:cNvPr id="28" name="Rectangle 27">
            <a:extLst>
              <a:ext uri="{FF2B5EF4-FFF2-40B4-BE49-F238E27FC236}">
                <a16:creationId xmlns:a16="http://schemas.microsoft.com/office/drawing/2014/main" id="{FBD12D33-B10E-1F34-C3CD-9C5B5AE1EA2E}"/>
              </a:ext>
            </a:extLst>
          </p:cNvPr>
          <p:cNvSpPr/>
          <p:nvPr/>
        </p:nvSpPr>
        <p:spPr>
          <a:xfrm>
            <a:off x="431800" y="4445000"/>
            <a:ext cx="5461000" cy="11684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2F1BCDB0-2472-B4F2-B1B8-418535F64B6C}"/>
              </a:ext>
            </a:extLst>
          </p:cNvPr>
          <p:cNvSpPr txBox="1"/>
          <p:nvPr/>
        </p:nvSpPr>
        <p:spPr>
          <a:xfrm>
            <a:off x="609600" y="4622800"/>
            <a:ext cx="5105400" cy="1938992"/>
          </a:xfrm>
          <a:prstGeom prst="rect">
            <a:avLst/>
          </a:prstGeom>
          <a:noFill/>
        </p:spPr>
        <p:txBody>
          <a:bodyPr vert="horz" rtlCol="0">
            <a:spAutoFit/>
          </a:bodyPr>
          <a:lstStyle/>
          <a:p>
            <a:r>
              <a:rPr lang="fr-FR" sz="1200">
                <a:solidFill>
                  <a:srgbClr val="2E2A26"/>
                </a:solidFill>
                <a:latin typeface="Arial" panose="020B0604020202020204" pitchFamily="34" charset="0"/>
              </a:rPr>
              <a:t>Le niveau de maitrise du perimetre audite apparait perfectible, avec 4 observation(s) de priorite elevee ou critique. Sur Active Directory, nous avons constate que 5 comptes utilisateurs restent actifs après départ; 1 connexion post-départ détectée, traduisant une faiblesse sur le controle APD-01. Sur SAP, nous avons constate que 8 comptes créés sans validation, traduisant une faiblesse sur le controle APD-02. Sur Serveur Backup, nous avons constate que aucun test sur 12 mois, traduisant une faiblesse sur le controle CO-01. Des procedures compensatoires existent sur certains sujets, mais elles ne suffisent pas a elles seules a ramener le risque a un niveau acceptable.</a:t>
            </a:r>
          </a:p>
        </p:txBody>
      </p:sp>
      <p:sp>
        <p:nvSpPr>
          <p:cNvPr id="30" name="Rectangle 29">
            <a:extLst>
              <a:ext uri="{FF2B5EF4-FFF2-40B4-BE49-F238E27FC236}">
                <a16:creationId xmlns:a16="http://schemas.microsoft.com/office/drawing/2014/main" id="{35C6DCE9-891A-E038-C3CA-2ED8B9A99D3C}"/>
              </a:ext>
            </a:extLst>
          </p:cNvPr>
          <p:cNvSpPr/>
          <p:nvPr/>
        </p:nvSpPr>
        <p:spPr>
          <a:xfrm>
            <a:off x="6121400" y="4445000"/>
            <a:ext cx="5232400" cy="11684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4C87A793-AA97-A144-16F9-FD562EA75EA0}"/>
              </a:ext>
            </a:extLst>
          </p:cNvPr>
          <p:cNvSpPr txBox="1"/>
          <p:nvPr/>
        </p:nvSpPr>
        <p:spPr>
          <a:xfrm>
            <a:off x="6299200" y="4622800"/>
            <a:ext cx="4876800" cy="830997"/>
          </a:xfrm>
          <a:prstGeom prst="rect">
            <a:avLst/>
          </a:prstGeom>
          <a:noFill/>
        </p:spPr>
        <p:txBody>
          <a:bodyPr vert="horz" rtlCol="0">
            <a:spAutoFit/>
          </a:bodyPr>
          <a:lstStyle/>
          <a:p>
            <a:r>
              <a:rPr lang="fr-FR" sz="1200">
                <a:solidFill>
                  <a:srgbClr val="2E2A26"/>
                </a:solidFill>
                <a:latin typeface="Arial" panose="020B0604020202020204" pitchFamily="34" charset="0"/>
              </a:rPr>
              <a:t>Le risque est principalement concentre sur les observations de priorite critique, qui representent 2 point(s) sur 4. 2 observation(s) concernent la gestion des acces, ce qui en fait le principal foyer de risque du perimetre audite.</a:t>
            </a:r>
          </a:p>
        </p:txBody>
      </p:sp>
      <p:sp>
        <p:nvSpPr>
          <p:cNvPr id="32" name="Rectangle 31">
            <a:extLst>
              <a:ext uri="{FF2B5EF4-FFF2-40B4-BE49-F238E27FC236}">
                <a16:creationId xmlns:a16="http://schemas.microsoft.com/office/drawing/2014/main" id="{A4E491A9-3C33-F654-32ED-9CB7A051F77E}"/>
              </a:ext>
            </a:extLst>
          </p:cNvPr>
          <p:cNvSpPr/>
          <p:nvPr/>
        </p:nvSpPr>
        <p:spPr>
          <a:xfrm>
            <a:off x="431800" y="5740400"/>
            <a:ext cx="5334000" cy="889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911F19A5-0AEA-8387-38AB-FA8624C6D61F}"/>
              </a:ext>
            </a:extLst>
          </p:cNvPr>
          <p:cNvSpPr txBox="1"/>
          <p:nvPr/>
        </p:nvSpPr>
        <p:spPr>
          <a:xfrm>
            <a:off x="609600" y="5867400"/>
            <a:ext cx="5029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Messages cles</a:t>
            </a:r>
          </a:p>
        </p:txBody>
      </p:sp>
      <p:sp>
        <p:nvSpPr>
          <p:cNvPr id="34" name="ZoneTexte 33">
            <a:extLst>
              <a:ext uri="{FF2B5EF4-FFF2-40B4-BE49-F238E27FC236}">
                <a16:creationId xmlns:a16="http://schemas.microsoft.com/office/drawing/2014/main" id="{23B22800-BC3B-635E-4A50-9897AAD0F461}"/>
              </a:ext>
            </a:extLst>
          </p:cNvPr>
          <p:cNvSpPr txBox="1"/>
          <p:nvPr/>
        </p:nvSpPr>
        <p:spPr>
          <a:xfrm>
            <a:off x="609600" y="6223000"/>
            <a:ext cx="4978400" cy="1754326"/>
          </a:xfrm>
          <a:prstGeom prst="rect">
            <a:avLst/>
          </a:prstGeom>
          <a:noFill/>
        </p:spPr>
        <p:txBody>
          <a:bodyPr vert="horz" rtlCol="0">
            <a:spAutoFit/>
          </a:bodyPr>
          <a:lstStyle/>
          <a:p>
            <a:r>
              <a:rPr lang="fr-FR" sz="1200">
                <a:solidFill>
                  <a:srgbClr val="2E2A26"/>
                </a:solidFill>
                <a:latin typeface="Arial" panose="020B0604020202020204" pitchFamily="34" charset="0"/>
              </a:rPr>
              <a:t>• Sur Active Directory, nous avons identifie comptes actifs après départ employés, avec un impact potentiel de type accès non autorisé et risque de fuite de données et une priorite critique.</a:t>
            </a:r>
          </a:p>
          <a:p>
            <a:r>
              <a:rPr lang="fr-FR" sz="1200">
                <a:solidFill>
                  <a:srgbClr val="2E2A26"/>
                </a:solidFill>
                <a:latin typeface="Arial" panose="020B0604020202020204" pitchFamily="34" charset="0"/>
              </a:rPr>
              <a:t>• Sur SAP, nous avons identifie absence de validation des accès, avec un impact potentiel de type risque de fraude ou erreur et une priorite critique.</a:t>
            </a:r>
          </a:p>
          <a:p>
            <a:r>
              <a:rPr lang="fr-FR" sz="1200">
                <a:solidFill>
                  <a:srgbClr val="2E2A26"/>
                </a:solidFill>
                <a:latin typeface="Arial" panose="020B0604020202020204" pitchFamily="34" charset="0"/>
              </a:rPr>
              <a:t>• Sur Serveur Backup, nous avons identifie absence de test de restauration, avec un impact potentiel de type risque perte de données et une priorite elevee.</a:t>
            </a:r>
          </a:p>
        </p:txBody>
      </p:sp>
      <p:sp>
        <p:nvSpPr>
          <p:cNvPr id="35" name="Rectangle 34">
            <a:extLst>
              <a:ext uri="{FF2B5EF4-FFF2-40B4-BE49-F238E27FC236}">
                <a16:creationId xmlns:a16="http://schemas.microsoft.com/office/drawing/2014/main" id="{942BBBD0-655B-702C-1A09-58259F84B7FF}"/>
              </a:ext>
            </a:extLst>
          </p:cNvPr>
          <p:cNvSpPr/>
          <p:nvPr/>
        </p:nvSpPr>
        <p:spPr>
          <a:xfrm>
            <a:off x="6019800" y="5740400"/>
            <a:ext cx="5334000" cy="889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F53CA709-9FC6-8696-83C4-684BD00C34C9}"/>
              </a:ext>
            </a:extLst>
          </p:cNvPr>
          <p:cNvSpPr txBox="1"/>
          <p:nvPr/>
        </p:nvSpPr>
        <p:spPr>
          <a:xfrm>
            <a:off x="6197600" y="5867400"/>
            <a:ext cx="5029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Priorites strategiques</a:t>
            </a:r>
          </a:p>
        </p:txBody>
      </p:sp>
      <p:sp>
        <p:nvSpPr>
          <p:cNvPr id="37" name="ZoneTexte 36">
            <a:extLst>
              <a:ext uri="{FF2B5EF4-FFF2-40B4-BE49-F238E27FC236}">
                <a16:creationId xmlns:a16="http://schemas.microsoft.com/office/drawing/2014/main" id="{C9F62D85-F2DA-4DB7-A8A1-B33F93B092C3}"/>
              </a:ext>
            </a:extLst>
          </p:cNvPr>
          <p:cNvSpPr txBox="1"/>
          <p:nvPr/>
        </p:nvSpPr>
        <p:spPr>
          <a:xfrm>
            <a:off x="6197600" y="6223000"/>
            <a:ext cx="4978400" cy="1200329"/>
          </a:xfrm>
          <a:prstGeom prst="rect">
            <a:avLst/>
          </a:prstGeom>
          <a:noFill/>
        </p:spPr>
        <p:txBody>
          <a:bodyPr vert="horz" rtlCol="0">
            <a:spAutoFit/>
          </a:bodyPr>
          <a:lstStyle/>
          <a:p>
            <a:r>
              <a:rPr lang="fr-FR" sz="1200">
                <a:solidFill>
                  <a:srgbClr val="2E2A26"/>
                </a:solidFill>
                <a:latin typeface="Arial" panose="020B0604020202020204" pitchFamily="34" charset="0"/>
              </a:rPr>
              <a:t>• Traiter en priorite le constat APD-01 sur Active Directory afin de reduire le risque de accès non autorisé et risque de fuite de données.</a:t>
            </a:r>
          </a:p>
          <a:p>
            <a:r>
              <a:rPr lang="fr-FR" sz="1200">
                <a:solidFill>
                  <a:srgbClr val="2E2A26"/>
                </a:solidFill>
                <a:latin typeface="Arial" panose="020B0604020202020204" pitchFamily="34" charset="0"/>
              </a:rPr>
              <a:t>• Traiter en priorite le constat APD-02 sur SAP afin de reduire le risque de risque de fraude ou erreur.</a:t>
            </a:r>
          </a:p>
          <a:p>
            <a:r>
              <a:rPr lang="fr-FR" sz="1200">
                <a:solidFill>
                  <a:srgbClr val="2E2A26"/>
                </a:solidFill>
                <a:latin typeface="Arial" panose="020B0604020202020204" pitchFamily="34" charset="0"/>
              </a:rPr>
              <a:t>• Traiter en priorite le constat CO-01 sur Serveur Backup afin de reduire le risque de risque perte de données.</a:t>
            </a:r>
          </a:p>
        </p:txBody>
      </p:sp>
    </p:spTree>
    <p:extLst>
      <p:ext uri="{BB962C8B-B14F-4D97-AF65-F5344CB8AC3E}">
        <p14:creationId xmlns:p14="http://schemas.microsoft.com/office/powerpoint/2010/main" val="3210485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467465-7CE5-1B7E-7F33-DD4ED612A806}"/>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B3E194C-C228-24CF-D8F9-1709B13834F4}"/>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ECB2B73-E30E-2184-C589-DDFC16DDC845}"/>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BD1FA79-9D07-6CE0-93F1-56CA1B8250E4}"/>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des priorites</a:t>
            </a:r>
          </a:p>
        </p:txBody>
      </p:sp>
      <p:sp>
        <p:nvSpPr>
          <p:cNvPr id="6" name="ZoneTexte 5">
            <a:extLst>
              <a:ext uri="{FF2B5EF4-FFF2-40B4-BE49-F238E27FC236}">
                <a16:creationId xmlns:a16="http://schemas.microsoft.com/office/drawing/2014/main" id="{C01381A5-4905-48A0-C021-6210B01F3B4D}"/>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Repartition des observations par niveau de risque</a:t>
            </a:r>
          </a:p>
        </p:txBody>
      </p:sp>
      <p:sp>
        <p:nvSpPr>
          <p:cNvPr id="7" name="ZoneTexte 6">
            <a:extLst>
              <a:ext uri="{FF2B5EF4-FFF2-40B4-BE49-F238E27FC236}">
                <a16:creationId xmlns:a16="http://schemas.microsoft.com/office/drawing/2014/main" id="{0B128588-66FC-F62C-221E-A34CF1651ED7}"/>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08</a:t>
            </a:r>
          </a:p>
        </p:txBody>
      </p:sp>
      <p:sp>
        <p:nvSpPr>
          <p:cNvPr id="8" name="Rectangle 7">
            <a:extLst>
              <a:ext uri="{FF2B5EF4-FFF2-40B4-BE49-F238E27FC236}">
                <a16:creationId xmlns:a16="http://schemas.microsoft.com/office/drawing/2014/main" id="{55B9025B-B75D-5EDD-3C8C-061A117B19CB}"/>
              </a:ext>
            </a:extLst>
          </p:cNvPr>
          <p:cNvSpPr/>
          <p:nvPr/>
        </p:nvSpPr>
        <p:spPr>
          <a:xfrm>
            <a:off x="508000" y="1524000"/>
            <a:ext cx="2413000" cy="1651000"/>
          </a:xfrm>
          <a:prstGeom prst="rect">
            <a:avLst/>
          </a:prstGeom>
          <a:solidFill>
            <a:srgbClr val="FFFFFF"/>
          </a:solidFill>
          <a:ln>
            <a:solidFill>
              <a:srgbClr val="B423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89BA9BA-8F26-DF8D-27FA-078440591067}"/>
              </a:ext>
            </a:extLst>
          </p:cNvPr>
          <p:cNvSpPr/>
          <p:nvPr/>
        </p:nvSpPr>
        <p:spPr>
          <a:xfrm>
            <a:off x="508000" y="1524000"/>
            <a:ext cx="2413000" cy="2032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F2B8A4F8-B9C4-90D2-880D-FFCCC42470E7}"/>
              </a:ext>
            </a:extLst>
          </p:cNvPr>
          <p:cNvSpPr txBox="1"/>
          <p:nvPr/>
        </p:nvSpPr>
        <p:spPr>
          <a:xfrm>
            <a:off x="685800" y="1828800"/>
            <a:ext cx="20574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Critique</a:t>
            </a:r>
          </a:p>
        </p:txBody>
      </p:sp>
      <p:sp>
        <p:nvSpPr>
          <p:cNvPr id="11" name="ZoneTexte 10">
            <a:extLst>
              <a:ext uri="{FF2B5EF4-FFF2-40B4-BE49-F238E27FC236}">
                <a16:creationId xmlns:a16="http://schemas.microsoft.com/office/drawing/2014/main" id="{487F3D92-7E45-8B2E-3569-6D49687C07AB}"/>
              </a:ext>
            </a:extLst>
          </p:cNvPr>
          <p:cNvSpPr txBox="1"/>
          <p:nvPr/>
        </p:nvSpPr>
        <p:spPr>
          <a:xfrm>
            <a:off x="685800" y="2184400"/>
            <a:ext cx="2057400" cy="523220"/>
          </a:xfrm>
          <a:prstGeom prst="rect">
            <a:avLst/>
          </a:prstGeom>
          <a:noFill/>
        </p:spPr>
        <p:txBody>
          <a:bodyPr vert="horz" rtlCol="0">
            <a:spAutoFit/>
          </a:bodyPr>
          <a:lstStyle/>
          <a:p>
            <a:r>
              <a:rPr lang="fr-FR" sz="2800" b="1">
                <a:solidFill>
                  <a:srgbClr val="B42318"/>
                </a:solidFill>
                <a:latin typeface="Arial" panose="020B0604020202020204" pitchFamily="34" charset="0"/>
              </a:rPr>
              <a:t>2</a:t>
            </a:r>
          </a:p>
        </p:txBody>
      </p:sp>
      <p:sp>
        <p:nvSpPr>
          <p:cNvPr id="12" name="ZoneTexte 11">
            <a:extLst>
              <a:ext uri="{FF2B5EF4-FFF2-40B4-BE49-F238E27FC236}">
                <a16:creationId xmlns:a16="http://schemas.microsoft.com/office/drawing/2014/main" id="{F8BB10EA-3577-8A17-3226-E0AFE7FC6589}"/>
              </a:ext>
            </a:extLst>
          </p:cNvPr>
          <p:cNvSpPr txBox="1"/>
          <p:nvPr/>
        </p:nvSpPr>
        <p:spPr>
          <a:xfrm>
            <a:off x="685800" y="2692400"/>
            <a:ext cx="2057400" cy="246221"/>
          </a:xfrm>
          <a:prstGeom prst="rect">
            <a:avLst/>
          </a:prstGeom>
          <a:noFill/>
        </p:spPr>
        <p:txBody>
          <a:bodyPr vert="horz" rtlCol="0">
            <a:spAutoFit/>
          </a:bodyPr>
          <a:lstStyle/>
          <a:p>
            <a:r>
              <a:rPr lang="fr-FR" sz="1000">
                <a:solidFill>
                  <a:srgbClr val="7A726B"/>
                </a:solidFill>
                <a:latin typeface="Arial" panose="020B0604020202020204" pitchFamily="34" charset="0"/>
              </a:rPr>
              <a:t>50.0% du total</a:t>
            </a:r>
          </a:p>
        </p:txBody>
      </p:sp>
      <p:sp>
        <p:nvSpPr>
          <p:cNvPr id="13" name="Rectangle 12">
            <a:extLst>
              <a:ext uri="{FF2B5EF4-FFF2-40B4-BE49-F238E27FC236}">
                <a16:creationId xmlns:a16="http://schemas.microsoft.com/office/drawing/2014/main" id="{0185BD64-D6F3-D2C2-EF29-95FA8A4B61A4}"/>
              </a:ext>
            </a:extLst>
          </p:cNvPr>
          <p:cNvSpPr/>
          <p:nvPr/>
        </p:nvSpPr>
        <p:spPr>
          <a:xfrm>
            <a:off x="3200400" y="1524000"/>
            <a:ext cx="2413000" cy="1651000"/>
          </a:xfrm>
          <a:prstGeom prst="rect">
            <a:avLst/>
          </a:prstGeom>
          <a:solidFill>
            <a:srgbClr val="FFFFFF"/>
          </a:solidFill>
          <a:ln>
            <a:solidFill>
              <a:srgbClr val="EC6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0F24FCD-B1F0-B1D8-38F0-78ABA5B07E26}"/>
              </a:ext>
            </a:extLst>
          </p:cNvPr>
          <p:cNvSpPr/>
          <p:nvPr/>
        </p:nvSpPr>
        <p:spPr>
          <a:xfrm>
            <a:off x="3200400" y="1524000"/>
            <a:ext cx="2413000" cy="2032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3E1F7FB1-DD70-7BD5-4BFC-9B1F1B8033ED}"/>
              </a:ext>
            </a:extLst>
          </p:cNvPr>
          <p:cNvSpPr txBox="1"/>
          <p:nvPr/>
        </p:nvSpPr>
        <p:spPr>
          <a:xfrm>
            <a:off x="3378200" y="1828800"/>
            <a:ext cx="2057400" cy="307777"/>
          </a:xfrm>
          <a:prstGeom prst="rect">
            <a:avLst/>
          </a:prstGeom>
          <a:noFill/>
        </p:spPr>
        <p:txBody>
          <a:bodyPr vert="horz" rtlCol="0">
            <a:spAutoFit/>
          </a:bodyPr>
          <a:lstStyle/>
          <a:p>
            <a:r>
              <a:rPr lang="fr-FR" sz="1400" b="1">
                <a:solidFill>
                  <a:srgbClr val="2E2A26"/>
                </a:solidFill>
                <a:latin typeface="Arial" panose="020B0604020202020204" pitchFamily="34" charset="0"/>
              </a:rPr>
              <a:t>Elevee</a:t>
            </a:r>
          </a:p>
        </p:txBody>
      </p:sp>
      <p:sp>
        <p:nvSpPr>
          <p:cNvPr id="16" name="ZoneTexte 15">
            <a:extLst>
              <a:ext uri="{FF2B5EF4-FFF2-40B4-BE49-F238E27FC236}">
                <a16:creationId xmlns:a16="http://schemas.microsoft.com/office/drawing/2014/main" id="{11A14BDD-B3B1-292B-C217-FEFAE58FA3E7}"/>
              </a:ext>
            </a:extLst>
          </p:cNvPr>
          <p:cNvSpPr txBox="1"/>
          <p:nvPr/>
        </p:nvSpPr>
        <p:spPr>
          <a:xfrm>
            <a:off x="3378200" y="2184400"/>
            <a:ext cx="2057400" cy="523220"/>
          </a:xfrm>
          <a:prstGeom prst="rect">
            <a:avLst/>
          </a:prstGeom>
          <a:noFill/>
        </p:spPr>
        <p:txBody>
          <a:bodyPr vert="horz" rtlCol="0">
            <a:spAutoFit/>
          </a:bodyPr>
          <a:lstStyle/>
          <a:p>
            <a:r>
              <a:rPr lang="fr-FR" sz="2800" b="1">
                <a:solidFill>
                  <a:srgbClr val="EC6000"/>
                </a:solidFill>
                <a:latin typeface="Arial" panose="020B0604020202020204" pitchFamily="34" charset="0"/>
              </a:rPr>
              <a:t>2</a:t>
            </a:r>
          </a:p>
        </p:txBody>
      </p:sp>
      <p:sp>
        <p:nvSpPr>
          <p:cNvPr id="17" name="ZoneTexte 16">
            <a:extLst>
              <a:ext uri="{FF2B5EF4-FFF2-40B4-BE49-F238E27FC236}">
                <a16:creationId xmlns:a16="http://schemas.microsoft.com/office/drawing/2014/main" id="{32F27B8A-D389-1FE1-E335-48CC7DE8F614}"/>
              </a:ext>
            </a:extLst>
          </p:cNvPr>
          <p:cNvSpPr txBox="1"/>
          <p:nvPr/>
        </p:nvSpPr>
        <p:spPr>
          <a:xfrm>
            <a:off x="3378200" y="2692400"/>
            <a:ext cx="2057400" cy="246221"/>
          </a:xfrm>
          <a:prstGeom prst="rect">
            <a:avLst/>
          </a:prstGeom>
          <a:noFill/>
        </p:spPr>
        <p:txBody>
          <a:bodyPr vert="horz" rtlCol="0">
            <a:spAutoFit/>
          </a:bodyPr>
          <a:lstStyle/>
          <a:p>
            <a:r>
              <a:rPr lang="fr-FR" sz="1000">
                <a:solidFill>
                  <a:srgbClr val="7A726B"/>
                </a:solidFill>
                <a:latin typeface="Arial" panose="020B0604020202020204" pitchFamily="34" charset="0"/>
              </a:rPr>
              <a:t>50.0% du total</a:t>
            </a:r>
          </a:p>
        </p:txBody>
      </p:sp>
      <p:sp>
        <p:nvSpPr>
          <p:cNvPr id="18" name="ZoneTexte 17">
            <a:extLst>
              <a:ext uri="{FF2B5EF4-FFF2-40B4-BE49-F238E27FC236}">
                <a16:creationId xmlns:a16="http://schemas.microsoft.com/office/drawing/2014/main" id="{44F881C9-C417-5762-362E-847D8777253E}"/>
              </a:ext>
            </a:extLst>
          </p:cNvPr>
          <p:cNvSpPr txBox="1"/>
          <p:nvPr/>
        </p:nvSpPr>
        <p:spPr>
          <a:xfrm>
            <a:off x="508000" y="3352800"/>
            <a:ext cx="10922000" cy="292388"/>
          </a:xfrm>
          <a:prstGeom prst="rect">
            <a:avLst/>
          </a:prstGeom>
          <a:noFill/>
        </p:spPr>
        <p:txBody>
          <a:bodyPr vert="horz" rtlCol="0">
            <a:spAutoFit/>
          </a:bodyPr>
          <a:lstStyle/>
          <a:p>
            <a:r>
              <a:rPr lang="fr-FR" sz="1300" b="1">
                <a:solidFill>
                  <a:srgbClr val="2E2A26"/>
                </a:solidFill>
                <a:latin typeface="Arial" panose="020B0604020202020204" pitchFamily="34" charset="0"/>
              </a:rPr>
              <a:t>Lecture du risque global</a:t>
            </a:r>
          </a:p>
        </p:txBody>
      </p:sp>
      <p:graphicFrame>
        <p:nvGraphicFramePr>
          <p:cNvPr id="19" name="Tableau 18">
            <a:extLst>
              <a:ext uri="{FF2B5EF4-FFF2-40B4-BE49-F238E27FC236}">
                <a16:creationId xmlns:a16="http://schemas.microsoft.com/office/drawing/2014/main" id="{429F15C0-C00F-75DB-2ADD-F954A6571436}"/>
              </a:ext>
            </a:extLst>
          </p:cNvPr>
          <p:cNvGraphicFramePr>
            <a:graphicFrameLocks noGrp="1"/>
          </p:cNvGraphicFramePr>
          <p:nvPr>
            <p:extLst>
              <p:ext uri="{D42A27DB-BD31-4B8C-83A1-F6EECF244321}">
                <p14:modId xmlns:p14="http://schemas.microsoft.com/office/powerpoint/2010/main" val="3464977270"/>
              </p:ext>
            </p:extLst>
          </p:nvPr>
        </p:nvGraphicFramePr>
        <p:xfrm>
          <a:off x="508000" y="3683000"/>
          <a:ext cx="10922000" cy="1651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1409319196"/>
                    </a:ext>
                  </a:extLst>
                </a:gridCol>
                <a:gridCol w="2730500">
                  <a:extLst>
                    <a:ext uri="{9D8B030D-6E8A-4147-A177-3AD203B41FA5}">
                      <a16:colId xmlns:a16="http://schemas.microsoft.com/office/drawing/2014/main" val="2749110823"/>
                    </a:ext>
                  </a:extLst>
                </a:gridCol>
                <a:gridCol w="2730500">
                  <a:extLst>
                    <a:ext uri="{9D8B030D-6E8A-4147-A177-3AD203B41FA5}">
                      <a16:colId xmlns:a16="http://schemas.microsoft.com/office/drawing/2014/main" val="241545149"/>
                    </a:ext>
                  </a:extLst>
                </a:gridCol>
                <a:gridCol w="2730500">
                  <a:extLst>
                    <a:ext uri="{9D8B030D-6E8A-4147-A177-3AD203B41FA5}">
                      <a16:colId xmlns:a16="http://schemas.microsoft.com/office/drawing/2014/main" val="2299919472"/>
                    </a:ext>
                  </a:extLst>
                </a:gridCol>
              </a:tblGrid>
              <a:tr h="550333">
                <a:tc>
                  <a:txBody>
                    <a:bodyPr/>
                    <a:lstStyle/>
                    <a:p>
                      <a:r>
                        <a:rPr lang="fr-FR" sz="1100" b="1">
                          <a:solidFill>
                            <a:srgbClr val="FFFFFF"/>
                          </a:solidFill>
                          <a:latin typeface="Arial" panose="020B0604020202020204" pitchFamily="34" charset="0"/>
                        </a:rPr>
                        <a:t>Niveau</a:t>
                      </a:r>
                    </a:p>
                  </a:txBody>
                  <a:tcPr>
                    <a:solidFill>
                      <a:srgbClr val="2E2A26"/>
                    </a:solidFill>
                  </a:tcPr>
                </a:tc>
                <a:tc>
                  <a:txBody>
                    <a:bodyPr/>
                    <a:lstStyle/>
                    <a:p>
                      <a:r>
                        <a:rPr lang="fr-FR" sz="1100" b="1">
                          <a:solidFill>
                            <a:srgbClr val="FFFFFF"/>
                          </a:solidFill>
                          <a:latin typeface="Arial" panose="020B0604020202020204" pitchFamily="34" charset="0"/>
                        </a:rPr>
                        <a:t>Nombre</a:t>
                      </a:r>
                    </a:p>
                  </a:txBody>
                  <a:tcPr>
                    <a:solidFill>
                      <a:srgbClr val="2E2A26"/>
                    </a:solidFill>
                  </a:tcPr>
                </a:tc>
                <a:tc>
                  <a:txBody>
                    <a:bodyPr/>
                    <a:lstStyle/>
                    <a:p>
                      <a:r>
                        <a:rPr lang="fr-FR" sz="1100" b="1">
                          <a:solidFill>
                            <a:srgbClr val="FFFFFF"/>
                          </a:solidFill>
                          <a:latin typeface="Arial" panose="020B0604020202020204" pitchFamily="34" charset="0"/>
                        </a:rPr>
                        <a:t>%</a:t>
                      </a:r>
                    </a:p>
                  </a:txBody>
                  <a:tcPr>
                    <a:solidFill>
                      <a:srgbClr val="2E2A26"/>
                    </a:solidFill>
                  </a:tcPr>
                </a:tc>
                <a:tc>
                  <a:txBody>
                    <a:bodyPr/>
                    <a:lstStyle/>
                    <a:p>
                      <a:r>
                        <a:rPr lang="fr-FR" sz="1100" b="1">
                          <a:solidFill>
                            <a:srgbClr val="FFFFFF"/>
                          </a:solidFill>
                          <a:latin typeface="Arial" panose="020B0604020202020204" pitchFamily="34" charset="0"/>
                        </a:rPr>
                        <a:t>Lecture management</a:t>
                      </a:r>
                    </a:p>
                  </a:txBody>
                  <a:tcPr>
                    <a:solidFill>
                      <a:srgbClr val="2E2A26"/>
                    </a:solidFill>
                  </a:tcPr>
                </a:tc>
                <a:extLst>
                  <a:ext uri="{0D108BD9-81ED-4DB2-BD59-A6C34878D82A}">
                    <a16:rowId xmlns:a16="http://schemas.microsoft.com/office/drawing/2014/main" val="3035632453"/>
                  </a:ext>
                </a:extLst>
              </a:tr>
              <a:tr h="550333">
                <a:tc>
                  <a:txBody>
                    <a:bodyPr/>
                    <a:lstStyle/>
                    <a:p>
                      <a:r>
                        <a:rPr lang="fr-FR" sz="1000" b="0">
                          <a:solidFill>
                            <a:srgbClr val="2E2A26"/>
                          </a:solidFill>
                          <a:latin typeface="Arial" panose="020B0604020202020204" pitchFamily="34" charset="0"/>
                        </a:rPr>
                        <a:t>Critique</a:t>
                      </a:r>
                    </a:p>
                  </a:txBody>
                  <a:tcPr>
                    <a:solidFill>
                      <a:srgbClr val="FFFFFF"/>
                    </a:solidFill>
                  </a:tcPr>
                </a:tc>
                <a:tc>
                  <a:txBody>
                    <a:bodyPr/>
                    <a:lstStyle/>
                    <a:p>
                      <a:r>
                        <a:rPr lang="fr-FR" sz="1000" b="0">
                          <a:solidFill>
                            <a:srgbClr val="2E2A26"/>
                          </a:solidFill>
                          <a:latin typeface="Arial" panose="020B0604020202020204" pitchFamily="34" charset="0"/>
                        </a:rPr>
                        <a:t>2</a:t>
                      </a:r>
                    </a:p>
                  </a:txBody>
                  <a:tcPr>
                    <a:solidFill>
                      <a:srgbClr val="FFFFFF"/>
                    </a:solidFill>
                  </a:tcPr>
                </a:tc>
                <a:tc>
                  <a:txBody>
                    <a:bodyPr/>
                    <a:lstStyle/>
                    <a:p>
                      <a:r>
                        <a:rPr lang="fr-FR" sz="1000" b="0">
                          <a:solidFill>
                            <a:srgbClr val="2E2A26"/>
                          </a:solidFill>
                          <a:latin typeface="Arial" panose="020B0604020202020204" pitchFamily="34" charset="0"/>
                        </a:rPr>
                        <a:t>50.0%</a:t>
                      </a:r>
                    </a:p>
                  </a:txBody>
                  <a:tcPr>
                    <a:solidFill>
                      <a:srgbClr val="FFFFFF"/>
                    </a:solidFill>
                  </a:tcPr>
                </a:tc>
                <a:tc>
                  <a:txBody>
                    <a:bodyPr/>
                    <a:lstStyle/>
                    <a:p>
                      <a:r>
                        <a:rPr lang="fr-FR" sz="1000" b="0">
                          <a:solidFill>
                            <a:srgbClr val="2E2A26"/>
                          </a:solidFill>
                          <a:latin typeface="Arial" panose="020B0604020202020204" pitchFamily="34" charset="0"/>
                        </a:rPr>
                        <a:t>Niveau de risque dominant</a:t>
                      </a:r>
                    </a:p>
                  </a:txBody>
                  <a:tcPr>
                    <a:solidFill>
                      <a:srgbClr val="FFFFFF"/>
                    </a:solidFill>
                  </a:tcPr>
                </a:tc>
                <a:extLst>
                  <a:ext uri="{0D108BD9-81ED-4DB2-BD59-A6C34878D82A}">
                    <a16:rowId xmlns:a16="http://schemas.microsoft.com/office/drawing/2014/main" val="4068515070"/>
                  </a:ext>
                </a:extLst>
              </a:tr>
              <a:tr h="550333">
                <a:tc>
                  <a:txBody>
                    <a:bodyPr/>
                    <a:lstStyle/>
                    <a:p>
                      <a:r>
                        <a:rPr lang="fr-FR" sz="1000" b="0">
                          <a:solidFill>
                            <a:srgbClr val="2E2A26"/>
                          </a:solidFill>
                          <a:latin typeface="Arial" panose="020B0604020202020204" pitchFamily="34" charset="0"/>
                        </a:rPr>
                        <a:t>Elevee</a:t>
                      </a:r>
                    </a:p>
                  </a:txBody>
                  <a:tcPr>
                    <a:solidFill>
                      <a:srgbClr val="F3F0ED"/>
                    </a:solidFill>
                  </a:tcPr>
                </a:tc>
                <a:tc>
                  <a:txBody>
                    <a:bodyPr/>
                    <a:lstStyle/>
                    <a:p>
                      <a:r>
                        <a:rPr lang="fr-FR" sz="1000" b="0">
                          <a:solidFill>
                            <a:srgbClr val="2E2A26"/>
                          </a:solidFill>
                          <a:latin typeface="Arial" panose="020B0604020202020204" pitchFamily="34" charset="0"/>
                        </a:rPr>
                        <a:t>2</a:t>
                      </a:r>
                    </a:p>
                  </a:txBody>
                  <a:tcPr>
                    <a:solidFill>
                      <a:srgbClr val="F3F0ED"/>
                    </a:solidFill>
                  </a:tcPr>
                </a:tc>
                <a:tc>
                  <a:txBody>
                    <a:bodyPr/>
                    <a:lstStyle/>
                    <a:p>
                      <a:r>
                        <a:rPr lang="fr-FR" sz="1000" b="0">
                          <a:solidFill>
                            <a:srgbClr val="2E2A26"/>
                          </a:solidFill>
                          <a:latin typeface="Arial" panose="020B0604020202020204" pitchFamily="34" charset="0"/>
                        </a:rPr>
                        <a:t>50.0%</a:t>
                      </a:r>
                    </a:p>
                  </a:txBody>
                  <a:tcPr>
                    <a:solidFill>
                      <a:srgbClr val="F3F0ED"/>
                    </a:solidFill>
                  </a:tcPr>
                </a:tc>
                <a:tc>
                  <a:txBody>
                    <a:bodyPr/>
                    <a:lstStyle/>
                    <a:p>
                      <a:r>
                        <a:rPr lang="fr-FR" sz="1000" b="0">
                          <a:solidFill>
                            <a:srgbClr val="2E2A26"/>
                          </a:solidFill>
                          <a:latin typeface="Arial" panose="020B0604020202020204" pitchFamily="34" charset="0"/>
                        </a:rPr>
                        <a:t>Risque significatif a suivre</a:t>
                      </a:r>
                    </a:p>
                  </a:txBody>
                  <a:tcPr>
                    <a:solidFill>
                      <a:srgbClr val="F3F0ED"/>
                    </a:solidFill>
                  </a:tcPr>
                </a:tc>
                <a:extLst>
                  <a:ext uri="{0D108BD9-81ED-4DB2-BD59-A6C34878D82A}">
                    <a16:rowId xmlns:a16="http://schemas.microsoft.com/office/drawing/2014/main" val="703541979"/>
                  </a:ext>
                </a:extLst>
              </a:tr>
            </a:tbl>
          </a:graphicData>
        </a:graphic>
      </p:graphicFrame>
    </p:spTree>
    <p:extLst>
      <p:ext uri="{BB962C8B-B14F-4D97-AF65-F5344CB8AC3E}">
        <p14:creationId xmlns:p14="http://schemas.microsoft.com/office/powerpoint/2010/main" val="91256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9D4AF0-91B4-E389-3DCB-8E01D2CC398D}"/>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23775AB6-58A4-E9F4-1A61-75EB3EE2EE51}"/>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CCE7B6B2-ABEA-C9D8-710A-E9F9D87FB01A}"/>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C9762D6-1C67-25C2-72E5-4B9EC2C7380C}"/>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par controle et application</a:t>
            </a:r>
          </a:p>
        </p:txBody>
      </p:sp>
      <p:sp>
        <p:nvSpPr>
          <p:cNvPr id="6" name="ZoneTexte 5">
            <a:extLst>
              <a:ext uri="{FF2B5EF4-FFF2-40B4-BE49-F238E27FC236}">
                <a16:creationId xmlns:a16="http://schemas.microsoft.com/office/drawing/2014/main" id="{15A7CEA0-E20F-0DC7-6C60-9B4AE662128E}"/>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Vue consolidee des points releves</a:t>
            </a:r>
          </a:p>
        </p:txBody>
      </p:sp>
      <p:sp>
        <p:nvSpPr>
          <p:cNvPr id="7" name="ZoneTexte 6">
            <a:extLst>
              <a:ext uri="{FF2B5EF4-FFF2-40B4-BE49-F238E27FC236}">
                <a16:creationId xmlns:a16="http://schemas.microsoft.com/office/drawing/2014/main" id="{4403ED53-4870-D969-5318-14C665E5E5BE}"/>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09</a:t>
            </a:r>
          </a:p>
        </p:txBody>
      </p:sp>
      <p:sp>
        <p:nvSpPr>
          <p:cNvPr id="8" name="ZoneTexte 7">
            <a:extLst>
              <a:ext uri="{FF2B5EF4-FFF2-40B4-BE49-F238E27FC236}">
                <a16:creationId xmlns:a16="http://schemas.microsoft.com/office/drawing/2014/main" id="{E6B52123-F79C-4F88-020E-D3F181704193}"/>
              </a:ext>
            </a:extLst>
          </p:cNvPr>
          <p:cNvSpPr txBox="1"/>
          <p:nvPr/>
        </p:nvSpPr>
        <p:spPr>
          <a:xfrm>
            <a:off x="381000" y="1270000"/>
            <a:ext cx="11074400" cy="292388"/>
          </a:xfrm>
          <a:prstGeom prst="rect">
            <a:avLst/>
          </a:prstGeom>
          <a:noFill/>
        </p:spPr>
        <p:txBody>
          <a:bodyPr vert="horz" rtlCol="0">
            <a:spAutoFit/>
          </a:bodyPr>
          <a:lstStyle/>
          <a:p>
            <a:r>
              <a:rPr lang="fr-FR" sz="1300" b="1">
                <a:solidFill>
                  <a:srgbClr val="2E2A26"/>
                </a:solidFill>
                <a:latin typeface="Arial" panose="020B0604020202020204" pitchFamily="34" charset="0"/>
              </a:rPr>
              <a:t>Tableau de synthese croisee</a:t>
            </a:r>
          </a:p>
        </p:txBody>
      </p:sp>
      <p:graphicFrame>
        <p:nvGraphicFramePr>
          <p:cNvPr id="9" name="Tableau 8">
            <a:extLst>
              <a:ext uri="{FF2B5EF4-FFF2-40B4-BE49-F238E27FC236}">
                <a16:creationId xmlns:a16="http://schemas.microsoft.com/office/drawing/2014/main" id="{5D7CFEBD-66C9-AF17-4756-CB48EE1CC9AE}"/>
              </a:ext>
            </a:extLst>
          </p:cNvPr>
          <p:cNvGraphicFramePr>
            <a:graphicFrameLocks noGrp="1"/>
          </p:cNvGraphicFramePr>
          <p:nvPr>
            <p:extLst>
              <p:ext uri="{D42A27DB-BD31-4B8C-83A1-F6EECF244321}">
                <p14:modId xmlns:p14="http://schemas.microsoft.com/office/powerpoint/2010/main" val="1742337212"/>
              </p:ext>
            </p:extLst>
          </p:nvPr>
        </p:nvGraphicFramePr>
        <p:xfrm>
          <a:off x="381000" y="1600200"/>
          <a:ext cx="11074400" cy="3810000"/>
        </p:xfrm>
        <a:graphic>
          <a:graphicData uri="http://schemas.openxmlformats.org/drawingml/2006/table">
            <a:tbl>
              <a:tblPr firstRow="1" bandRow="1">
                <a:tableStyleId>{5C22544A-7EE6-4342-B048-85BDC9FD1C3A}</a:tableStyleId>
              </a:tblPr>
              <a:tblGrid>
                <a:gridCol w="2214880">
                  <a:extLst>
                    <a:ext uri="{9D8B030D-6E8A-4147-A177-3AD203B41FA5}">
                      <a16:colId xmlns:a16="http://schemas.microsoft.com/office/drawing/2014/main" val="137709505"/>
                    </a:ext>
                  </a:extLst>
                </a:gridCol>
                <a:gridCol w="2214880">
                  <a:extLst>
                    <a:ext uri="{9D8B030D-6E8A-4147-A177-3AD203B41FA5}">
                      <a16:colId xmlns:a16="http://schemas.microsoft.com/office/drawing/2014/main" val="2985809389"/>
                    </a:ext>
                  </a:extLst>
                </a:gridCol>
                <a:gridCol w="2214880">
                  <a:extLst>
                    <a:ext uri="{9D8B030D-6E8A-4147-A177-3AD203B41FA5}">
                      <a16:colId xmlns:a16="http://schemas.microsoft.com/office/drawing/2014/main" val="1964113147"/>
                    </a:ext>
                  </a:extLst>
                </a:gridCol>
                <a:gridCol w="2214880">
                  <a:extLst>
                    <a:ext uri="{9D8B030D-6E8A-4147-A177-3AD203B41FA5}">
                      <a16:colId xmlns:a16="http://schemas.microsoft.com/office/drawing/2014/main" val="2585156100"/>
                    </a:ext>
                  </a:extLst>
                </a:gridCol>
                <a:gridCol w="2214880">
                  <a:extLst>
                    <a:ext uri="{9D8B030D-6E8A-4147-A177-3AD203B41FA5}">
                      <a16:colId xmlns:a16="http://schemas.microsoft.com/office/drawing/2014/main" val="1658201052"/>
                    </a:ext>
                  </a:extLst>
                </a:gridCol>
              </a:tblGrid>
              <a:tr h="762000">
                <a:tc>
                  <a:txBody>
                    <a:bodyPr/>
                    <a:lstStyle/>
                    <a:p>
                      <a:r>
                        <a:rPr lang="fr-FR" sz="1100" b="1">
                          <a:solidFill>
                            <a:srgbClr val="FFFFFF"/>
                          </a:solidFill>
                          <a:latin typeface="Arial" panose="020B0604020202020204" pitchFamily="34" charset="0"/>
                        </a:rPr>
                        <a:t>Ref.</a:t>
                      </a:r>
                    </a:p>
                  </a:txBody>
                  <a:tcPr>
                    <a:solidFill>
                      <a:srgbClr val="2E2A26"/>
                    </a:solidFill>
                  </a:tcPr>
                </a:tc>
                <a:tc>
                  <a:txBody>
                    <a:bodyPr/>
                    <a:lstStyle/>
                    <a:p>
                      <a:r>
                        <a:rPr lang="fr-FR" sz="1100" b="1">
                          <a:solidFill>
                            <a:srgbClr val="FFFFFF"/>
                          </a:solidFill>
                          <a:latin typeface="Arial" panose="020B0604020202020204" pitchFamily="34" charset="0"/>
                        </a:rPr>
                        <a:t>Application</a:t>
                      </a:r>
                    </a:p>
                  </a:txBody>
                  <a:tcPr>
                    <a:solidFill>
                      <a:srgbClr val="2E2A26"/>
                    </a:solidFill>
                  </a:tcPr>
                </a:tc>
                <a:tc>
                  <a:txBody>
                    <a:bodyPr/>
                    <a:lstStyle/>
                    <a:p>
                      <a:r>
                        <a:rPr lang="fr-FR" sz="1100" b="1">
                          <a:solidFill>
                            <a:srgbClr val="FFFFFF"/>
                          </a:solidFill>
                          <a:latin typeface="Arial" panose="020B0604020202020204" pitchFamily="34" charset="0"/>
                        </a:rPr>
                        <a:t>Point cle</a:t>
                      </a:r>
                    </a:p>
                  </a:txBody>
                  <a:tcPr>
                    <a:solidFill>
                      <a:srgbClr val="2E2A26"/>
                    </a:solidFill>
                  </a:tcPr>
                </a:tc>
                <a:tc>
                  <a:txBody>
                    <a:bodyPr/>
                    <a:lstStyle/>
                    <a:p>
                      <a:r>
                        <a:rPr lang="fr-FR" sz="1100" b="1">
                          <a:solidFill>
                            <a:srgbClr val="FFFFFF"/>
                          </a:solidFill>
                          <a:latin typeface="Arial" panose="020B0604020202020204" pitchFamily="34" charset="0"/>
                        </a:rPr>
                        <a:t>Impact</a:t>
                      </a:r>
                    </a:p>
                  </a:txBody>
                  <a:tcPr>
                    <a:solidFill>
                      <a:srgbClr val="2E2A26"/>
                    </a:solidFill>
                  </a:tcPr>
                </a:tc>
                <a:tc>
                  <a:txBody>
                    <a:bodyPr/>
                    <a:lstStyle/>
                    <a:p>
                      <a:r>
                        <a:rPr lang="fr-FR" sz="1100" b="1">
                          <a:solidFill>
                            <a:srgbClr val="FFFFFF"/>
                          </a:solidFill>
                          <a:latin typeface="Arial" panose="020B0604020202020204" pitchFamily="34" charset="0"/>
                        </a:rPr>
                        <a:t>Priorite</a:t>
                      </a:r>
                    </a:p>
                  </a:txBody>
                  <a:tcPr>
                    <a:solidFill>
                      <a:srgbClr val="2E2A26"/>
                    </a:solidFill>
                  </a:tcPr>
                </a:tc>
                <a:extLst>
                  <a:ext uri="{0D108BD9-81ED-4DB2-BD59-A6C34878D82A}">
                    <a16:rowId xmlns:a16="http://schemas.microsoft.com/office/drawing/2014/main" val="1964357905"/>
                  </a:ext>
                </a:extLst>
              </a:tr>
              <a:tr h="762000">
                <a:tc>
                  <a:txBody>
                    <a:bodyPr/>
                    <a:lstStyle/>
                    <a:p>
                      <a:r>
                        <a:rPr lang="fr-FR" sz="1000" b="0">
                          <a:solidFill>
                            <a:srgbClr val="2E2A26"/>
                          </a:solidFill>
                          <a:latin typeface="Arial" panose="020B0604020202020204" pitchFamily="34" charset="0"/>
                        </a:rPr>
                        <a:t>APD-01</a:t>
                      </a:r>
                    </a:p>
                  </a:txBody>
                  <a:tcPr>
                    <a:solidFill>
                      <a:srgbClr val="FFFFFF"/>
                    </a:solidFill>
                  </a:tcPr>
                </a:tc>
                <a:tc>
                  <a:txBody>
                    <a:bodyPr/>
                    <a:lstStyle/>
                    <a:p>
                      <a:r>
                        <a:rPr lang="fr-FR" sz="1000" b="0">
                          <a:solidFill>
                            <a:srgbClr val="2E2A26"/>
                          </a:solidFill>
                          <a:latin typeface="Arial" panose="020B0604020202020204" pitchFamily="34" charset="0"/>
                        </a:rPr>
                        <a:t>Active Directory</a:t>
                      </a:r>
                    </a:p>
                  </a:txBody>
                  <a:tcPr>
                    <a:solidFill>
                      <a:srgbClr val="FFFFFF"/>
                    </a:solidFill>
                  </a:tcPr>
                </a:tc>
                <a:tc>
                  <a:txBody>
                    <a:bodyPr/>
                    <a:lstStyle/>
                    <a:p>
                      <a:r>
                        <a:rPr lang="fr-FR" sz="1000" b="0">
                          <a:solidFill>
                            <a:srgbClr val="2E2A26"/>
                          </a:solidFill>
                          <a:latin typeface="Arial" panose="020B0604020202020204" pitchFamily="34" charset="0"/>
                        </a:rPr>
                        <a:t>Comptes actifs après départ employés</a:t>
                      </a:r>
                    </a:p>
                  </a:txBody>
                  <a:tcPr>
                    <a:solidFill>
                      <a:srgbClr val="FFFFFF"/>
                    </a:solidFill>
                  </a:tcPr>
                </a:tc>
                <a:tc>
                  <a:txBody>
                    <a:bodyPr/>
                    <a:lstStyle/>
                    <a:p>
                      <a:r>
                        <a:rPr lang="fr-FR" sz="1000" b="0">
                          <a:solidFill>
                            <a:srgbClr val="2E2A26"/>
                          </a:solidFill>
                          <a:latin typeface="Arial" panose="020B0604020202020204" pitchFamily="34" charset="0"/>
                        </a:rPr>
                        <a:t>Accès non autorisé et risque de fuite de données</a:t>
                      </a:r>
                    </a:p>
                  </a:txBody>
                  <a:tcPr>
                    <a:solidFill>
                      <a:srgbClr val="FFFFFF"/>
                    </a:solidFill>
                  </a:tcPr>
                </a:tc>
                <a:tc>
                  <a:txBody>
                    <a:bodyPr/>
                    <a:lstStyle/>
                    <a:p>
                      <a:r>
                        <a:rPr lang="fr-FR" sz="1000" b="0">
                          <a:solidFill>
                            <a:srgbClr val="2E2A26"/>
                          </a:solidFill>
                          <a:latin typeface="Arial" panose="020B0604020202020204" pitchFamily="34" charset="0"/>
                        </a:rPr>
                        <a:t>Critique</a:t>
                      </a:r>
                    </a:p>
                  </a:txBody>
                  <a:tcPr>
                    <a:solidFill>
                      <a:srgbClr val="FFFFFF"/>
                    </a:solidFill>
                  </a:tcPr>
                </a:tc>
                <a:extLst>
                  <a:ext uri="{0D108BD9-81ED-4DB2-BD59-A6C34878D82A}">
                    <a16:rowId xmlns:a16="http://schemas.microsoft.com/office/drawing/2014/main" val="2454112733"/>
                  </a:ext>
                </a:extLst>
              </a:tr>
              <a:tr h="762000">
                <a:tc>
                  <a:txBody>
                    <a:bodyPr/>
                    <a:lstStyle/>
                    <a:p>
                      <a:r>
                        <a:rPr lang="fr-FR" sz="1000" b="0">
                          <a:solidFill>
                            <a:srgbClr val="2E2A26"/>
                          </a:solidFill>
                          <a:latin typeface="Arial" panose="020B0604020202020204" pitchFamily="34" charset="0"/>
                        </a:rPr>
                        <a:t>APD-02</a:t>
                      </a:r>
                    </a:p>
                  </a:txBody>
                  <a:tcPr>
                    <a:solidFill>
                      <a:srgbClr val="F3F0ED"/>
                    </a:solidFill>
                  </a:tcPr>
                </a:tc>
                <a:tc>
                  <a:txBody>
                    <a:bodyPr/>
                    <a:lstStyle/>
                    <a:p>
                      <a:r>
                        <a:rPr lang="fr-FR" sz="1000" b="0">
                          <a:solidFill>
                            <a:srgbClr val="2E2A26"/>
                          </a:solidFill>
                          <a:latin typeface="Arial" panose="020B0604020202020204" pitchFamily="34" charset="0"/>
                        </a:rPr>
                        <a:t>SAP</a:t>
                      </a:r>
                    </a:p>
                  </a:txBody>
                  <a:tcPr>
                    <a:solidFill>
                      <a:srgbClr val="F3F0ED"/>
                    </a:solidFill>
                  </a:tcPr>
                </a:tc>
                <a:tc>
                  <a:txBody>
                    <a:bodyPr/>
                    <a:lstStyle/>
                    <a:p>
                      <a:r>
                        <a:rPr lang="fr-FR" sz="1000" b="0">
                          <a:solidFill>
                            <a:srgbClr val="2E2A26"/>
                          </a:solidFill>
                          <a:latin typeface="Arial" panose="020B0604020202020204" pitchFamily="34" charset="0"/>
                        </a:rPr>
                        <a:t>Absence de validation des accès</a:t>
                      </a:r>
                    </a:p>
                  </a:txBody>
                  <a:tcPr>
                    <a:solidFill>
                      <a:srgbClr val="F3F0ED"/>
                    </a:solidFill>
                  </a:tcPr>
                </a:tc>
                <a:tc>
                  <a:txBody>
                    <a:bodyPr/>
                    <a:lstStyle/>
                    <a:p>
                      <a:r>
                        <a:rPr lang="fr-FR" sz="1000" b="0">
                          <a:solidFill>
                            <a:srgbClr val="2E2A26"/>
                          </a:solidFill>
                          <a:latin typeface="Arial" panose="020B0604020202020204" pitchFamily="34" charset="0"/>
                        </a:rPr>
                        <a:t>Risque de fraude ou erreur</a:t>
                      </a:r>
                    </a:p>
                  </a:txBody>
                  <a:tcPr>
                    <a:solidFill>
                      <a:srgbClr val="F3F0ED"/>
                    </a:solidFill>
                  </a:tcPr>
                </a:tc>
                <a:tc>
                  <a:txBody>
                    <a:bodyPr/>
                    <a:lstStyle/>
                    <a:p>
                      <a:r>
                        <a:rPr lang="fr-FR" sz="1000" b="0">
                          <a:solidFill>
                            <a:srgbClr val="2E2A26"/>
                          </a:solidFill>
                          <a:latin typeface="Arial" panose="020B0604020202020204" pitchFamily="34" charset="0"/>
                        </a:rPr>
                        <a:t>Critique</a:t>
                      </a:r>
                    </a:p>
                  </a:txBody>
                  <a:tcPr>
                    <a:solidFill>
                      <a:srgbClr val="F3F0ED"/>
                    </a:solidFill>
                  </a:tcPr>
                </a:tc>
                <a:extLst>
                  <a:ext uri="{0D108BD9-81ED-4DB2-BD59-A6C34878D82A}">
                    <a16:rowId xmlns:a16="http://schemas.microsoft.com/office/drawing/2014/main" val="1526785680"/>
                  </a:ext>
                </a:extLst>
              </a:tr>
              <a:tr h="762000">
                <a:tc>
                  <a:txBody>
                    <a:bodyPr/>
                    <a:lstStyle/>
                    <a:p>
                      <a:r>
                        <a:rPr lang="fr-FR" sz="1000" b="0">
                          <a:solidFill>
                            <a:srgbClr val="2E2A26"/>
                          </a:solidFill>
                          <a:latin typeface="Arial" panose="020B0604020202020204" pitchFamily="34" charset="0"/>
                        </a:rPr>
                        <a:t>CO-01</a:t>
                      </a:r>
                    </a:p>
                  </a:txBody>
                  <a:tcPr>
                    <a:solidFill>
                      <a:srgbClr val="FFFFFF"/>
                    </a:solidFill>
                  </a:tcPr>
                </a:tc>
                <a:tc>
                  <a:txBody>
                    <a:bodyPr/>
                    <a:lstStyle/>
                    <a:p>
                      <a:r>
                        <a:rPr lang="fr-FR" sz="1000" b="0">
                          <a:solidFill>
                            <a:srgbClr val="2E2A26"/>
                          </a:solidFill>
                          <a:latin typeface="Arial" panose="020B0604020202020204" pitchFamily="34" charset="0"/>
                        </a:rPr>
                        <a:t>Serveur Backup</a:t>
                      </a:r>
                    </a:p>
                  </a:txBody>
                  <a:tcPr>
                    <a:solidFill>
                      <a:srgbClr val="FFFFFF"/>
                    </a:solidFill>
                  </a:tcPr>
                </a:tc>
                <a:tc>
                  <a:txBody>
                    <a:bodyPr/>
                    <a:lstStyle/>
                    <a:p>
                      <a:r>
                        <a:rPr lang="fr-FR" sz="1000" b="0">
                          <a:solidFill>
                            <a:srgbClr val="2E2A26"/>
                          </a:solidFill>
                          <a:latin typeface="Arial" panose="020B0604020202020204" pitchFamily="34" charset="0"/>
                        </a:rPr>
                        <a:t>Absence de test de restauration</a:t>
                      </a:r>
                    </a:p>
                  </a:txBody>
                  <a:tcPr>
                    <a:solidFill>
                      <a:srgbClr val="FFFFFF"/>
                    </a:solidFill>
                  </a:tcPr>
                </a:tc>
                <a:tc>
                  <a:txBody>
                    <a:bodyPr/>
                    <a:lstStyle/>
                    <a:p>
                      <a:r>
                        <a:rPr lang="fr-FR" sz="1000" b="0">
                          <a:solidFill>
                            <a:srgbClr val="2E2A26"/>
                          </a:solidFill>
                          <a:latin typeface="Arial" panose="020B0604020202020204" pitchFamily="34" charset="0"/>
                        </a:rPr>
                        <a:t>Risque perte de données</a:t>
                      </a:r>
                    </a:p>
                  </a:txBody>
                  <a:tcPr>
                    <a:solidFill>
                      <a:srgbClr val="FFFFFF"/>
                    </a:solidFill>
                  </a:tcPr>
                </a:tc>
                <a:tc>
                  <a:txBody>
                    <a:bodyPr/>
                    <a:lstStyle/>
                    <a:p>
                      <a:r>
                        <a:rPr lang="fr-FR" sz="1000" b="0">
                          <a:solidFill>
                            <a:srgbClr val="2E2A26"/>
                          </a:solidFill>
                          <a:latin typeface="Arial" panose="020B0604020202020204" pitchFamily="34" charset="0"/>
                        </a:rPr>
                        <a:t>Elevee</a:t>
                      </a:r>
                    </a:p>
                  </a:txBody>
                  <a:tcPr>
                    <a:solidFill>
                      <a:srgbClr val="FFFFFF"/>
                    </a:solidFill>
                  </a:tcPr>
                </a:tc>
                <a:extLst>
                  <a:ext uri="{0D108BD9-81ED-4DB2-BD59-A6C34878D82A}">
                    <a16:rowId xmlns:a16="http://schemas.microsoft.com/office/drawing/2014/main" val="3913251425"/>
                  </a:ext>
                </a:extLst>
              </a:tr>
              <a:tr h="762000">
                <a:tc>
                  <a:txBody>
                    <a:bodyPr/>
                    <a:lstStyle/>
                    <a:p>
                      <a:r>
                        <a:rPr lang="fr-FR" sz="1000" b="0">
                          <a:solidFill>
                            <a:srgbClr val="2E2A26"/>
                          </a:solidFill>
                          <a:latin typeface="Arial" panose="020B0604020202020204" pitchFamily="34" charset="0"/>
                        </a:rPr>
                        <a:t>PC-01</a:t>
                      </a:r>
                    </a:p>
                  </a:txBody>
                  <a:tcPr>
                    <a:solidFill>
                      <a:srgbClr val="F3F0ED"/>
                    </a:solidFill>
                  </a:tcPr>
                </a:tc>
                <a:tc>
                  <a:txBody>
                    <a:bodyPr/>
                    <a:lstStyle/>
                    <a:p>
                      <a:r>
                        <a:rPr lang="fr-FR" sz="1000" b="0">
                          <a:solidFill>
                            <a:srgbClr val="2E2A26"/>
                          </a:solidFill>
                          <a:latin typeface="Arial" panose="020B0604020202020204" pitchFamily="34" charset="0"/>
                        </a:rPr>
                        <a:t>Oracle</a:t>
                      </a:r>
                    </a:p>
                  </a:txBody>
                  <a:tcPr>
                    <a:solidFill>
                      <a:srgbClr val="F3F0ED"/>
                    </a:solidFill>
                  </a:tcPr>
                </a:tc>
                <a:tc>
                  <a:txBody>
                    <a:bodyPr/>
                    <a:lstStyle/>
                    <a:p>
                      <a:r>
                        <a:rPr lang="fr-FR" sz="1000" b="0">
                          <a:solidFill>
                            <a:srgbClr val="2E2A26"/>
                          </a:solidFill>
                          <a:latin typeface="Arial" panose="020B0604020202020204" pitchFamily="34" charset="0"/>
                        </a:rPr>
                        <a:t>Changements non validés</a:t>
                      </a:r>
                    </a:p>
                  </a:txBody>
                  <a:tcPr>
                    <a:solidFill>
                      <a:srgbClr val="F3F0ED"/>
                    </a:solidFill>
                  </a:tcPr>
                </a:tc>
                <a:tc>
                  <a:txBody>
                    <a:bodyPr/>
                    <a:lstStyle/>
                    <a:p>
                      <a:r>
                        <a:rPr lang="fr-FR" sz="1000" b="0">
                          <a:solidFill>
                            <a:srgbClr val="2E2A26"/>
                          </a:solidFill>
                          <a:latin typeface="Arial" panose="020B0604020202020204" pitchFamily="34" charset="0"/>
                        </a:rPr>
                        <a:t>Instabilité système</a:t>
                      </a:r>
                    </a:p>
                  </a:txBody>
                  <a:tcPr>
                    <a:solidFill>
                      <a:srgbClr val="F3F0ED"/>
                    </a:solidFill>
                  </a:tcPr>
                </a:tc>
                <a:tc>
                  <a:txBody>
                    <a:bodyPr/>
                    <a:lstStyle/>
                    <a:p>
                      <a:r>
                        <a:rPr lang="fr-FR" sz="1000" b="0">
                          <a:solidFill>
                            <a:srgbClr val="2E2A26"/>
                          </a:solidFill>
                          <a:latin typeface="Arial" panose="020B0604020202020204" pitchFamily="34" charset="0"/>
                        </a:rPr>
                        <a:t>Elevee</a:t>
                      </a:r>
                    </a:p>
                  </a:txBody>
                  <a:tcPr>
                    <a:solidFill>
                      <a:srgbClr val="F3F0ED"/>
                    </a:solidFill>
                  </a:tcPr>
                </a:tc>
                <a:extLst>
                  <a:ext uri="{0D108BD9-81ED-4DB2-BD59-A6C34878D82A}">
                    <a16:rowId xmlns:a16="http://schemas.microsoft.com/office/drawing/2014/main" val="235123623"/>
                  </a:ext>
                </a:extLst>
              </a:tr>
            </a:tbl>
          </a:graphicData>
        </a:graphic>
      </p:graphicFrame>
    </p:spTree>
    <p:extLst>
      <p:ext uri="{BB962C8B-B14F-4D97-AF65-F5344CB8AC3E}">
        <p14:creationId xmlns:p14="http://schemas.microsoft.com/office/powerpoint/2010/main" val="1106030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19E7F0-1B05-17E4-3F5D-924351318463}"/>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A1FFC9A-A3B5-6307-3916-E651C6087BA4}"/>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6F5315C-F1A9-1507-6622-9B8318D8DB63}"/>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C4E971C-BF42-5A69-CCB9-EC428A0E43E9}"/>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120993D8-0AF3-DDF4-2AD2-6B47E1B106D4}"/>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APD-01 | Active Directory | Priorite Critique</a:t>
            </a:r>
          </a:p>
        </p:txBody>
      </p:sp>
      <p:sp>
        <p:nvSpPr>
          <p:cNvPr id="7" name="ZoneTexte 6">
            <a:extLst>
              <a:ext uri="{FF2B5EF4-FFF2-40B4-BE49-F238E27FC236}">
                <a16:creationId xmlns:a16="http://schemas.microsoft.com/office/drawing/2014/main" id="{DCEF244D-4E03-566A-FB52-7746BF3A3FFA}"/>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10</a:t>
            </a:r>
          </a:p>
        </p:txBody>
      </p:sp>
      <p:sp>
        <p:nvSpPr>
          <p:cNvPr id="8" name="ZoneTexte 7">
            <a:extLst>
              <a:ext uri="{FF2B5EF4-FFF2-40B4-BE49-F238E27FC236}">
                <a16:creationId xmlns:a16="http://schemas.microsoft.com/office/drawing/2014/main" id="{A2E3CBB1-B8DB-3160-828F-25E765E8828C}"/>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Comptes actifs après départ employés</a:t>
            </a:r>
          </a:p>
        </p:txBody>
      </p:sp>
      <p:sp>
        <p:nvSpPr>
          <p:cNvPr id="9" name="Rectangle 8">
            <a:extLst>
              <a:ext uri="{FF2B5EF4-FFF2-40B4-BE49-F238E27FC236}">
                <a16:creationId xmlns:a16="http://schemas.microsoft.com/office/drawing/2014/main" id="{03568A0C-195D-4F0F-1F6F-C9D6D5B9CF9C}"/>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DC378ED7-5E28-1623-CD44-930D39D8AAD8}"/>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5463A59F-9E91-2B18-2353-C710366CDD44}"/>
              </a:ext>
            </a:extLst>
          </p:cNvPr>
          <p:cNvSpPr txBox="1"/>
          <p:nvPr/>
        </p:nvSpPr>
        <p:spPr>
          <a:xfrm>
            <a:off x="609600" y="2260600"/>
            <a:ext cx="4876800" cy="1569660"/>
          </a:xfrm>
          <a:prstGeom prst="rect">
            <a:avLst/>
          </a:prstGeom>
          <a:noFill/>
        </p:spPr>
        <p:txBody>
          <a:bodyPr vert="horz" rtlCol="0">
            <a:spAutoFit/>
          </a:bodyPr>
          <a:lstStyle/>
          <a:p>
            <a:r>
              <a:rPr lang="fr-FR" sz="1200">
                <a:solidFill>
                  <a:srgbClr val="2E2A26"/>
                </a:solidFill>
                <a:latin typeface="Arial" panose="020B0604020202020204" pitchFamily="34" charset="0"/>
              </a:rPr>
              <a:t>• 5 comptes utilisateurs restent actifs après départ; 1 connexion post-départ détectée</a:t>
            </a:r>
          </a:p>
          <a:p>
            <a:r>
              <a:rPr lang="fr-FR" sz="1200">
                <a:solidFill>
                  <a:srgbClr val="2E2A26"/>
                </a:solidFill>
                <a:latin typeface="Arial" panose="020B0604020202020204" pitchFamily="34" charset="0"/>
              </a:rPr>
              <a:t>• Nous avons releve sur active directory le point suivant: 5 comptes utilisateurs restent actifs après départ; 1 connexion post-départ détectée. Cette situation traduit une faiblesse du controle APD-01 et expose l'organisation a accès non autorisé et risque de fuite de données. Au regard de son effet potentiel sur le dispositif de controle interne, la priorite retenue est critique.</a:t>
            </a:r>
          </a:p>
        </p:txBody>
      </p:sp>
      <p:sp>
        <p:nvSpPr>
          <p:cNvPr id="12" name="Rectangle 11">
            <a:extLst>
              <a:ext uri="{FF2B5EF4-FFF2-40B4-BE49-F238E27FC236}">
                <a16:creationId xmlns:a16="http://schemas.microsoft.com/office/drawing/2014/main" id="{F4248EB8-72D1-B31B-D1AA-E68C66450C32}"/>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F5978EE4-EA61-44D1-7231-2DE12DF1A652}"/>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71845274-11EF-1DBE-85DA-0AD0F08DB261}"/>
              </a:ext>
            </a:extLst>
          </p:cNvPr>
          <p:cNvSpPr txBox="1"/>
          <p:nvPr/>
        </p:nvSpPr>
        <p:spPr>
          <a:xfrm>
            <a:off x="6299200" y="22606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Les comptes utilisateurs doivent être désactivés immédiatement après le départ des employés</a:t>
            </a:r>
          </a:p>
          <a:p>
            <a:r>
              <a:rPr lang="fr-FR" sz="1200">
                <a:solidFill>
                  <a:srgbClr val="2E2A26"/>
                </a:solidFill>
                <a:latin typeface="Arial" panose="020B0604020202020204" pitchFamily="34" charset="0"/>
              </a:rPr>
              <a:t>• Categorie: Révocation des accès</a:t>
            </a:r>
          </a:p>
        </p:txBody>
      </p:sp>
      <p:sp>
        <p:nvSpPr>
          <p:cNvPr id="15" name="Rectangle 14">
            <a:extLst>
              <a:ext uri="{FF2B5EF4-FFF2-40B4-BE49-F238E27FC236}">
                <a16:creationId xmlns:a16="http://schemas.microsoft.com/office/drawing/2014/main" id="{9FF1B7A3-EB3D-7DBD-2403-3FAB81A3DEF9}"/>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48CE8272-7A3D-F55F-9D57-EAF9D4B6AC01}"/>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961B9504-5D3C-F8EF-4FBD-4C8726113359}"/>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Accès non autorisé et risque de fuite de données</a:t>
            </a:r>
          </a:p>
          <a:p>
            <a:r>
              <a:rPr lang="fr-FR" sz="1200">
                <a:solidFill>
                  <a:srgbClr val="2E2A26"/>
                </a:solidFill>
                <a:latin typeface="Arial" panose="020B0604020202020204" pitchFamily="34" charset="0"/>
              </a:rPr>
              <a:t>• Commentaire auditeur: Extraction AD du 15/01/2025</a:t>
            </a:r>
          </a:p>
        </p:txBody>
      </p:sp>
      <p:sp>
        <p:nvSpPr>
          <p:cNvPr id="18" name="Rectangle 17">
            <a:extLst>
              <a:ext uri="{FF2B5EF4-FFF2-40B4-BE49-F238E27FC236}">
                <a16:creationId xmlns:a16="http://schemas.microsoft.com/office/drawing/2014/main" id="{9667BAAD-9E86-10C7-976D-7618B3C8EA20}"/>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23EA07DD-A3C1-36FE-82B6-F09454F4EC76}"/>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D74F84A4-5344-A371-6472-B94A114FCF0C}"/>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Revue mensuelle existante mais non systématique</a:t>
            </a:r>
          </a:p>
          <a:p>
            <a:r>
              <a:rPr lang="fr-FR" sz="1200">
                <a:solidFill>
                  <a:srgbClr val="2E2A26"/>
                </a:solidFill>
                <a:latin typeface="Arial" panose="020B0604020202020204" pitchFamily="34" charset="0"/>
              </a:rPr>
              <a:t>• Mettre en place un rapprochement formel entre les departs RH et les comptes actifs, avec desactivation immediate et piste de revue.</a:t>
            </a:r>
          </a:p>
        </p:txBody>
      </p:sp>
      <p:sp>
        <p:nvSpPr>
          <p:cNvPr id="21" name="Rectangle 20">
            <a:extLst>
              <a:ext uri="{FF2B5EF4-FFF2-40B4-BE49-F238E27FC236}">
                <a16:creationId xmlns:a16="http://schemas.microsoft.com/office/drawing/2014/main" id="{24318353-BD83-8599-CC8C-8E8E13220889}"/>
              </a:ext>
            </a:extLst>
          </p:cNvPr>
          <p:cNvSpPr/>
          <p:nvPr/>
        </p:nvSpPr>
        <p:spPr>
          <a:xfrm>
            <a:off x="9271000" y="1295400"/>
            <a:ext cx="2082800" cy="3048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5F9995BA-AF34-4E5A-3F57-25D5564D5800}"/>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Critique</a:t>
            </a:r>
          </a:p>
        </p:txBody>
      </p:sp>
    </p:spTree>
    <p:extLst>
      <p:ext uri="{BB962C8B-B14F-4D97-AF65-F5344CB8AC3E}">
        <p14:creationId xmlns:p14="http://schemas.microsoft.com/office/powerpoint/2010/main" val="189572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1DF1CD-D997-95C1-03A8-EDB3CABD4E7F}"/>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A27E095-353F-7568-B09C-88469F2BA526}"/>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0A45030-19CD-8379-83BD-6D35090A3016}"/>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1521989-EAEA-DD34-2142-A607E9F00752}"/>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212BD9C1-E18A-4650-A2EE-450906D9821D}"/>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APD-02 | SAP | Priorite Critique</a:t>
            </a:r>
          </a:p>
        </p:txBody>
      </p:sp>
      <p:sp>
        <p:nvSpPr>
          <p:cNvPr id="7" name="ZoneTexte 6">
            <a:extLst>
              <a:ext uri="{FF2B5EF4-FFF2-40B4-BE49-F238E27FC236}">
                <a16:creationId xmlns:a16="http://schemas.microsoft.com/office/drawing/2014/main" id="{474D610C-4A0A-3921-EC1C-B40127508FF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11</a:t>
            </a:r>
          </a:p>
        </p:txBody>
      </p:sp>
      <p:sp>
        <p:nvSpPr>
          <p:cNvPr id="8" name="ZoneTexte 7">
            <a:extLst>
              <a:ext uri="{FF2B5EF4-FFF2-40B4-BE49-F238E27FC236}">
                <a16:creationId xmlns:a16="http://schemas.microsoft.com/office/drawing/2014/main" id="{42CE8C54-67EB-0BE7-8AD0-103CEE9CA1C8}"/>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Absence de validation des accès</a:t>
            </a:r>
          </a:p>
        </p:txBody>
      </p:sp>
      <p:sp>
        <p:nvSpPr>
          <p:cNvPr id="9" name="Rectangle 8">
            <a:extLst>
              <a:ext uri="{FF2B5EF4-FFF2-40B4-BE49-F238E27FC236}">
                <a16:creationId xmlns:a16="http://schemas.microsoft.com/office/drawing/2014/main" id="{71EA57C5-08D9-C4C6-926F-CD0E9DA458AD}"/>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100522A-C78B-E6B0-3B0F-45FDD6827B5D}"/>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B5603705-52F2-5E85-FEA9-55FA3942C026}"/>
              </a:ext>
            </a:extLst>
          </p:cNvPr>
          <p:cNvSpPr txBox="1"/>
          <p:nvPr/>
        </p:nvSpPr>
        <p:spPr>
          <a:xfrm>
            <a:off x="609600" y="2260600"/>
            <a:ext cx="4876800" cy="1200329"/>
          </a:xfrm>
          <a:prstGeom prst="rect">
            <a:avLst/>
          </a:prstGeom>
          <a:noFill/>
        </p:spPr>
        <p:txBody>
          <a:bodyPr vert="horz" rtlCol="0">
            <a:spAutoFit/>
          </a:bodyPr>
          <a:lstStyle/>
          <a:p>
            <a:r>
              <a:rPr lang="fr-FR" sz="1200">
                <a:solidFill>
                  <a:srgbClr val="2E2A26"/>
                </a:solidFill>
                <a:latin typeface="Arial" panose="020B0604020202020204" pitchFamily="34" charset="0"/>
              </a:rPr>
              <a:t>• 8 comptes créés sans validation</a:t>
            </a:r>
          </a:p>
          <a:p>
            <a:r>
              <a:rPr lang="fr-FR" sz="1200">
                <a:solidFill>
                  <a:srgbClr val="2E2A26"/>
                </a:solidFill>
                <a:latin typeface="Arial" panose="020B0604020202020204" pitchFamily="34" charset="0"/>
              </a:rPr>
              <a:t>• Nous avons releve sur sap le point suivant: 8 comptes créés sans validation. Cette situation traduit une faiblesse du controle APD-02 et expose l'organisation a risque de fraude ou erreur. Au regard de son effet potentiel sur le dispositif de controle interne, la priorite retenue est critique.</a:t>
            </a:r>
          </a:p>
        </p:txBody>
      </p:sp>
      <p:sp>
        <p:nvSpPr>
          <p:cNvPr id="12" name="Rectangle 11">
            <a:extLst>
              <a:ext uri="{FF2B5EF4-FFF2-40B4-BE49-F238E27FC236}">
                <a16:creationId xmlns:a16="http://schemas.microsoft.com/office/drawing/2014/main" id="{3CCB3BE9-5831-CA4E-168B-1E47905B3E6E}"/>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3F13ED36-940A-B8A6-0DC7-E0CEBE124DC7}"/>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504BC2F7-FE67-F4F8-4552-9B1E7E3FCBFD}"/>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Toute création d’accès doit être validée</a:t>
            </a:r>
          </a:p>
          <a:p>
            <a:r>
              <a:rPr lang="fr-FR" sz="1200">
                <a:solidFill>
                  <a:srgbClr val="2E2A26"/>
                </a:solidFill>
                <a:latin typeface="Arial" panose="020B0604020202020204" pitchFamily="34" charset="0"/>
              </a:rPr>
              <a:t>• Categorie: Création des accès</a:t>
            </a:r>
          </a:p>
        </p:txBody>
      </p:sp>
      <p:sp>
        <p:nvSpPr>
          <p:cNvPr id="15" name="Rectangle 14">
            <a:extLst>
              <a:ext uri="{FF2B5EF4-FFF2-40B4-BE49-F238E27FC236}">
                <a16:creationId xmlns:a16="http://schemas.microsoft.com/office/drawing/2014/main" id="{EBC0F6C5-0711-FB83-460D-D6B125FFE588}"/>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29494E9B-4795-4499-BD71-FC18D6EF8592}"/>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458D85AD-85BC-9683-19D9-8A222D2BDFAD}"/>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Risque de fraude ou erreur</a:t>
            </a:r>
          </a:p>
          <a:p>
            <a:r>
              <a:rPr lang="fr-FR" sz="1200">
                <a:solidFill>
                  <a:srgbClr val="2E2A26"/>
                </a:solidFill>
                <a:latin typeface="Arial" panose="020B0604020202020204" pitchFamily="34" charset="0"/>
              </a:rPr>
              <a:t>• Commentaire auditeur: Analyse SAP février 2025</a:t>
            </a:r>
          </a:p>
        </p:txBody>
      </p:sp>
      <p:sp>
        <p:nvSpPr>
          <p:cNvPr id="18" name="Rectangle 17">
            <a:extLst>
              <a:ext uri="{FF2B5EF4-FFF2-40B4-BE49-F238E27FC236}">
                <a16:creationId xmlns:a16="http://schemas.microsoft.com/office/drawing/2014/main" id="{7EA8E203-5FEE-73AE-E250-3BD5D3B726BD}"/>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DBF30F03-4C59-B673-980A-461C19DA58AB}"/>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D3FF4612-BDE3-D41A-3377-E9A88B50447A}"/>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Validation informelle par email</a:t>
            </a:r>
          </a:p>
          <a:p>
            <a:r>
              <a:rPr lang="fr-FR" sz="1200">
                <a:solidFill>
                  <a:srgbClr val="2E2A26"/>
                </a:solidFill>
                <a:latin typeface="Arial" panose="020B0604020202020204" pitchFamily="34" charset="0"/>
              </a:rPr>
              <a:t>• Exiger une validation hierarchique tracee avant toute creation d'acces et bloquer techniquement les demandes incompletes.</a:t>
            </a:r>
          </a:p>
        </p:txBody>
      </p:sp>
      <p:sp>
        <p:nvSpPr>
          <p:cNvPr id="21" name="Rectangle 20">
            <a:extLst>
              <a:ext uri="{FF2B5EF4-FFF2-40B4-BE49-F238E27FC236}">
                <a16:creationId xmlns:a16="http://schemas.microsoft.com/office/drawing/2014/main" id="{CAE958B5-2C8B-A07D-9D32-BA7AFE62D4CE}"/>
              </a:ext>
            </a:extLst>
          </p:cNvPr>
          <p:cNvSpPr/>
          <p:nvPr/>
        </p:nvSpPr>
        <p:spPr>
          <a:xfrm>
            <a:off x="9271000" y="1295400"/>
            <a:ext cx="2082800" cy="3048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62B0743E-46E1-EBEB-863D-4CCE15B1B9A7}"/>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Critique</a:t>
            </a:r>
          </a:p>
        </p:txBody>
      </p:sp>
    </p:spTree>
    <p:extLst>
      <p:ext uri="{BB962C8B-B14F-4D97-AF65-F5344CB8AC3E}">
        <p14:creationId xmlns:p14="http://schemas.microsoft.com/office/powerpoint/2010/main" val="2546674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7395B8-B818-FF3F-3B9C-56E6B25162BE}"/>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0D58A59-5F41-CBB1-8EE7-BDEA980F0BF6}"/>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FFDF8CF-77A8-2923-D30F-58E221FD5F1E}"/>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D5658F3-345B-87EF-DF36-099506C6A91E}"/>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C28A2F2A-13AF-AE92-339F-1488C3BFF443}"/>
              </a:ext>
            </a:extLst>
          </p:cNvPr>
          <p:cNvSpPr txBox="1"/>
          <p:nvPr/>
        </p:nvSpPr>
        <p:spPr>
          <a:xfrm>
            <a:off x="355600" y="889000"/>
            <a:ext cx="11176000" cy="261610"/>
          </a:xfrm>
          <a:prstGeom prst="rect">
            <a:avLst/>
          </a:prstGeom>
          <a:noFill/>
        </p:spPr>
        <p:txBody>
          <a:bodyPr vert="horz" rtlCol="0">
            <a:spAutoFit/>
          </a:bodyPr>
          <a:lstStyle/>
          <a:p>
            <a:r>
              <a:rPr lang="en-US" sz="1100">
                <a:solidFill>
                  <a:srgbClr val="7A726B"/>
                </a:solidFill>
                <a:latin typeface="Arial" panose="020B0604020202020204" pitchFamily="34" charset="0"/>
              </a:rPr>
              <a:t>CO-01 | Serveur Backup | Priorite Elevee</a:t>
            </a:r>
            <a:endParaRPr lang="fr-FR" sz="1100">
              <a:solidFill>
                <a:srgbClr val="7A726B"/>
              </a:solidFill>
              <a:latin typeface="Arial" panose="020B0604020202020204" pitchFamily="34" charset="0"/>
            </a:endParaRPr>
          </a:p>
        </p:txBody>
      </p:sp>
      <p:sp>
        <p:nvSpPr>
          <p:cNvPr id="7" name="ZoneTexte 6">
            <a:extLst>
              <a:ext uri="{FF2B5EF4-FFF2-40B4-BE49-F238E27FC236}">
                <a16:creationId xmlns:a16="http://schemas.microsoft.com/office/drawing/2014/main" id="{4309CAB1-1D1E-99F2-1AA1-EA72CBBAD0C0}"/>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12</a:t>
            </a:r>
          </a:p>
        </p:txBody>
      </p:sp>
      <p:sp>
        <p:nvSpPr>
          <p:cNvPr id="8" name="ZoneTexte 7">
            <a:extLst>
              <a:ext uri="{FF2B5EF4-FFF2-40B4-BE49-F238E27FC236}">
                <a16:creationId xmlns:a16="http://schemas.microsoft.com/office/drawing/2014/main" id="{B76D125D-6B0D-D859-9EBC-E10AFCDEEA66}"/>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Absence de test de restauration</a:t>
            </a:r>
          </a:p>
        </p:txBody>
      </p:sp>
      <p:sp>
        <p:nvSpPr>
          <p:cNvPr id="9" name="Rectangle 8">
            <a:extLst>
              <a:ext uri="{FF2B5EF4-FFF2-40B4-BE49-F238E27FC236}">
                <a16:creationId xmlns:a16="http://schemas.microsoft.com/office/drawing/2014/main" id="{969DCD96-AF9B-76C5-E135-DF7F71A07F23}"/>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68CF4B38-5AF0-F864-7B36-D4BFD29B7B2B}"/>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06DE4151-BF16-3919-E94F-C0377C022AEB}"/>
              </a:ext>
            </a:extLst>
          </p:cNvPr>
          <p:cNvSpPr txBox="1"/>
          <p:nvPr/>
        </p:nvSpPr>
        <p:spPr>
          <a:xfrm>
            <a:off x="609600" y="2260600"/>
            <a:ext cx="4876800" cy="1200329"/>
          </a:xfrm>
          <a:prstGeom prst="rect">
            <a:avLst/>
          </a:prstGeom>
          <a:noFill/>
        </p:spPr>
        <p:txBody>
          <a:bodyPr vert="horz" rtlCol="0">
            <a:spAutoFit/>
          </a:bodyPr>
          <a:lstStyle/>
          <a:p>
            <a:r>
              <a:rPr lang="fr-FR" sz="1200">
                <a:solidFill>
                  <a:srgbClr val="2E2A26"/>
                </a:solidFill>
                <a:latin typeface="Arial" panose="020B0604020202020204" pitchFamily="34" charset="0"/>
              </a:rPr>
              <a:t>• Aucun test sur 12 mois</a:t>
            </a:r>
          </a:p>
          <a:p>
            <a:r>
              <a:rPr lang="fr-FR" sz="1200">
                <a:solidFill>
                  <a:srgbClr val="2E2A26"/>
                </a:solidFill>
                <a:latin typeface="Arial" panose="020B0604020202020204" pitchFamily="34" charset="0"/>
              </a:rPr>
              <a:t>• Nous avons releve sur serveur backup le point suivant: Aucun test sur 12 mois. Cette situation traduit une faiblesse du controle CO-01 et expose l'organisation a risque perte de données. Au regard de son effet potentiel sur le dispositif de controle interne, la priorite retenue est elevee.</a:t>
            </a:r>
          </a:p>
        </p:txBody>
      </p:sp>
      <p:sp>
        <p:nvSpPr>
          <p:cNvPr id="12" name="Rectangle 11">
            <a:extLst>
              <a:ext uri="{FF2B5EF4-FFF2-40B4-BE49-F238E27FC236}">
                <a16:creationId xmlns:a16="http://schemas.microsoft.com/office/drawing/2014/main" id="{D5C2518A-FECF-E333-B183-153EF3B7E5D0}"/>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248A8F2B-62D5-E378-0B7C-4EFD13B9B764}"/>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A75688DB-67B0-BB6E-7D4B-961D14921420}"/>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Les sauvegardes doivent être testées</a:t>
            </a:r>
          </a:p>
          <a:p>
            <a:r>
              <a:rPr lang="fr-FR" sz="1200">
                <a:solidFill>
                  <a:srgbClr val="2E2A26"/>
                </a:solidFill>
                <a:latin typeface="Arial" panose="020B0604020202020204" pitchFamily="34" charset="0"/>
              </a:rPr>
              <a:t>• Categorie: Sauvegardes</a:t>
            </a:r>
          </a:p>
        </p:txBody>
      </p:sp>
      <p:sp>
        <p:nvSpPr>
          <p:cNvPr id="15" name="Rectangle 14">
            <a:extLst>
              <a:ext uri="{FF2B5EF4-FFF2-40B4-BE49-F238E27FC236}">
                <a16:creationId xmlns:a16="http://schemas.microsoft.com/office/drawing/2014/main" id="{D507678D-D374-3016-CBF7-EAB35018592B}"/>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5AD018E6-A2AA-699B-AB12-4F1A141C0EAE}"/>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4FEA99FB-EFE0-3189-BDD7-5B8F0BADD122}"/>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Risque perte de données</a:t>
            </a:r>
          </a:p>
          <a:p>
            <a:r>
              <a:rPr lang="fr-FR" sz="1200">
                <a:solidFill>
                  <a:srgbClr val="2E2A26"/>
                </a:solidFill>
                <a:latin typeface="Arial" panose="020B0604020202020204" pitchFamily="34" charset="0"/>
              </a:rPr>
              <a:t>• Commentaire auditeur: Logs backup mars 2025</a:t>
            </a:r>
          </a:p>
        </p:txBody>
      </p:sp>
      <p:sp>
        <p:nvSpPr>
          <p:cNvPr id="18" name="Rectangle 17">
            <a:extLst>
              <a:ext uri="{FF2B5EF4-FFF2-40B4-BE49-F238E27FC236}">
                <a16:creationId xmlns:a16="http://schemas.microsoft.com/office/drawing/2014/main" id="{2ED5E495-B5EC-FF69-E166-FA209061A754}"/>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B0F86083-C5B2-0AB4-D8BA-FEC887E95CF6}"/>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D996BFB9-7EF5-F1F4-9AFE-EA7CB385B275}"/>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Sauvegardes quotidiennes</a:t>
            </a:r>
          </a:p>
          <a:p>
            <a:r>
              <a:rPr lang="fr-FR" sz="1200">
                <a:solidFill>
                  <a:srgbClr val="2E2A26"/>
                </a:solidFill>
                <a:latin typeface="Arial" panose="020B0604020202020204" pitchFamily="34" charset="0"/>
              </a:rPr>
              <a:t>• Planifier et documenter des tests de restauration periodiques afin de confirmer la recuperabilite effective des sauvegardes.</a:t>
            </a:r>
          </a:p>
        </p:txBody>
      </p:sp>
      <p:sp>
        <p:nvSpPr>
          <p:cNvPr id="21" name="Rectangle 20">
            <a:extLst>
              <a:ext uri="{FF2B5EF4-FFF2-40B4-BE49-F238E27FC236}">
                <a16:creationId xmlns:a16="http://schemas.microsoft.com/office/drawing/2014/main" id="{4FE1EEAE-F768-063F-4BF3-BD2164B9FD13}"/>
              </a:ext>
            </a:extLst>
          </p:cNvPr>
          <p:cNvSpPr/>
          <p:nvPr/>
        </p:nvSpPr>
        <p:spPr>
          <a:xfrm>
            <a:off x="9271000" y="1295400"/>
            <a:ext cx="2082800" cy="3048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7CB02EDA-80B4-6848-68AA-DA6E1DBE9685}"/>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Elevee</a:t>
            </a:r>
          </a:p>
        </p:txBody>
      </p:sp>
    </p:spTree>
    <p:extLst>
      <p:ext uri="{BB962C8B-B14F-4D97-AF65-F5344CB8AC3E}">
        <p14:creationId xmlns:p14="http://schemas.microsoft.com/office/powerpoint/2010/main" val="1027895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CC89F2-D237-A699-6DD8-0AEC286515D6}"/>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C7A40107-68E8-BAA0-5F29-874EFA3CBB20}"/>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896EE67-5B0F-DEFE-961E-BB6CEDD3B237}"/>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8030E60-2BBB-1F3B-1271-7F8C7272CDD5}"/>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AE0C64A0-129C-7688-6930-4A2AF78FC80B}"/>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PC-01 | Oracle | Priorite Elevee</a:t>
            </a:r>
          </a:p>
        </p:txBody>
      </p:sp>
      <p:sp>
        <p:nvSpPr>
          <p:cNvPr id="7" name="ZoneTexte 6">
            <a:extLst>
              <a:ext uri="{FF2B5EF4-FFF2-40B4-BE49-F238E27FC236}">
                <a16:creationId xmlns:a16="http://schemas.microsoft.com/office/drawing/2014/main" id="{F4D1217E-40E4-BBAC-269C-C0505273D19A}"/>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13</a:t>
            </a:r>
          </a:p>
        </p:txBody>
      </p:sp>
      <p:sp>
        <p:nvSpPr>
          <p:cNvPr id="8" name="ZoneTexte 7">
            <a:extLst>
              <a:ext uri="{FF2B5EF4-FFF2-40B4-BE49-F238E27FC236}">
                <a16:creationId xmlns:a16="http://schemas.microsoft.com/office/drawing/2014/main" id="{D87C6A3A-9F47-EE0F-A3D9-D077659EE4CD}"/>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Changements non validés</a:t>
            </a:r>
          </a:p>
        </p:txBody>
      </p:sp>
      <p:sp>
        <p:nvSpPr>
          <p:cNvPr id="9" name="Rectangle 8">
            <a:extLst>
              <a:ext uri="{FF2B5EF4-FFF2-40B4-BE49-F238E27FC236}">
                <a16:creationId xmlns:a16="http://schemas.microsoft.com/office/drawing/2014/main" id="{5631355F-9C63-BAC2-2E48-A33F7C58C64F}"/>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6F75F545-122B-F045-2AB0-252FE42605AA}"/>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112FACF0-5BE2-0480-C448-A8B6C3BF965E}"/>
              </a:ext>
            </a:extLst>
          </p:cNvPr>
          <p:cNvSpPr txBox="1"/>
          <p:nvPr/>
        </p:nvSpPr>
        <p:spPr>
          <a:xfrm>
            <a:off x="609600" y="2260600"/>
            <a:ext cx="4876800" cy="1200329"/>
          </a:xfrm>
          <a:prstGeom prst="rect">
            <a:avLst/>
          </a:prstGeom>
          <a:noFill/>
        </p:spPr>
        <p:txBody>
          <a:bodyPr vert="horz" rtlCol="0">
            <a:spAutoFit/>
          </a:bodyPr>
          <a:lstStyle/>
          <a:p>
            <a:r>
              <a:rPr lang="fr-FR" sz="1200">
                <a:solidFill>
                  <a:srgbClr val="2E2A26"/>
                </a:solidFill>
                <a:latin typeface="Arial" panose="020B0604020202020204" pitchFamily="34" charset="0"/>
              </a:rPr>
              <a:t>• 3 changements déployés sans validation</a:t>
            </a:r>
          </a:p>
          <a:p>
            <a:r>
              <a:rPr lang="fr-FR" sz="1200">
                <a:solidFill>
                  <a:srgbClr val="2E2A26"/>
                </a:solidFill>
                <a:latin typeface="Arial" panose="020B0604020202020204" pitchFamily="34" charset="0"/>
              </a:rPr>
              <a:t>• Nous avons releve sur oracle le point suivant: 3 changements déployés sans validation. Cette situation traduit une faiblesse du controle PC-01 et expose l'organisation a instabilité système. Au regard de son effet potentiel sur le dispositif de controle interne, la priorite retenue est elevee.</a:t>
            </a:r>
          </a:p>
        </p:txBody>
      </p:sp>
      <p:sp>
        <p:nvSpPr>
          <p:cNvPr id="12" name="Rectangle 11">
            <a:extLst>
              <a:ext uri="{FF2B5EF4-FFF2-40B4-BE49-F238E27FC236}">
                <a16:creationId xmlns:a16="http://schemas.microsoft.com/office/drawing/2014/main" id="{56F6EEBC-E66D-AA83-3800-2ABB600A74EC}"/>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72F19DD6-B98A-DF93-2AB8-E2BC1DD3C673}"/>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DF403F1F-BD62-27CB-EA80-B623AD745FA8}"/>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Tout changement doit être testé et validé</a:t>
            </a:r>
          </a:p>
          <a:p>
            <a:r>
              <a:rPr lang="fr-FR" sz="1200">
                <a:solidFill>
                  <a:srgbClr val="2E2A26"/>
                </a:solidFill>
                <a:latin typeface="Arial" panose="020B0604020202020204" pitchFamily="34" charset="0"/>
              </a:rPr>
              <a:t>• Categorie: Validation des changements</a:t>
            </a:r>
          </a:p>
        </p:txBody>
      </p:sp>
      <p:sp>
        <p:nvSpPr>
          <p:cNvPr id="15" name="Rectangle 14">
            <a:extLst>
              <a:ext uri="{FF2B5EF4-FFF2-40B4-BE49-F238E27FC236}">
                <a16:creationId xmlns:a16="http://schemas.microsoft.com/office/drawing/2014/main" id="{79DAE9C9-3A46-97BE-F537-8E8D6F838E01}"/>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DDE4FC50-0A22-9331-A952-6B4A1B23718D}"/>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AFAB26A3-7777-5E5E-B11E-FE43CDA86499}"/>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Instabilité système</a:t>
            </a:r>
          </a:p>
          <a:p>
            <a:r>
              <a:rPr lang="fr-FR" sz="1200">
                <a:solidFill>
                  <a:srgbClr val="2E2A26"/>
                </a:solidFill>
                <a:latin typeface="Arial" panose="020B0604020202020204" pitchFamily="34" charset="0"/>
              </a:rPr>
              <a:t>• Commentaire auditeur: Logs Oracle mars 2025</a:t>
            </a:r>
          </a:p>
        </p:txBody>
      </p:sp>
      <p:sp>
        <p:nvSpPr>
          <p:cNvPr id="18" name="Rectangle 17">
            <a:extLst>
              <a:ext uri="{FF2B5EF4-FFF2-40B4-BE49-F238E27FC236}">
                <a16:creationId xmlns:a16="http://schemas.microsoft.com/office/drawing/2014/main" id="{632C4D1E-5A1B-E46E-307A-10F0257F24D9}"/>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3E57C777-A033-0E2E-BFC2-4DED6E4741FE}"/>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C985B7A6-6B0C-A4DD-6D17-2866EFD37C6D}"/>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Tests post-déploiement</a:t>
            </a:r>
          </a:p>
          <a:p>
            <a:r>
              <a:rPr lang="fr-FR" sz="1200">
                <a:solidFill>
                  <a:srgbClr val="2E2A26"/>
                </a:solidFill>
                <a:latin typeface="Arial" panose="020B0604020202020204" pitchFamily="34" charset="0"/>
              </a:rPr>
              <a:t>• Formaliser la validation prealable des changements et interdire toute mise en production sans evidence de test et d'approbation.</a:t>
            </a:r>
          </a:p>
        </p:txBody>
      </p:sp>
      <p:sp>
        <p:nvSpPr>
          <p:cNvPr id="21" name="Rectangle 20">
            <a:extLst>
              <a:ext uri="{FF2B5EF4-FFF2-40B4-BE49-F238E27FC236}">
                <a16:creationId xmlns:a16="http://schemas.microsoft.com/office/drawing/2014/main" id="{AD0731D5-78E8-6269-0CAD-59B5D53AD3D8}"/>
              </a:ext>
            </a:extLst>
          </p:cNvPr>
          <p:cNvSpPr/>
          <p:nvPr/>
        </p:nvSpPr>
        <p:spPr>
          <a:xfrm>
            <a:off x="9271000" y="1295400"/>
            <a:ext cx="2082800" cy="3048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9ECCB429-8F6A-8FBD-C5DC-3DC65923DF08}"/>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Elevee</a:t>
            </a:r>
          </a:p>
        </p:txBody>
      </p:sp>
    </p:spTree>
    <p:extLst>
      <p:ext uri="{BB962C8B-B14F-4D97-AF65-F5344CB8AC3E}">
        <p14:creationId xmlns:p14="http://schemas.microsoft.com/office/powerpoint/2010/main" val="3498821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EE312-E24D-7ABA-320B-78D7105E6069}"/>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437665F-AAD2-48B9-9AF3-1F229693800D}"/>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27A0D2A1-8AC4-F260-8D3C-C8CED395E889}"/>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A47E5194-1506-02FD-90C4-D1097E21FAEE}"/>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Recommandations detaillees</a:t>
            </a:r>
          </a:p>
        </p:txBody>
      </p:sp>
      <p:sp>
        <p:nvSpPr>
          <p:cNvPr id="6" name="ZoneTexte 5">
            <a:extLst>
              <a:ext uri="{FF2B5EF4-FFF2-40B4-BE49-F238E27FC236}">
                <a16:creationId xmlns:a16="http://schemas.microsoft.com/office/drawing/2014/main" id="{8A59649D-AB71-1F51-684C-7A0DCB5A89C8}"/>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Actions prioritaires proposees</a:t>
            </a:r>
          </a:p>
        </p:txBody>
      </p:sp>
      <p:sp>
        <p:nvSpPr>
          <p:cNvPr id="7" name="ZoneTexte 6">
            <a:extLst>
              <a:ext uri="{FF2B5EF4-FFF2-40B4-BE49-F238E27FC236}">
                <a16:creationId xmlns:a16="http://schemas.microsoft.com/office/drawing/2014/main" id="{CC2520A2-8CC0-2063-3C1A-E2BF94523CF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14</a:t>
            </a:r>
          </a:p>
        </p:txBody>
      </p:sp>
      <p:sp>
        <p:nvSpPr>
          <p:cNvPr id="8" name="Rectangle 7">
            <a:extLst>
              <a:ext uri="{FF2B5EF4-FFF2-40B4-BE49-F238E27FC236}">
                <a16:creationId xmlns:a16="http://schemas.microsoft.com/office/drawing/2014/main" id="{F73FF078-C59A-2A25-D41C-17FB68503AA5}"/>
              </a:ext>
            </a:extLst>
          </p:cNvPr>
          <p:cNvSpPr/>
          <p:nvPr/>
        </p:nvSpPr>
        <p:spPr>
          <a:xfrm>
            <a:off x="431800" y="1524000"/>
            <a:ext cx="10922000" cy="3810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0E82992-8E6D-A170-9CD8-139E44490076}"/>
              </a:ext>
            </a:extLst>
          </p:cNvPr>
          <p:cNvSpPr txBox="1"/>
          <p:nvPr/>
        </p:nvSpPr>
        <p:spPr>
          <a:xfrm>
            <a:off x="609600" y="16510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Plan d'action recommande</a:t>
            </a:r>
          </a:p>
        </p:txBody>
      </p:sp>
      <p:sp>
        <p:nvSpPr>
          <p:cNvPr id="10" name="ZoneTexte 9">
            <a:extLst>
              <a:ext uri="{FF2B5EF4-FFF2-40B4-BE49-F238E27FC236}">
                <a16:creationId xmlns:a16="http://schemas.microsoft.com/office/drawing/2014/main" id="{D0B7AA5E-E221-33B1-5DCA-AD5F79F5BB5C}"/>
              </a:ext>
            </a:extLst>
          </p:cNvPr>
          <p:cNvSpPr txBox="1"/>
          <p:nvPr/>
        </p:nvSpPr>
        <p:spPr>
          <a:xfrm>
            <a:off x="609600" y="2006600"/>
            <a:ext cx="10566400" cy="1384995"/>
          </a:xfrm>
          <a:prstGeom prst="rect">
            <a:avLst/>
          </a:prstGeom>
          <a:noFill/>
        </p:spPr>
        <p:txBody>
          <a:bodyPr vert="horz" rtlCol="0">
            <a:spAutoFit/>
          </a:bodyPr>
          <a:lstStyle/>
          <a:p>
            <a:r>
              <a:rPr lang="fr-FR" sz="1200">
                <a:solidFill>
                  <a:srgbClr val="2E2A26"/>
                </a:solidFill>
                <a:latin typeface="Arial" panose="020B0604020202020204" pitchFamily="34" charset="0"/>
              </a:rPr>
              <a:t>• APD-01 | Active Directory | Critique | Mettre en place un rapprochement formel entre les departs RH et les comptes actifs, avec desactivation immediate et piste de revue.</a:t>
            </a:r>
          </a:p>
          <a:p>
            <a:r>
              <a:rPr lang="fr-FR" sz="1200">
                <a:solidFill>
                  <a:srgbClr val="2E2A26"/>
                </a:solidFill>
                <a:latin typeface="Arial" panose="020B0604020202020204" pitchFamily="34" charset="0"/>
              </a:rPr>
              <a:t>• APD-02 | SAP | Critique | Exiger une validation hierarchique tracee avant toute creation d'acces et bloquer techniquement les demandes incompletes.</a:t>
            </a:r>
          </a:p>
          <a:p>
            <a:r>
              <a:rPr lang="fr-FR" sz="1200">
                <a:solidFill>
                  <a:srgbClr val="2E2A26"/>
                </a:solidFill>
                <a:latin typeface="Arial" panose="020B0604020202020204" pitchFamily="34" charset="0"/>
              </a:rPr>
              <a:t>• CO-01 | Serveur Backup | Elevee | Planifier et documenter des tests de restauration periodiques afin de confirmer la recuperabilite effective des sauvegardes.</a:t>
            </a:r>
          </a:p>
          <a:p>
            <a:r>
              <a:rPr lang="fr-FR" sz="1200">
                <a:solidFill>
                  <a:srgbClr val="2E2A26"/>
                </a:solidFill>
                <a:latin typeface="Arial" panose="020B0604020202020204" pitchFamily="34" charset="0"/>
              </a:rPr>
              <a:t>• PC-01 | Oracle | Elevee | Formaliser la validation prealable des changements et interdire toute mise en production sans evidence de test et d'approbation.</a:t>
            </a:r>
          </a:p>
        </p:txBody>
      </p:sp>
    </p:spTree>
    <p:extLst>
      <p:ext uri="{BB962C8B-B14F-4D97-AF65-F5344CB8AC3E}">
        <p14:creationId xmlns:p14="http://schemas.microsoft.com/office/powerpoint/2010/main" val="379972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2A9362-6EF9-41D8-0992-373CD26119EF}"/>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4F05085-729A-D960-BC42-BC32A0D07850}"/>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23DA9D0-0FD3-3777-037C-097B02A31FA0}"/>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D91DC4E-9D5E-5C7E-16D0-FA9F51DF59B4}"/>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Conclusion</a:t>
            </a:r>
          </a:p>
        </p:txBody>
      </p:sp>
      <p:sp>
        <p:nvSpPr>
          <p:cNvPr id="6" name="ZoneTexte 5">
            <a:extLst>
              <a:ext uri="{FF2B5EF4-FFF2-40B4-BE49-F238E27FC236}">
                <a16:creationId xmlns:a16="http://schemas.microsoft.com/office/drawing/2014/main" id="{E610CEDB-3EE1-DE7D-BB49-65C4146F55A7}"/>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Messages de cloture</a:t>
            </a:r>
          </a:p>
        </p:txBody>
      </p:sp>
      <p:sp>
        <p:nvSpPr>
          <p:cNvPr id="7" name="ZoneTexte 6">
            <a:extLst>
              <a:ext uri="{FF2B5EF4-FFF2-40B4-BE49-F238E27FC236}">
                <a16:creationId xmlns:a16="http://schemas.microsoft.com/office/drawing/2014/main" id="{62B49F25-2E57-0BB2-6BCE-5AF2549A856C}"/>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15</a:t>
            </a:r>
          </a:p>
        </p:txBody>
      </p:sp>
      <p:sp>
        <p:nvSpPr>
          <p:cNvPr id="8" name="Rectangle 7">
            <a:extLst>
              <a:ext uri="{FF2B5EF4-FFF2-40B4-BE49-F238E27FC236}">
                <a16:creationId xmlns:a16="http://schemas.microsoft.com/office/drawing/2014/main" id="{8B1CF403-02BE-C25E-A304-79EDB4BD066F}"/>
              </a:ext>
            </a:extLst>
          </p:cNvPr>
          <p:cNvSpPr/>
          <p:nvPr/>
        </p:nvSpPr>
        <p:spPr>
          <a:xfrm>
            <a:off x="431800" y="1524000"/>
            <a:ext cx="10922000" cy="152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C0B019C8-4737-21FB-5344-98C42D73FADD}"/>
              </a:ext>
            </a:extLst>
          </p:cNvPr>
          <p:cNvSpPr txBox="1"/>
          <p:nvPr/>
        </p:nvSpPr>
        <p:spPr>
          <a:xfrm>
            <a:off x="609600" y="1701800"/>
            <a:ext cx="10566400" cy="461665"/>
          </a:xfrm>
          <a:prstGeom prst="rect">
            <a:avLst/>
          </a:prstGeom>
          <a:noFill/>
        </p:spPr>
        <p:txBody>
          <a:bodyPr vert="horz" rtlCol="0">
            <a:spAutoFit/>
          </a:bodyPr>
          <a:lstStyle/>
          <a:p>
            <a:r>
              <a:rPr lang="fr-FR" sz="1200">
                <a:solidFill>
                  <a:srgbClr val="2E2A26"/>
                </a:solidFill>
                <a:latin typeface="Arial" panose="020B0604020202020204" pitchFamily="34" charset="0"/>
              </a:rPr>
              <a:t>Au regard des constats releves, nous recommandons la mise en oeuvre prioritaire d'un plan d'action cible sur les controles de gestion des acces, la validation des changements et les tests de restauration, ainsi qu'un suivi formel des actions correctrices par le management.</a:t>
            </a:r>
          </a:p>
        </p:txBody>
      </p:sp>
      <p:sp>
        <p:nvSpPr>
          <p:cNvPr id="10" name="Rectangle 9">
            <a:extLst>
              <a:ext uri="{FF2B5EF4-FFF2-40B4-BE49-F238E27FC236}">
                <a16:creationId xmlns:a16="http://schemas.microsoft.com/office/drawing/2014/main" id="{5CFC3F0D-9BCD-B07F-8797-C767D8D8EB0B}"/>
              </a:ext>
            </a:extLst>
          </p:cNvPr>
          <p:cNvSpPr/>
          <p:nvPr/>
        </p:nvSpPr>
        <p:spPr>
          <a:xfrm>
            <a:off x="431800" y="3302000"/>
            <a:ext cx="10922000" cy="2286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03BBCF6B-CCB2-1017-3D5C-165A7A26F7EF}"/>
              </a:ext>
            </a:extLst>
          </p:cNvPr>
          <p:cNvSpPr txBox="1"/>
          <p:nvPr/>
        </p:nvSpPr>
        <p:spPr>
          <a:xfrm>
            <a:off x="609600" y="34290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Axes de suivi recommandes</a:t>
            </a:r>
          </a:p>
        </p:txBody>
      </p:sp>
      <p:sp>
        <p:nvSpPr>
          <p:cNvPr id="12" name="ZoneTexte 11">
            <a:extLst>
              <a:ext uri="{FF2B5EF4-FFF2-40B4-BE49-F238E27FC236}">
                <a16:creationId xmlns:a16="http://schemas.microsoft.com/office/drawing/2014/main" id="{CC9CE522-B222-E371-1C3E-6F4C01B99C00}"/>
              </a:ext>
            </a:extLst>
          </p:cNvPr>
          <p:cNvSpPr txBox="1"/>
          <p:nvPr/>
        </p:nvSpPr>
        <p:spPr>
          <a:xfrm>
            <a:off x="609600" y="3784600"/>
            <a:ext cx="10566400" cy="1015663"/>
          </a:xfrm>
          <a:prstGeom prst="rect">
            <a:avLst/>
          </a:prstGeom>
          <a:noFill/>
        </p:spPr>
        <p:txBody>
          <a:bodyPr vert="horz" rtlCol="0">
            <a:spAutoFit/>
          </a:bodyPr>
          <a:lstStyle/>
          <a:p>
            <a:r>
              <a:rPr lang="fr-FR" sz="1200">
                <a:solidFill>
                  <a:srgbClr val="2E2A26"/>
                </a:solidFill>
                <a:latin typeface="Arial" panose="020B0604020202020204" pitchFamily="34" charset="0"/>
              </a:rPr>
              <a:t>• APD-01 - Comptes actifs après départ employés: 5 comptes utilisateurs restent actifs après départ; 1 connexion post-départ détectée. Impact potentiel: Accès non autorisé et risque de fuite de données.</a:t>
            </a:r>
          </a:p>
          <a:p>
            <a:r>
              <a:rPr lang="fr-FR" sz="1200">
                <a:solidFill>
                  <a:srgbClr val="2E2A26"/>
                </a:solidFill>
                <a:latin typeface="Arial" panose="020B0604020202020204" pitchFamily="34" charset="0"/>
              </a:rPr>
              <a:t>• APD-02 - Absence de validation des accès: 8 comptes créés sans validation. Impact potentiel: Risque de fraude ou erreur.</a:t>
            </a:r>
          </a:p>
          <a:p>
            <a:r>
              <a:rPr lang="fr-FR" sz="1200">
                <a:solidFill>
                  <a:srgbClr val="2E2A26"/>
                </a:solidFill>
                <a:latin typeface="Arial" panose="020B0604020202020204" pitchFamily="34" charset="0"/>
              </a:rPr>
              <a:t>• CO-01 - Absence de test de restauration: Aucun test sur 12 mois. Impact potentiel: Risque perte de données.</a:t>
            </a:r>
          </a:p>
          <a:p>
            <a:r>
              <a:rPr lang="fr-FR" sz="1200">
                <a:solidFill>
                  <a:srgbClr val="2E2A26"/>
                </a:solidFill>
                <a:latin typeface="Arial" panose="020B0604020202020204" pitchFamily="34" charset="0"/>
              </a:rPr>
              <a:t>• PC-01 - Changements non validés: 3 changements déployés sans validation. Impact potentiel: Instabilité système.</a:t>
            </a:r>
          </a:p>
        </p:txBody>
      </p:sp>
    </p:spTree>
    <p:extLst>
      <p:ext uri="{BB962C8B-B14F-4D97-AF65-F5344CB8AC3E}">
        <p14:creationId xmlns:p14="http://schemas.microsoft.com/office/powerpoint/2010/main" val="34144851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2353</Words>
  <Application>Microsoft Office PowerPoint</Application>
  <PresentationFormat>Grand écran</PresentationFormat>
  <Paragraphs>238</Paragraphs>
  <Slides>16</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Ahlem BOUCHAHOUA</dc:creator>
  <cp:lastModifiedBy>Ahlem BOUCHAHOUA</cp:lastModifiedBy>
  <cp:revision>1</cp:revision>
  <dcterms:created xsi:type="dcterms:W3CDTF">2026-04-06T14:04:42Z</dcterms:created>
  <dcterms:modified xsi:type="dcterms:W3CDTF">2026-04-06T14:04:42Z</dcterms:modified>
</cp:coreProperties>
</file>