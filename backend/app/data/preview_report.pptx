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36" d="100"/>
          <a:sy n="36" d="100"/>
        </p:scale>
        <p:origin x="1128"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B4AEBA-3F14-2505-D497-2634FD93FA4A}"/>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p>
        </p:txBody>
      </p:sp>
      <p:sp>
        <p:nvSpPr>
          <p:cNvPr id="3" name="Sous-titre 2">
            <a:extLst>
              <a:ext uri="{FF2B5EF4-FFF2-40B4-BE49-F238E27FC236}">
                <a16:creationId xmlns:a16="http://schemas.microsoft.com/office/drawing/2014/main" id="{BD30EA38-DA92-327E-58C1-D4AF068232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p>
        </p:txBody>
      </p:sp>
      <p:sp>
        <p:nvSpPr>
          <p:cNvPr id="4" name="Espace réservé de la date 3">
            <a:extLst>
              <a:ext uri="{FF2B5EF4-FFF2-40B4-BE49-F238E27FC236}">
                <a16:creationId xmlns:a16="http://schemas.microsoft.com/office/drawing/2014/main" id="{D1FABF4E-0792-9152-B346-6CCB0E62E411}"/>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7DA6E10F-F860-488F-CB00-8B20334EF9B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529F2939-B7FF-6688-0975-EEA64B6934EF}"/>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110435861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7549283-FEDB-42ED-A4C2-717CF8180A7B}"/>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881E90F0-7E84-5C69-3C31-4B2D0B56E188}"/>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30663BDA-0213-CC74-7187-14870D7325D7}"/>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023B12C0-072A-1687-4906-2A737B5ACE0C}"/>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D34E5CC0-3A09-505E-5ED0-BF27BB013A28}"/>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16102071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76EF6CB-1A0F-4E86-F23B-C6AC9921F0B3}"/>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p>
        </p:txBody>
      </p:sp>
      <p:sp>
        <p:nvSpPr>
          <p:cNvPr id="3" name="Espace réservé du texte 2">
            <a:extLst>
              <a:ext uri="{FF2B5EF4-FFF2-40B4-BE49-F238E27FC236}">
                <a16:creationId xmlns:a16="http://schemas.microsoft.com/office/drawing/2014/main" id="{C79000C7-B573-86BF-4602-12035FA1601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00698147-BDF6-2CC2-6515-9B0284F17E93}"/>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C75C35CB-B8F6-B1CE-05C8-6434C2213B54}"/>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06329236-DDBE-1D6E-8B6D-B0483094B417}"/>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34858185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CC7448-B468-A516-77E5-B4106418F821}"/>
              </a:ext>
            </a:extLst>
          </p:cNvPr>
          <p:cNvSpPr>
            <a:spLocks noGrp="1"/>
          </p:cNvSpPr>
          <p:nvPr>
            <p:ph type="title"/>
          </p:nvPr>
        </p:nvSpPr>
        <p:spPr/>
        <p:txBody>
          <a:bodyPr/>
          <a:lstStyle/>
          <a:p>
            <a:r>
              <a:rPr lang="fr-FR"/>
              <a:t>Modifiez le style du titre</a:t>
            </a:r>
          </a:p>
        </p:txBody>
      </p:sp>
      <p:sp>
        <p:nvSpPr>
          <p:cNvPr id="3" name="Espace réservé du contenu 2">
            <a:extLst>
              <a:ext uri="{FF2B5EF4-FFF2-40B4-BE49-F238E27FC236}">
                <a16:creationId xmlns:a16="http://schemas.microsoft.com/office/drawing/2014/main" id="{0F6417E5-95F6-3890-69EF-1E8C08CC1A33}"/>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contenu 3">
            <a:extLst>
              <a:ext uri="{FF2B5EF4-FFF2-40B4-BE49-F238E27FC236}">
                <a16:creationId xmlns:a16="http://schemas.microsoft.com/office/drawing/2014/main" id="{3202E4F9-7A9A-89F4-6F14-4E3C9BDF16BF}"/>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e la date 4">
            <a:extLst>
              <a:ext uri="{FF2B5EF4-FFF2-40B4-BE49-F238E27FC236}">
                <a16:creationId xmlns:a16="http://schemas.microsoft.com/office/drawing/2014/main" id="{5E28EB25-FDB0-C547-DFA3-9F431E29250C}"/>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71371360-4439-F81F-9F6A-B1B07418ACAD}"/>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B7707AFF-DACB-68C0-2295-E4ED8645ECAB}"/>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358016540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16274A1-4CCF-24DC-25E1-D277B880DE88}"/>
              </a:ext>
            </a:extLst>
          </p:cNvPr>
          <p:cNvSpPr>
            <a:spLocks noGrp="1"/>
          </p:cNvSpPr>
          <p:nvPr>
            <p:ph type="title"/>
          </p:nvPr>
        </p:nvSpPr>
        <p:spPr>
          <a:xfrm>
            <a:off x="839788" y="365125"/>
            <a:ext cx="10515600" cy="1325563"/>
          </a:xfrm>
        </p:spPr>
        <p:txBody>
          <a:bodyPr/>
          <a:lstStyle/>
          <a:p>
            <a:r>
              <a:rPr lang="fr-FR"/>
              <a:t>Modifiez le style du titre</a:t>
            </a:r>
          </a:p>
        </p:txBody>
      </p:sp>
      <p:sp>
        <p:nvSpPr>
          <p:cNvPr id="3" name="Espace réservé du texte 2">
            <a:extLst>
              <a:ext uri="{FF2B5EF4-FFF2-40B4-BE49-F238E27FC236}">
                <a16:creationId xmlns:a16="http://schemas.microsoft.com/office/drawing/2014/main" id="{4A3B3910-4136-B566-0332-4C284EBE2D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3DA3D9C3-D906-CC75-49E3-C6527C9DE19B}"/>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5" name="Espace réservé du texte 4">
            <a:extLst>
              <a:ext uri="{FF2B5EF4-FFF2-40B4-BE49-F238E27FC236}">
                <a16:creationId xmlns:a16="http://schemas.microsoft.com/office/drawing/2014/main" id="{8B0EE3DC-4C1F-B750-EC81-CB294FA746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2E90313C-ED4D-E62C-A469-08DEBA80926C}"/>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7" name="Espace réservé de la date 6">
            <a:extLst>
              <a:ext uri="{FF2B5EF4-FFF2-40B4-BE49-F238E27FC236}">
                <a16:creationId xmlns:a16="http://schemas.microsoft.com/office/drawing/2014/main" id="{0B20AC45-4266-DF82-7714-D72EEEBC0FEF}"/>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8" name="Espace réservé du pied de page 7">
            <a:extLst>
              <a:ext uri="{FF2B5EF4-FFF2-40B4-BE49-F238E27FC236}">
                <a16:creationId xmlns:a16="http://schemas.microsoft.com/office/drawing/2014/main" id="{C3F040CD-66F8-80AA-1AFE-7337892BDF31}"/>
              </a:ext>
            </a:extLst>
          </p:cNvPr>
          <p:cNvSpPr>
            <a:spLocks noGrp="1"/>
          </p:cNvSpPr>
          <p:nvPr>
            <p:ph type="ftr" sz="quarter" idx="11"/>
          </p:nvPr>
        </p:nvSpPr>
        <p:spPr/>
        <p:txBody>
          <a:bodyPr/>
          <a:lstStyle/>
          <a:p>
            <a:endParaRPr lang="fr-FR"/>
          </a:p>
        </p:txBody>
      </p:sp>
      <p:sp>
        <p:nvSpPr>
          <p:cNvPr id="9" name="Espace réservé du numéro de diapositive 8">
            <a:extLst>
              <a:ext uri="{FF2B5EF4-FFF2-40B4-BE49-F238E27FC236}">
                <a16:creationId xmlns:a16="http://schemas.microsoft.com/office/drawing/2014/main" id="{AFCB24F8-292D-9E78-C67C-DBBEA3E9E20E}"/>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230193156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A0D391E-C8A0-9968-98B7-067274E005AE}"/>
              </a:ext>
            </a:extLst>
          </p:cNvPr>
          <p:cNvSpPr>
            <a:spLocks noGrp="1"/>
          </p:cNvSpPr>
          <p:nvPr>
            <p:ph type="title"/>
          </p:nvPr>
        </p:nvSpPr>
        <p:spPr/>
        <p:txBody>
          <a:bodyPr/>
          <a:lstStyle/>
          <a:p>
            <a:r>
              <a:rPr lang="fr-FR"/>
              <a:t>Modifiez le style du titre</a:t>
            </a:r>
          </a:p>
        </p:txBody>
      </p:sp>
      <p:sp>
        <p:nvSpPr>
          <p:cNvPr id="3" name="Espace réservé de la date 2">
            <a:extLst>
              <a:ext uri="{FF2B5EF4-FFF2-40B4-BE49-F238E27FC236}">
                <a16:creationId xmlns:a16="http://schemas.microsoft.com/office/drawing/2014/main" id="{E7812EB8-FEAB-B7BE-3D71-04A049DD7258}"/>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4" name="Espace réservé du pied de page 3">
            <a:extLst>
              <a:ext uri="{FF2B5EF4-FFF2-40B4-BE49-F238E27FC236}">
                <a16:creationId xmlns:a16="http://schemas.microsoft.com/office/drawing/2014/main" id="{06DF714E-1232-581C-53E8-8D772BD8A71B}"/>
              </a:ext>
            </a:extLst>
          </p:cNvPr>
          <p:cNvSpPr>
            <a:spLocks noGrp="1"/>
          </p:cNvSpPr>
          <p:nvPr>
            <p:ph type="ftr" sz="quarter" idx="11"/>
          </p:nvPr>
        </p:nvSpPr>
        <p:spPr/>
        <p:txBody>
          <a:bodyPr/>
          <a:lstStyle/>
          <a:p>
            <a:endParaRPr lang="fr-FR"/>
          </a:p>
        </p:txBody>
      </p:sp>
      <p:sp>
        <p:nvSpPr>
          <p:cNvPr id="5" name="Espace réservé du numéro de diapositive 4">
            <a:extLst>
              <a:ext uri="{FF2B5EF4-FFF2-40B4-BE49-F238E27FC236}">
                <a16:creationId xmlns:a16="http://schemas.microsoft.com/office/drawing/2014/main" id="{CD2E305D-A3C2-26D0-D38E-EA6022E87932}"/>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20202404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5CFAFCF-62EA-8946-8C34-1342E08E9D1B}"/>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3" name="Espace réservé du pied de page 2">
            <a:extLst>
              <a:ext uri="{FF2B5EF4-FFF2-40B4-BE49-F238E27FC236}">
                <a16:creationId xmlns:a16="http://schemas.microsoft.com/office/drawing/2014/main" id="{5560A1C5-AE92-77AA-571F-8BE63F3E67DF}"/>
              </a:ext>
            </a:extLst>
          </p:cNvPr>
          <p:cNvSpPr>
            <a:spLocks noGrp="1"/>
          </p:cNvSpPr>
          <p:nvPr>
            <p:ph type="ftr" sz="quarter" idx="11"/>
          </p:nvPr>
        </p:nvSpPr>
        <p:spPr/>
        <p:txBody>
          <a:bodyPr/>
          <a:lstStyle/>
          <a:p>
            <a:endParaRPr lang="fr-FR"/>
          </a:p>
        </p:txBody>
      </p:sp>
      <p:sp>
        <p:nvSpPr>
          <p:cNvPr id="4" name="Espace réservé du numéro de diapositive 3">
            <a:extLst>
              <a:ext uri="{FF2B5EF4-FFF2-40B4-BE49-F238E27FC236}">
                <a16:creationId xmlns:a16="http://schemas.microsoft.com/office/drawing/2014/main" id="{334BED85-6DB4-C3FB-94EB-F23DC1AC0825}"/>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244266980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AA7AC867-F26B-B636-C0CC-197D412F494E}"/>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du contenu 2">
            <a:extLst>
              <a:ext uri="{FF2B5EF4-FFF2-40B4-BE49-F238E27FC236}">
                <a16:creationId xmlns:a16="http://schemas.microsoft.com/office/drawing/2014/main" id="{6066CCAC-F3CA-1D1B-058E-11CFAFD262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u texte 3">
            <a:extLst>
              <a:ext uri="{FF2B5EF4-FFF2-40B4-BE49-F238E27FC236}">
                <a16:creationId xmlns:a16="http://schemas.microsoft.com/office/drawing/2014/main" id="{3124CD83-F9C1-9BCE-5F55-FBB0D89F634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93B28BD4-A78E-8C1C-AF5D-DCD7B199DF0E}"/>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F4D556B8-2701-2F8D-C033-D051B6E228C5}"/>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5923ED69-22F5-81B8-79C0-B313C5642DBD}"/>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68427410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E56D59E-0F81-DD03-F9FE-61DFDCB92FA8}"/>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p>
        </p:txBody>
      </p:sp>
      <p:sp>
        <p:nvSpPr>
          <p:cNvPr id="3" name="Espace réservé pour une image  2">
            <a:extLst>
              <a:ext uri="{FF2B5EF4-FFF2-40B4-BE49-F238E27FC236}">
                <a16:creationId xmlns:a16="http://schemas.microsoft.com/office/drawing/2014/main" id="{409CC2F0-39A5-8424-357A-FE255B33B4F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FR"/>
          </a:p>
        </p:txBody>
      </p:sp>
      <p:sp>
        <p:nvSpPr>
          <p:cNvPr id="4" name="Espace réservé du texte 3">
            <a:extLst>
              <a:ext uri="{FF2B5EF4-FFF2-40B4-BE49-F238E27FC236}">
                <a16:creationId xmlns:a16="http://schemas.microsoft.com/office/drawing/2014/main" id="{5F8D1451-C54E-BC0D-EFDD-41C79836346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0AFDE112-D878-8CE8-3B24-5957C22E5282}"/>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6" name="Espace réservé du pied de page 5">
            <a:extLst>
              <a:ext uri="{FF2B5EF4-FFF2-40B4-BE49-F238E27FC236}">
                <a16:creationId xmlns:a16="http://schemas.microsoft.com/office/drawing/2014/main" id="{0AE1CB76-3EE5-D81F-B325-052CBFD9EDD4}"/>
              </a:ext>
            </a:extLst>
          </p:cNvPr>
          <p:cNvSpPr>
            <a:spLocks noGrp="1"/>
          </p:cNvSpPr>
          <p:nvPr>
            <p:ph type="ftr" sz="quarter" idx="11"/>
          </p:nvPr>
        </p:nvSpPr>
        <p:spPr/>
        <p:txBody>
          <a:bodyPr/>
          <a:lstStyle/>
          <a:p>
            <a:endParaRPr lang="fr-FR"/>
          </a:p>
        </p:txBody>
      </p:sp>
      <p:sp>
        <p:nvSpPr>
          <p:cNvPr id="7" name="Espace réservé du numéro de diapositive 6">
            <a:extLst>
              <a:ext uri="{FF2B5EF4-FFF2-40B4-BE49-F238E27FC236}">
                <a16:creationId xmlns:a16="http://schemas.microsoft.com/office/drawing/2014/main" id="{E2BB47F8-F680-F37F-4E0A-B84F0F534250}"/>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2414091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3B229CB6-8180-04AD-69A9-F1C1CAEA5A07}"/>
              </a:ext>
            </a:extLst>
          </p:cNvPr>
          <p:cNvSpPr>
            <a:spLocks noGrp="1"/>
          </p:cNvSpPr>
          <p:nvPr>
            <p:ph type="title"/>
          </p:nvPr>
        </p:nvSpPr>
        <p:spPr/>
        <p:txBody>
          <a:bodyPr/>
          <a:lstStyle/>
          <a:p>
            <a:r>
              <a:rPr lang="fr-FR"/>
              <a:t>Modifiez le style du titre</a:t>
            </a:r>
          </a:p>
        </p:txBody>
      </p:sp>
      <p:sp>
        <p:nvSpPr>
          <p:cNvPr id="3" name="Espace réservé du texte vertical 2">
            <a:extLst>
              <a:ext uri="{FF2B5EF4-FFF2-40B4-BE49-F238E27FC236}">
                <a16:creationId xmlns:a16="http://schemas.microsoft.com/office/drawing/2014/main" id="{0E5B1018-545C-1FFB-64B6-3DA7E2767662}"/>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1DB1BC37-84AA-9F84-084B-0F73DFE76B43}"/>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CC4E8C36-2A5E-9FBA-4A39-08910F63AC17}"/>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6041D9DB-6D17-0E77-401C-C3A8F061DC7E}"/>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30626198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78B49DAA-C380-1F81-C75D-402D2DE61D4E}"/>
              </a:ext>
            </a:extLst>
          </p:cNvPr>
          <p:cNvSpPr>
            <a:spLocks noGrp="1"/>
          </p:cNvSpPr>
          <p:nvPr>
            <p:ph type="title" orient="vert"/>
          </p:nvPr>
        </p:nvSpPr>
        <p:spPr>
          <a:xfrm>
            <a:off x="8724900" y="365125"/>
            <a:ext cx="2628900" cy="5811838"/>
          </a:xfrm>
        </p:spPr>
        <p:txBody>
          <a:bodyPr vert="eaVert"/>
          <a:lstStyle/>
          <a:p>
            <a:r>
              <a:rPr lang="fr-FR"/>
              <a:t>Modifiez le style du titre</a:t>
            </a:r>
          </a:p>
        </p:txBody>
      </p:sp>
      <p:sp>
        <p:nvSpPr>
          <p:cNvPr id="3" name="Espace réservé du texte vertical 2">
            <a:extLst>
              <a:ext uri="{FF2B5EF4-FFF2-40B4-BE49-F238E27FC236}">
                <a16:creationId xmlns:a16="http://schemas.microsoft.com/office/drawing/2014/main" id="{1627957C-FD0B-6260-FD13-D4A391F90CE7}"/>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ED191B55-B890-B6A8-5C7F-9003652485E5}"/>
              </a:ext>
            </a:extLst>
          </p:cNvPr>
          <p:cNvSpPr>
            <a:spLocks noGrp="1"/>
          </p:cNvSpPr>
          <p:nvPr>
            <p:ph type="dt" sz="half" idx="10"/>
          </p:nvPr>
        </p:nvSpPr>
        <p:spPr/>
        <p:txBody>
          <a:bodyPr/>
          <a:lstStyle/>
          <a:p>
            <a:fld id="{21994E2A-6D3E-41EA-8FD9-26EE95697F53}"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08D51109-4797-A13A-7460-C958D118AC00}"/>
              </a:ext>
            </a:extLst>
          </p:cNvPr>
          <p:cNvSpPr>
            <a:spLocks noGrp="1"/>
          </p:cNvSpPr>
          <p:nvPr>
            <p:ph type="ftr" sz="quarter" idx="11"/>
          </p:nvPr>
        </p:nvSpPr>
        <p:spPr/>
        <p:txBody>
          <a:bodyPr/>
          <a:lstStyle/>
          <a:p>
            <a:endParaRPr lang="fr-FR"/>
          </a:p>
        </p:txBody>
      </p:sp>
      <p:sp>
        <p:nvSpPr>
          <p:cNvPr id="6" name="Espace réservé du numéro de diapositive 5">
            <a:extLst>
              <a:ext uri="{FF2B5EF4-FFF2-40B4-BE49-F238E27FC236}">
                <a16:creationId xmlns:a16="http://schemas.microsoft.com/office/drawing/2014/main" id="{AAD2A3D0-551F-511C-8AC6-6CBB78774BF2}"/>
              </a:ext>
            </a:extLst>
          </p:cNvPr>
          <p:cNvSpPr>
            <a:spLocks noGrp="1"/>
          </p:cNvSpPr>
          <p:nvPr>
            <p:ph type="sldNum" sz="quarter" idx="12"/>
          </p:nvPr>
        </p:nvSpPr>
        <p:spPr/>
        <p:txBody>
          <a:bodyPr/>
          <a:lstStyle/>
          <a:p>
            <a:fld id="{E97954ED-FD8E-4393-B7D3-71DC3CFE2AD2}" type="slidenum">
              <a:rPr lang="fr-FR" smtClean="0"/>
              <a:t>‹N°›</a:t>
            </a:fld>
            <a:endParaRPr lang="fr-FR"/>
          </a:p>
        </p:txBody>
      </p:sp>
    </p:spTree>
    <p:extLst>
      <p:ext uri="{BB962C8B-B14F-4D97-AF65-F5344CB8AC3E}">
        <p14:creationId xmlns:p14="http://schemas.microsoft.com/office/powerpoint/2010/main" val="169714345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B5FB1004-D451-494E-1337-B5DDC151D9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p>
        </p:txBody>
      </p:sp>
      <p:sp>
        <p:nvSpPr>
          <p:cNvPr id="3" name="Espace réservé du texte 2">
            <a:extLst>
              <a:ext uri="{FF2B5EF4-FFF2-40B4-BE49-F238E27FC236}">
                <a16:creationId xmlns:a16="http://schemas.microsoft.com/office/drawing/2014/main" id="{CE8E6AC5-EE3E-16AD-CBB6-96BDD91726A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p>
        </p:txBody>
      </p:sp>
      <p:sp>
        <p:nvSpPr>
          <p:cNvPr id="4" name="Espace réservé de la date 3">
            <a:extLst>
              <a:ext uri="{FF2B5EF4-FFF2-40B4-BE49-F238E27FC236}">
                <a16:creationId xmlns:a16="http://schemas.microsoft.com/office/drawing/2014/main" id="{4380BDB5-A111-209B-4C92-19643846E6A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21994E2A-6D3E-41EA-8FD9-26EE95697F53}" type="datetimeFigureOut">
              <a:rPr lang="fr-FR" smtClean="0"/>
              <a:t>06/04/2026</a:t>
            </a:fld>
            <a:endParaRPr lang="fr-FR"/>
          </a:p>
        </p:txBody>
      </p:sp>
      <p:sp>
        <p:nvSpPr>
          <p:cNvPr id="5" name="Espace réservé du pied de page 4">
            <a:extLst>
              <a:ext uri="{FF2B5EF4-FFF2-40B4-BE49-F238E27FC236}">
                <a16:creationId xmlns:a16="http://schemas.microsoft.com/office/drawing/2014/main" id="{C631208A-9F98-FB81-0BE7-5D5F53BF05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FR"/>
          </a:p>
        </p:txBody>
      </p:sp>
      <p:sp>
        <p:nvSpPr>
          <p:cNvPr id="6" name="Espace réservé du numéro de diapositive 5">
            <a:extLst>
              <a:ext uri="{FF2B5EF4-FFF2-40B4-BE49-F238E27FC236}">
                <a16:creationId xmlns:a16="http://schemas.microsoft.com/office/drawing/2014/main" id="{6FA2FA4E-3873-C5CA-054E-5D471CCB6F0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97954ED-FD8E-4393-B7D3-71DC3CFE2AD2}" type="slidenum">
              <a:rPr lang="fr-FR" smtClean="0"/>
              <a:t>‹N°›</a:t>
            </a:fld>
            <a:endParaRPr lang="fr-FR"/>
          </a:p>
        </p:txBody>
      </p:sp>
    </p:spTree>
    <p:extLst>
      <p:ext uri="{BB962C8B-B14F-4D97-AF65-F5344CB8AC3E}">
        <p14:creationId xmlns:p14="http://schemas.microsoft.com/office/powerpoint/2010/main" val="29291134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460A426-E728-5EB0-F553-DFFFACB48EA7}"/>
              </a:ext>
            </a:extLst>
          </p:cNvPr>
          <p:cNvSpPr/>
          <p:nvPr/>
        </p:nvSpPr>
        <p:spPr>
          <a:xfrm>
            <a:off x="0" y="0"/>
            <a:ext cx="12192000" cy="68580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AF9889E0-6CF1-BBAE-BD0E-00C5362E7C7A}"/>
              </a:ext>
            </a:extLst>
          </p:cNvPr>
          <p:cNvSpPr/>
          <p:nvPr/>
        </p:nvSpPr>
        <p:spPr>
          <a:xfrm>
            <a:off x="0" y="0"/>
            <a:ext cx="2667000" cy="68580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F4C9843-6359-2834-6E90-CEE38FC0F736}"/>
              </a:ext>
            </a:extLst>
          </p:cNvPr>
          <p:cNvSpPr/>
          <p:nvPr/>
        </p:nvSpPr>
        <p:spPr>
          <a:xfrm>
            <a:off x="2667000" y="0"/>
            <a:ext cx="203200" cy="68580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90BA865C-FA54-7F80-0679-AED7765791D7}"/>
              </a:ext>
            </a:extLst>
          </p:cNvPr>
          <p:cNvSpPr txBox="1"/>
          <p:nvPr/>
        </p:nvSpPr>
        <p:spPr>
          <a:xfrm>
            <a:off x="444500" y="609600"/>
            <a:ext cx="1778000" cy="769441"/>
          </a:xfrm>
          <a:prstGeom prst="rect">
            <a:avLst/>
          </a:prstGeom>
          <a:noFill/>
        </p:spPr>
        <p:txBody>
          <a:bodyPr vert="horz" rtlCol="0">
            <a:spAutoFit/>
          </a:bodyPr>
          <a:lstStyle/>
          <a:p>
            <a:r>
              <a:rPr lang="fr-FR" sz="2200" b="1">
                <a:solidFill>
                  <a:srgbClr val="FFFFFF"/>
                </a:solidFill>
                <a:latin typeface="Arial" panose="020B0604020202020204" pitchFamily="34" charset="0"/>
              </a:rPr>
              <a:t>PwC style
Audit IT</a:t>
            </a:r>
          </a:p>
        </p:txBody>
      </p:sp>
      <p:sp>
        <p:nvSpPr>
          <p:cNvPr id="6" name="ZoneTexte 5">
            <a:extLst>
              <a:ext uri="{FF2B5EF4-FFF2-40B4-BE49-F238E27FC236}">
                <a16:creationId xmlns:a16="http://schemas.microsoft.com/office/drawing/2014/main" id="{A7ADAE56-8339-7CCD-1521-F699886D1FCB}"/>
              </a:ext>
            </a:extLst>
          </p:cNvPr>
          <p:cNvSpPr txBox="1"/>
          <p:nvPr/>
        </p:nvSpPr>
        <p:spPr>
          <a:xfrm>
            <a:off x="3302000" y="1206500"/>
            <a:ext cx="7874000" cy="523220"/>
          </a:xfrm>
          <a:prstGeom prst="rect">
            <a:avLst/>
          </a:prstGeom>
          <a:noFill/>
        </p:spPr>
        <p:txBody>
          <a:bodyPr vert="horz" rtlCol="0">
            <a:spAutoFit/>
          </a:bodyPr>
          <a:lstStyle/>
          <a:p>
            <a:r>
              <a:rPr lang="fr-FR" sz="2800" b="1">
                <a:solidFill>
                  <a:srgbClr val="2E2A26"/>
                </a:solidFill>
                <a:latin typeface="Arial" panose="020B0604020202020204" pitchFamily="34" charset="0"/>
              </a:rPr>
              <a:t>Audit des accès utilisateurs SAP</a:t>
            </a:r>
          </a:p>
        </p:txBody>
      </p:sp>
      <p:sp>
        <p:nvSpPr>
          <p:cNvPr id="7" name="ZoneTexte 6">
            <a:extLst>
              <a:ext uri="{FF2B5EF4-FFF2-40B4-BE49-F238E27FC236}">
                <a16:creationId xmlns:a16="http://schemas.microsoft.com/office/drawing/2014/main" id="{4601F14E-AF48-98D5-F5FA-22551F8CDC5C}"/>
              </a:ext>
            </a:extLst>
          </p:cNvPr>
          <p:cNvSpPr txBox="1"/>
          <p:nvPr/>
        </p:nvSpPr>
        <p:spPr>
          <a:xfrm>
            <a:off x="3302000" y="2413000"/>
            <a:ext cx="6858000" cy="338554"/>
          </a:xfrm>
          <a:prstGeom prst="rect">
            <a:avLst/>
          </a:prstGeom>
          <a:noFill/>
        </p:spPr>
        <p:txBody>
          <a:bodyPr vert="horz" rtlCol="0">
            <a:spAutoFit/>
          </a:bodyPr>
          <a:lstStyle/>
          <a:p>
            <a:r>
              <a:rPr lang="fr-FR" sz="1600" b="1">
                <a:solidFill>
                  <a:srgbClr val="005FEB"/>
                </a:solidFill>
                <a:latin typeface="Arial" panose="020B0604020202020204" pitchFamily="34" charset="0"/>
              </a:rPr>
              <a:t>Mission ITGC - AUDIT-2025-001</a:t>
            </a:r>
          </a:p>
        </p:txBody>
      </p:sp>
      <p:sp>
        <p:nvSpPr>
          <p:cNvPr id="8" name="ZoneTexte 7">
            <a:extLst>
              <a:ext uri="{FF2B5EF4-FFF2-40B4-BE49-F238E27FC236}">
                <a16:creationId xmlns:a16="http://schemas.microsoft.com/office/drawing/2014/main" id="{CB15F082-1C6C-C2C1-2054-761542DF5C88}"/>
              </a:ext>
            </a:extLst>
          </p:cNvPr>
          <p:cNvSpPr txBox="1"/>
          <p:nvPr/>
        </p:nvSpPr>
        <p:spPr>
          <a:xfrm>
            <a:off x="3302000" y="3302000"/>
            <a:ext cx="6604000" cy="954107"/>
          </a:xfrm>
          <a:prstGeom prst="rect">
            <a:avLst/>
          </a:prstGeom>
          <a:noFill/>
        </p:spPr>
        <p:txBody>
          <a:bodyPr vert="horz" rtlCol="0">
            <a:spAutoFit/>
          </a:bodyPr>
          <a:lstStyle/>
          <a:p>
            <a:r>
              <a:rPr lang="fr-FR" sz="1400">
                <a:solidFill>
                  <a:srgbClr val="2E2A26"/>
                </a:solidFill>
                <a:latin typeface="Arial" panose="020B0604020202020204" pitchFamily="34" charset="0"/>
              </a:rPr>
              <a:t>Entite auditee: Direction des Systèmes d'Information – Groupe XYZ</a:t>
            </a:r>
          </a:p>
          <a:p>
            <a:r>
              <a:rPr lang="fr-FR" sz="1400">
                <a:solidFill>
                  <a:srgbClr val="2E2A26"/>
                </a:solidFill>
                <a:latin typeface="Arial" panose="020B0604020202020204" pitchFamily="34" charset="0"/>
              </a:rPr>
              <a:t>Periode: Janvier 2025 – Mars 2025</a:t>
            </a:r>
          </a:p>
          <a:p>
            <a:r>
              <a:rPr lang="fr-FR" sz="1400">
                <a:solidFill>
                  <a:srgbClr val="2E2A26"/>
                </a:solidFill>
                <a:latin typeface="Arial" panose="020B0604020202020204" pitchFamily="34" charset="0"/>
              </a:rPr>
              <a:t>Date du rapport: 30/04/2025</a:t>
            </a:r>
          </a:p>
          <a:p>
            <a:r>
              <a:rPr lang="fr-FR" sz="1400">
                <a:solidFill>
                  <a:srgbClr val="2E2A26"/>
                </a:solidFill>
                <a:latin typeface="Arial" panose="020B0604020202020204" pitchFamily="34" charset="0"/>
              </a:rPr>
              <a:t>Strictement prive et confidentiel</a:t>
            </a:r>
          </a:p>
        </p:txBody>
      </p:sp>
    </p:spTree>
    <p:extLst>
      <p:ext uri="{BB962C8B-B14F-4D97-AF65-F5344CB8AC3E}">
        <p14:creationId xmlns:p14="http://schemas.microsoft.com/office/powerpoint/2010/main" val="28873640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C02827-7F6A-37E4-D659-45F0BC6426FC}"/>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C901BEB4-08B2-3DFD-B6C1-5C0B556744F1}"/>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AC53B4CC-9E7D-A6C9-ECE6-038E14778CA9}"/>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61DF574F-F347-4144-8844-BC7E2B807902}"/>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Sommaire</a:t>
            </a:r>
          </a:p>
        </p:txBody>
      </p:sp>
      <p:sp>
        <p:nvSpPr>
          <p:cNvPr id="6" name="ZoneTexte 5">
            <a:extLst>
              <a:ext uri="{FF2B5EF4-FFF2-40B4-BE49-F238E27FC236}">
                <a16:creationId xmlns:a16="http://schemas.microsoft.com/office/drawing/2014/main" id="{FA764C4D-8285-D0B4-39D1-1039ABACF98D}"/>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Structure du rapport d'audit</a:t>
            </a:r>
          </a:p>
        </p:txBody>
      </p:sp>
      <p:sp>
        <p:nvSpPr>
          <p:cNvPr id="7" name="ZoneTexte 6">
            <a:extLst>
              <a:ext uri="{FF2B5EF4-FFF2-40B4-BE49-F238E27FC236}">
                <a16:creationId xmlns:a16="http://schemas.microsoft.com/office/drawing/2014/main" id="{13157B1E-94A4-D923-B4B2-A436A3E85739}"/>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01</a:t>
            </a:r>
          </a:p>
        </p:txBody>
      </p:sp>
      <p:sp>
        <p:nvSpPr>
          <p:cNvPr id="8" name="Rectangle 7">
            <a:extLst>
              <a:ext uri="{FF2B5EF4-FFF2-40B4-BE49-F238E27FC236}">
                <a16:creationId xmlns:a16="http://schemas.microsoft.com/office/drawing/2014/main" id="{53A59794-31ED-1E1D-63B2-4CBBBF049284}"/>
              </a:ext>
            </a:extLst>
          </p:cNvPr>
          <p:cNvSpPr/>
          <p:nvPr/>
        </p:nvSpPr>
        <p:spPr>
          <a:xfrm>
            <a:off x="508000" y="1524000"/>
            <a:ext cx="5207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7C3A481B-42E6-F3D9-6EF6-64036BB8C66D}"/>
              </a:ext>
            </a:extLst>
          </p:cNvPr>
          <p:cNvSpPr txBox="1"/>
          <p:nvPr/>
        </p:nvSpPr>
        <p:spPr>
          <a:xfrm>
            <a:off x="685800" y="1651000"/>
            <a:ext cx="4902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Sections</a:t>
            </a:r>
          </a:p>
        </p:txBody>
      </p:sp>
      <p:sp>
        <p:nvSpPr>
          <p:cNvPr id="10" name="ZoneTexte 9">
            <a:extLst>
              <a:ext uri="{FF2B5EF4-FFF2-40B4-BE49-F238E27FC236}">
                <a16:creationId xmlns:a16="http://schemas.microsoft.com/office/drawing/2014/main" id="{55159782-D343-2926-0A77-6E2FE475DDDC}"/>
              </a:ext>
            </a:extLst>
          </p:cNvPr>
          <p:cNvSpPr txBox="1"/>
          <p:nvPr/>
        </p:nvSpPr>
        <p:spPr>
          <a:xfrm>
            <a:off x="685800" y="2006600"/>
            <a:ext cx="4851400" cy="1200329"/>
          </a:xfrm>
          <a:prstGeom prst="rect">
            <a:avLst/>
          </a:prstGeom>
          <a:noFill/>
        </p:spPr>
        <p:txBody>
          <a:bodyPr vert="horz" rtlCol="0">
            <a:spAutoFit/>
          </a:bodyPr>
          <a:lstStyle/>
          <a:p>
            <a:r>
              <a:rPr lang="fr-FR" sz="1200">
                <a:solidFill>
                  <a:srgbClr val="2E2A26"/>
                </a:solidFill>
                <a:latin typeface="Arial" panose="020B0604020202020204" pitchFamily="34" charset="0"/>
              </a:rPr>
              <a:t>• Preambule</a:t>
            </a:r>
          </a:p>
          <a:p>
            <a:r>
              <a:rPr lang="fr-FR" sz="1200">
                <a:solidFill>
                  <a:srgbClr val="2E2A26"/>
                </a:solidFill>
                <a:latin typeface="Arial" panose="020B0604020202020204" pitchFamily="34" charset="0"/>
              </a:rPr>
              <a:t>• Objectifs de la mission</a:t>
            </a:r>
          </a:p>
          <a:p>
            <a:r>
              <a:rPr lang="fr-FR" sz="1200">
                <a:solidFill>
                  <a:srgbClr val="2E2A26"/>
                </a:solidFill>
                <a:latin typeface="Arial" panose="020B0604020202020204" pitchFamily="34" charset="0"/>
              </a:rPr>
              <a:t>• Intervenants et perimetre</a:t>
            </a:r>
          </a:p>
          <a:p>
            <a:r>
              <a:rPr lang="fr-FR" sz="1200">
                <a:solidFill>
                  <a:srgbClr val="2E2A26"/>
                </a:solidFill>
                <a:latin typeface="Arial" panose="020B0604020202020204" pitchFamily="34" charset="0"/>
              </a:rPr>
              <a:t>• Approche d'audit</a:t>
            </a:r>
          </a:p>
          <a:p>
            <a:r>
              <a:rPr lang="fr-FR" sz="1200">
                <a:solidFill>
                  <a:srgbClr val="2E2A26"/>
                </a:solidFill>
                <a:latin typeface="Arial" panose="020B0604020202020204" pitchFamily="34" charset="0"/>
              </a:rPr>
              <a:t>• Liste des controles couverts</a:t>
            </a:r>
          </a:p>
          <a:p>
            <a:r>
              <a:rPr lang="fr-FR" sz="1200">
                <a:solidFill>
                  <a:srgbClr val="2E2A26"/>
                </a:solidFill>
                <a:latin typeface="Arial" panose="020B0604020202020204" pitchFamily="34" charset="0"/>
              </a:rPr>
              <a:t>• Synthese generale</a:t>
            </a:r>
          </a:p>
        </p:txBody>
      </p:sp>
      <p:sp>
        <p:nvSpPr>
          <p:cNvPr id="11" name="Rectangle 10">
            <a:extLst>
              <a:ext uri="{FF2B5EF4-FFF2-40B4-BE49-F238E27FC236}">
                <a16:creationId xmlns:a16="http://schemas.microsoft.com/office/drawing/2014/main" id="{3838B5DC-0C5D-802B-FC3C-85A6DA52924D}"/>
              </a:ext>
            </a:extLst>
          </p:cNvPr>
          <p:cNvSpPr/>
          <p:nvPr/>
        </p:nvSpPr>
        <p:spPr>
          <a:xfrm>
            <a:off x="6223000" y="1524000"/>
            <a:ext cx="5207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CE47F108-CF41-956F-25B0-B1704F91EF2E}"/>
              </a:ext>
            </a:extLst>
          </p:cNvPr>
          <p:cNvSpPr txBox="1"/>
          <p:nvPr/>
        </p:nvSpPr>
        <p:spPr>
          <a:xfrm>
            <a:off x="6400800" y="1651000"/>
            <a:ext cx="4902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Suite du rapport</a:t>
            </a:r>
          </a:p>
        </p:txBody>
      </p:sp>
      <p:sp>
        <p:nvSpPr>
          <p:cNvPr id="13" name="ZoneTexte 12">
            <a:extLst>
              <a:ext uri="{FF2B5EF4-FFF2-40B4-BE49-F238E27FC236}">
                <a16:creationId xmlns:a16="http://schemas.microsoft.com/office/drawing/2014/main" id="{CAF045F9-3C16-B231-5F63-C5BA9675418F}"/>
              </a:ext>
            </a:extLst>
          </p:cNvPr>
          <p:cNvSpPr txBox="1"/>
          <p:nvPr/>
        </p:nvSpPr>
        <p:spPr>
          <a:xfrm>
            <a:off x="6400800" y="2006600"/>
            <a:ext cx="4851400" cy="830997"/>
          </a:xfrm>
          <a:prstGeom prst="rect">
            <a:avLst/>
          </a:prstGeom>
          <a:noFill/>
        </p:spPr>
        <p:txBody>
          <a:bodyPr vert="horz" rtlCol="0">
            <a:spAutoFit/>
          </a:bodyPr>
          <a:lstStyle/>
          <a:p>
            <a:r>
              <a:rPr lang="fr-FR" sz="1200">
                <a:solidFill>
                  <a:srgbClr val="2E2A26"/>
                </a:solidFill>
                <a:latin typeface="Arial" panose="020B0604020202020204" pitchFamily="34" charset="0"/>
              </a:rPr>
              <a:t>• Synthese des priorites</a:t>
            </a:r>
          </a:p>
          <a:p>
            <a:r>
              <a:rPr lang="fr-FR" sz="1200">
                <a:solidFill>
                  <a:srgbClr val="2E2A26"/>
                </a:solidFill>
                <a:latin typeface="Arial" panose="020B0604020202020204" pitchFamily="34" charset="0"/>
              </a:rPr>
              <a:t>• Points releves</a:t>
            </a:r>
          </a:p>
          <a:p>
            <a:r>
              <a:rPr lang="fr-FR" sz="1200">
                <a:solidFill>
                  <a:srgbClr val="2E2A26"/>
                </a:solidFill>
                <a:latin typeface="Arial" panose="020B0604020202020204" pitchFamily="34" charset="0"/>
              </a:rPr>
              <a:t>• Recommandations detaillees</a:t>
            </a:r>
          </a:p>
          <a:p>
            <a:r>
              <a:rPr lang="fr-FR" sz="1200">
                <a:solidFill>
                  <a:srgbClr val="2E2A26"/>
                </a:solidFill>
                <a:latin typeface="Arial" panose="020B0604020202020204" pitchFamily="34" charset="0"/>
              </a:rPr>
              <a:t>• Conclusion</a:t>
            </a:r>
          </a:p>
        </p:txBody>
      </p:sp>
    </p:spTree>
    <p:extLst>
      <p:ext uri="{BB962C8B-B14F-4D97-AF65-F5344CB8AC3E}">
        <p14:creationId xmlns:p14="http://schemas.microsoft.com/office/powerpoint/2010/main" val="42187342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6FB01CA-9F7B-6926-FD30-84F13F6411C0}"/>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0A94BCA2-8B17-74FB-1179-6B8206B3B6B5}"/>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E6AC8003-7CC0-1E21-5A77-89FA7F4B12D3}"/>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6AB36C0C-1D01-E30F-572B-BEEB27F3C86D}"/>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Cadre de notre intervention</a:t>
            </a:r>
          </a:p>
        </p:txBody>
      </p:sp>
      <p:sp>
        <p:nvSpPr>
          <p:cNvPr id="6" name="ZoneTexte 5">
            <a:extLst>
              <a:ext uri="{FF2B5EF4-FFF2-40B4-BE49-F238E27FC236}">
                <a16:creationId xmlns:a16="http://schemas.microsoft.com/office/drawing/2014/main" id="{4EB8406C-7F5E-D5A5-3D3D-E74D6820169F}"/>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Preambule et objectifs de la mission</a:t>
            </a:r>
          </a:p>
        </p:txBody>
      </p:sp>
      <p:sp>
        <p:nvSpPr>
          <p:cNvPr id="7" name="ZoneTexte 6">
            <a:extLst>
              <a:ext uri="{FF2B5EF4-FFF2-40B4-BE49-F238E27FC236}">
                <a16:creationId xmlns:a16="http://schemas.microsoft.com/office/drawing/2014/main" id="{9C79FC8A-84D7-ECF4-DC26-A7BB4B068281}"/>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02</a:t>
            </a:r>
          </a:p>
        </p:txBody>
      </p:sp>
      <p:sp>
        <p:nvSpPr>
          <p:cNvPr id="8" name="Rectangle 7">
            <a:extLst>
              <a:ext uri="{FF2B5EF4-FFF2-40B4-BE49-F238E27FC236}">
                <a16:creationId xmlns:a16="http://schemas.microsoft.com/office/drawing/2014/main" id="{FC3C1A1D-20DD-E35F-41DF-504A264D2358}"/>
              </a:ext>
            </a:extLst>
          </p:cNvPr>
          <p:cNvSpPr/>
          <p:nvPr/>
        </p:nvSpPr>
        <p:spPr>
          <a:xfrm>
            <a:off x="431800" y="1397000"/>
            <a:ext cx="5308600" cy="2222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D11AB963-4F08-0663-5EAC-6C65144EFA75}"/>
              </a:ext>
            </a:extLst>
          </p:cNvPr>
          <p:cNvSpPr txBox="1"/>
          <p:nvPr/>
        </p:nvSpPr>
        <p:spPr>
          <a:xfrm>
            <a:off x="609600" y="1574800"/>
            <a:ext cx="4953000" cy="1569660"/>
          </a:xfrm>
          <a:prstGeom prst="rect">
            <a:avLst/>
          </a:prstGeom>
          <a:noFill/>
        </p:spPr>
        <p:txBody>
          <a:bodyPr vert="horz" rtlCol="0">
            <a:spAutoFit/>
          </a:bodyPr>
          <a:lstStyle/>
          <a:p>
            <a:r>
              <a:rPr lang="fr-FR" sz="1200">
                <a:solidFill>
                  <a:srgbClr val="2E2A26"/>
                </a:solidFill>
                <a:latin typeface="Arial" panose="020B0604020202020204" pitchFamily="34" charset="0"/>
              </a:rPr>
              <a:t>Le present document restitue les principaux constats issus de notre revue des controles generaux informatiques conduite chez Direction des Systèmes d'Information – Groupe XYZ sur la periode Janvier 2025 – Mars 2025. Cette intervention s'inscrit dans le cadre d'une mission ITGC et a pour objectif d'apprecier le niveau de maitrise du dispositif de controle interne informatique sur le perimetre retenu. Le present support est confidentiel et destine exclusivement aux parties prenantes de la mission.</a:t>
            </a:r>
          </a:p>
        </p:txBody>
      </p:sp>
      <p:sp>
        <p:nvSpPr>
          <p:cNvPr id="10" name="Rectangle 9">
            <a:extLst>
              <a:ext uri="{FF2B5EF4-FFF2-40B4-BE49-F238E27FC236}">
                <a16:creationId xmlns:a16="http://schemas.microsoft.com/office/drawing/2014/main" id="{220657F4-2612-9479-6C81-2B475F1FD7E5}"/>
              </a:ext>
            </a:extLst>
          </p:cNvPr>
          <p:cNvSpPr/>
          <p:nvPr/>
        </p:nvSpPr>
        <p:spPr>
          <a:xfrm>
            <a:off x="6019800" y="1397000"/>
            <a:ext cx="5308600" cy="2222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F90EA667-54C8-F060-2516-5B5D310726F7}"/>
              </a:ext>
            </a:extLst>
          </p:cNvPr>
          <p:cNvSpPr txBox="1"/>
          <p:nvPr/>
        </p:nvSpPr>
        <p:spPr>
          <a:xfrm>
            <a:off x="6197600" y="1524000"/>
            <a:ext cx="5003800" cy="307777"/>
          </a:xfrm>
          <a:prstGeom prst="rect">
            <a:avLst/>
          </a:prstGeom>
          <a:noFill/>
        </p:spPr>
        <p:txBody>
          <a:bodyPr vert="horz" rtlCol="0">
            <a:spAutoFit/>
          </a:bodyPr>
          <a:lstStyle/>
          <a:p>
            <a:r>
              <a:rPr lang="fr-FR" sz="1400" b="1">
                <a:solidFill>
                  <a:srgbClr val="2E2A26"/>
                </a:solidFill>
                <a:latin typeface="Arial" panose="020B0604020202020204" pitchFamily="34" charset="0"/>
              </a:rPr>
              <a:t>Objectifs de la mission</a:t>
            </a:r>
          </a:p>
        </p:txBody>
      </p:sp>
      <p:sp>
        <p:nvSpPr>
          <p:cNvPr id="12" name="ZoneTexte 11">
            <a:extLst>
              <a:ext uri="{FF2B5EF4-FFF2-40B4-BE49-F238E27FC236}">
                <a16:creationId xmlns:a16="http://schemas.microsoft.com/office/drawing/2014/main" id="{DFB5AE7F-9480-7011-208E-A5E25F6541A0}"/>
              </a:ext>
            </a:extLst>
          </p:cNvPr>
          <p:cNvSpPr txBox="1"/>
          <p:nvPr/>
        </p:nvSpPr>
        <p:spPr>
          <a:xfrm>
            <a:off x="6197600" y="1879600"/>
            <a:ext cx="4953000" cy="461665"/>
          </a:xfrm>
          <a:prstGeom prst="rect">
            <a:avLst/>
          </a:prstGeom>
          <a:noFill/>
        </p:spPr>
        <p:txBody>
          <a:bodyPr vert="horz" rtlCol="0">
            <a:spAutoFit/>
          </a:bodyPr>
          <a:lstStyle/>
          <a:p>
            <a:r>
              <a:rPr lang="fr-FR" sz="1200">
                <a:solidFill>
                  <a:srgbClr val="2E2A26"/>
                </a:solidFill>
                <a:latin typeface="Arial" panose="020B0604020202020204" pitchFamily="34" charset="0"/>
              </a:rPr>
              <a:t>• Vérifier la gestion des accès utilisateurs</a:t>
            </a:r>
          </a:p>
          <a:p>
            <a:r>
              <a:rPr lang="fr-FR" sz="1200">
                <a:solidFill>
                  <a:srgbClr val="2E2A26"/>
                </a:solidFill>
                <a:latin typeface="Arial" panose="020B0604020202020204" pitchFamily="34" charset="0"/>
              </a:rPr>
              <a:t>• Évaluer l’efficacité des contrôles internes</a:t>
            </a:r>
          </a:p>
        </p:txBody>
      </p:sp>
      <p:sp>
        <p:nvSpPr>
          <p:cNvPr id="13" name="Rectangle 12">
            <a:extLst>
              <a:ext uri="{FF2B5EF4-FFF2-40B4-BE49-F238E27FC236}">
                <a16:creationId xmlns:a16="http://schemas.microsoft.com/office/drawing/2014/main" id="{D59A850C-A8E7-C24C-EE15-394692F5092A}"/>
              </a:ext>
            </a:extLst>
          </p:cNvPr>
          <p:cNvSpPr/>
          <p:nvPr/>
        </p:nvSpPr>
        <p:spPr>
          <a:xfrm>
            <a:off x="431800" y="3873500"/>
            <a:ext cx="5308600" cy="1714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ZoneTexte 13">
            <a:extLst>
              <a:ext uri="{FF2B5EF4-FFF2-40B4-BE49-F238E27FC236}">
                <a16:creationId xmlns:a16="http://schemas.microsoft.com/office/drawing/2014/main" id="{1294D00F-56C0-49C4-C5C6-48D9237B84FA}"/>
              </a:ext>
            </a:extLst>
          </p:cNvPr>
          <p:cNvSpPr txBox="1"/>
          <p:nvPr/>
        </p:nvSpPr>
        <p:spPr>
          <a:xfrm>
            <a:off x="609600" y="4000500"/>
            <a:ext cx="5003800" cy="307777"/>
          </a:xfrm>
          <a:prstGeom prst="rect">
            <a:avLst/>
          </a:prstGeom>
          <a:noFill/>
        </p:spPr>
        <p:txBody>
          <a:bodyPr vert="horz" rtlCol="0">
            <a:spAutoFit/>
          </a:bodyPr>
          <a:lstStyle/>
          <a:p>
            <a:r>
              <a:rPr lang="fr-FR" sz="1400" b="1">
                <a:solidFill>
                  <a:srgbClr val="2E2A26"/>
                </a:solidFill>
                <a:latin typeface="Arial" panose="020B0604020202020204" pitchFamily="34" charset="0"/>
              </a:rPr>
              <a:t>Intervenants</a:t>
            </a:r>
          </a:p>
        </p:txBody>
      </p:sp>
      <p:sp>
        <p:nvSpPr>
          <p:cNvPr id="15" name="ZoneTexte 14">
            <a:extLst>
              <a:ext uri="{FF2B5EF4-FFF2-40B4-BE49-F238E27FC236}">
                <a16:creationId xmlns:a16="http://schemas.microsoft.com/office/drawing/2014/main" id="{10963126-838F-4341-5200-CD3458C3A206}"/>
              </a:ext>
            </a:extLst>
          </p:cNvPr>
          <p:cNvSpPr txBox="1"/>
          <p:nvPr/>
        </p:nvSpPr>
        <p:spPr>
          <a:xfrm>
            <a:off x="609600" y="4356100"/>
            <a:ext cx="4953000" cy="461665"/>
          </a:xfrm>
          <a:prstGeom prst="rect">
            <a:avLst/>
          </a:prstGeom>
          <a:noFill/>
        </p:spPr>
        <p:txBody>
          <a:bodyPr vert="horz" rtlCol="0">
            <a:spAutoFit/>
          </a:bodyPr>
          <a:lstStyle/>
          <a:p>
            <a:r>
              <a:rPr lang="fr-FR" sz="1200">
                <a:solidFill>
                  <a:srgbClr val="2E2A26"/>
                </a:solidFill>
                <a:latin typeface="Arial" panose="020B0604020202020204" pitchFamily="34" charset="0"/>
              </a:rPr>
              <a:t>• Sara BEN ALI (Auditeur senior)</a:t>
            </a:r>
          </a:p>
          <a:p>
            <a:r>
              <a:rPr lang="fr-FR" sz="1200">
                <a:solidFill>
                  <a:srgbClr val="2E2A26"/>
                </a:solidFill>
                <a:latin typeface="Arial" panose="020B0604020202020204" pitchFamily="34" charset="0"/>
              </a:rPr>
              <a:t>• Mohamed TRABELSI (DSI)</a:t>
            </a:r>
          </a:p>
        </p:txBody>
      </p:sp>
      <p:sp>
        <p:nvSpPr>
          <p:cNvPr id="16" name="Rectangle 15">
            <a:extLst>
              <a:ext uri="{FF2B5EF4-FFF2-40B4-BE49-F238E27FC236}">
                <a16:creationId xmlns:a16="http://schemas.microsoft.com/office/drawing/2014/main" id="{4F9E16B6-7217-D18D-7CAD-9619BB27A639}"/>
              </a:ext>
            </a:extLst>
          </p:cNvPr>
          <p:cNvSpPr/>
          <p:nvPr/>
        </p:nvSpPr>
        <p:spPr>
          <a:xfrm>
            <a:off x="6019800" y="3873500"/>
            <a:ext cx="5308600" cy="1714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3B366491-699C-2B08-B617-A240357C51A6}"/>
              </a:ext>
            </a:extLst>
          </p:cNvPr>
          <p:cNvSpPr txBox="1"/>
          <p:nvPr/>
        </p:nvSpPr>
        <p:spPr>
          <a:xfrm>
            <a:off x="6197600" y="4000500"/>
            <a:ext cx="50038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Perimetre d'intervention</a:t>
            </a:r>
          </a:p>
        </p:txBody>
      </p:sp>
      <p:sp>
        <p:nvSpPr>
          <p:cNvPr id="18" name="ZoneTexte 17">
            <a:extLst>
              <a:ext uri="{FF2B5EF4-FFF2-40B4-BE49-F238E27FC236}">
                <a16:creationId xmlns:a16="http://schemas.microsoft.com/office/drawing/2014/main" id="{14E8490D-5314-1C97-6A42-69E390136FC1}"/>
              </a:ext>
            </a:extLst>
          </p:cNvPr>
          <p:cNvSpPr txBox="1"/>
          <p:nvPr/>
        </p:nvSpPr>
        <p:spPr>
          <a:xfrm>
            <a:off x="6197600" y="4356100"/>
            <a:ext cx="4953000" cy="1569660"/>
          </a:xfrm>
          <a:prstGeom prst="rect">
            <a:avLst/>
          </a:prstGeom>
          <a:noFill/>
        </p:spPr>
        <p:txBody>
          <a:bodyPr vert="horz" rtlCol="0">
            <a:spAutoFit/>
          </a:bodyPr>
          <a:lstStyle/>
          <a:p>
            <a:r>
              <a:rPr lang="fr-FR" sz="1200">
                <a:solidFill>
                  <a:srgbClr val="2E2A26"/>
                </a:solidFill>
                <a:latin typeface="Arial" panose="020B0604020202020204" pitchFamily="34" charset="0"/>
              </a:rPr>
              <a:t>• Applications: Active Directory, SAP, Oracle, Serveur Backup</a:t>
            </a:r>
          </a:p>
          <a:p>
            <a:r>
              <a:rPr lang="fr-FR" sz="1200">
                <a:solidFill>
                  <a:srgbClr val="2E2A26"/>
                </a:solidFill>
                <a:latin typeface="Arial" panose="020B0604020202020204" pitchFamily="34" charset="0"/>
              </a:rPr>
              <a:t>• Processus: APD, PC, CO</a:t>
            </a:r>
          </a:p>
          <a:p>
            <a:r>
              <a:rPr lang="fr-FR" sz="1200">
                <a:solidFill>
                  <a:srgbClr val="2E2A26"/>
                </a:solidFill>
                <a:latin typeface="Arial" panose="020B0604020202020204" pitchFamily="34" charset="0"/>
              </a:rPr>
              <a:t>• Nos travaux ont porte sur les applications suivantes: Active Directory, SAP, Oracle, Serveur Backup. Le perimetre couvre principalement Gestion des acces aux donnees et aux programmes, Gestion des changements et developpements, Exploitation informatique. Les diligences ont ete realisees au travers d'entretiens, d'analyses documentaires et de tests de controles cibles.</a:t>
            </a:r>
          </a:p>
        </p:txBody>
      </p:sp>
    </p:spTree>
    <p:extLst>
      <p:ext uri="{BB962C8B-B14F-4D97-AF65-F5344CB8AC3E}">
        <p14:creationId xmlns:p14="http://schemas.microsoft.com/office/powerpoint/2010/main" val="36288008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21C54931-49F5-396F-AB2E-C56EED8328D7}"/>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346E09F8-3967-31E8-5E62-9CB523DEF532}"/>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DABBB72-DB67-B24C-434E-719BBD9BFC5C}"/>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F64F9CCE-6414-3C46-2BB0-C84BEA2DCC3B}"/>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Approche des travaux d'audit informatique</a:t>
            </a:r>
          </a:p>
        </p:txBody>
      </p:sp>
      <p:sp>
        <p:nvSpPr>
          <p:cNvPr id="6" name="ZoneTexte 5">
            <a:extLst>
              <a:ext uri="{FF2B5EF4-FFF2-40B4-BE49-F238E27FC236}">
                <a16:creationId xmlns:a16="http://schemas.microsoft.com/office/drawing/2014/main" id="{844C3F0F-215B-E79C-4DE7-A78B79CEE2EB}"/>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Methodologie de reference</a:t>
            </a:r>
          </a:p>
        </p:txBody>
      </p:sp>
      <p:sp>
        <p:nvSpPr>
          <p:cNvPr id="7" name="ZoneTexte 6">
            <a:extLst>
              <a:ext uri="{FF2B5EF4-FFF2-40B4-BE49-F238E27FC236}">
                <a16:creationId xmlns:a16="http://schemas.microsoft.com/office/drawing/2014/main" id="{B135EB0D-E2EC-7E3A-3738-E7827BC58A6E}"/>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03</a:t>
            </a:r>
          </a:p>
        </p:txBody>
      </p:sp>
      <p:sp>
        <p:nvSpPr>
          <p:cNvPr id="8" name="Rectangle 7">
            <a:extLst>
              <a:ext uri="{FF2B5EF4-FFF2-40B4-BE49-F238E27FC236}">
                <a16:creationId xmlns:a16="http://schemas.microsoft.com/office/drawing/2014/main" id="{1C270AB5-A99A-70C5-C4AA-C0D4315A9A95}"/>
              </a:ext>
            </a:extLst>
          </p:cNvPr>
          <p:cNvSpPr/>
          <p:nvPr/>
        </p:nvSpPr>
        <p:spPr>
          <a:xfrm>
            <a:off x="508000" y="1524000"/>
            <a:ext cx="5207000" cy="3810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A3459218-BD2B-8B4B-72FC-FB02B08F451A}"/>
              </a:ext>
            </a:extLst>
          </p:cNvPr>
          <p:cNvSpPr txBox="1"/>
          <p:nvPr/>
        </p:nvSpPr>
        <p:spPr>
          <a:xfrm>
            <a:off x="685800" y="1651000"/>
            <a:ext cx="4902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Approche</a:t>
            </a:r>
          </a:p>
        </p:txBody>
      </p:sp>
      <p:sp>
        <p:nvSpPr>
          <p:cNvPr id="10" name="ZoneTexte 9">
            <a:extLst>
              <a:ext uri="{FF2B5EF4-FFF2-40B4-BE49-F238E27FC236}">
                <a16:creationId xmlns:a16="http://schemas.microsoft.com/office/drawing/2014/main" id="{1490024C-CC1A-DFCC-85A9-24BDA1DF6C53}"/>
              </a:ext>
            </a:extLst>
          </p:cNvPr>
          <p:cNvSpPr txBox="1"/>
          <p:nvPr/>
        </p:nvSpPr>
        <p:spPr>
          <a:xfrm>
            <a:off x="685800" y="2006600"/>
            <a:ext cx="4851400" cy="1754326"/>
          </a:xfrm>
          <a:prstGeom prst="rect">
            <a:avLst/>
          </a:prstGeom>
          <a:noFill/>
        </p:spPr>
        <p:txBody>
          <a:bodyPr vert="horz" rtlCol="0">
            <a:spAutoFit/>
          </a:bodyPr>
          <a:lstStyle/>
          <a:p>
            <a:r>
              <a:rPr lang="fr-FR" sz="1200">
                <a:solidFill>
                  <a:srgbClr val="2E2A26"/>
                </a:solidFill>
                <a:latin typeface="Arial" panose="020B0604020202020204" pitchFamily="34" charset="0"/>
              </a:rPr>
              <a:t>• Prise de connaissance de l'environnement informatique de l'entite et des evolutions significatives de l'exercice.</a:t>
            </a:r>
          </a:p>
          <a:p>
            <a:r>
              <a:rPr lang="fr-FR" sz="1200">
                <a:solidFill>
                  <a:srgbClr val="2E2A26"/>
                </a:solidFill>
                <a:latin typeface="Arial" panose="020B0604020202020204" pitchFamily="34" charset="0"/>
              </a:rPr>
              <a:t>• Entretiens avec les interlocuteurs cles, analyse documentaire et collecte des evidences necessaires a la revue.</a:t>
            </a:r>
          </a:p>
          <a:p>
            <a:r>
              <a:rPr lang="fr-FR" sz="1200">
                <a:solidFill>
                  <a:srgbClr val="2E2A26"/>
                </a:solidFill>
                <a:latin typeface="Arial" panose="020B0604020202020204" pitchFamily="34" charset="0"/>
              </a:rPr>
              <a:t>• Execution de tests de controles par sondage et observation sur les processus de gestion des acces, des changements et de l'exploitation informatique.</a:t>
            </a:r>
          </a:p>
          <a:p>
            <a:r>
              <a:rPr lang="fr-FR" sz="1200">
                <a:solidFill>
                  <a:srgbClr val="2E2A26"/>
                </a:solidFill>
                <a:latin typeface="Arial" panose="020B0604020202020204" pitchFamily="34" charset="0"/>
              </a:rPr>
              <a:t>• Synthese des constats, evaluation du niveau de maitrise et formalisation des recommandations a destination du management.</a:t>
            </a:r>
          </a:p>
        </p:txBody>
      </p:sp>
      <p:sp>
        <p:nvSpPr>
          <p:cNvPr id="11" name="Rectangle 10">
            <a:extLst>
              <a:ext uri="{FF2B5EF4-FFF2-40B4-BE49-F238E27FC236}">
                <a16:creationId xmlns:a16="http://schemas.microsoft.com/office/drawing/2014/main" id="{F396304D-6946-C799-0239-54D7D3C7CB9D}"/>
              </a:ext>
            </a:extLst>
          </p:cNvPr>
          <p:cNvSpPr/>
          <p:nvPr/>
        </p:nvSpPr>
        <p:spPr>
          <a:xfrm>
            <a:off x="6223000" y="1524000"/>
            <a:ext cx="52070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2" name="ZoneTexte 11">
            <a:extLst>
              <a:ext uri="{FF2B5EF4-FFF2-40B4-BE49-F238E27FC236}">
                <a16:creationId xmlns:a16="http://schemas.microsoft.com/office/drawing/2014/main" id="{9709C477-3CEC-1225-84C2-642BC06D072F}"/>
              </a:ext>
            </a:extLst>
          </p:cNvPr>
          <p:cNvSpPr txBox="1"/>
          <p:nvPr/>
        </p:nvSpPr>
        <p:spPr>
          <a:xfrm>
            <a:off x="6400800" y="1651000"/>
            <a:ext cx="4902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Points forts</a:t>
            </a:r>
          </a:p>
        </p:txBody>
      </p:sp>
      <p:sp>
        <p:nvSpPr>
          <p:cNvPr id="13" name="ZoneTexte 12">
            <a:extLst>
              <a:ext uri="{FF2B5EF4-FFF2-40B4-BE49-F238E27FC236}">
                <a16:creationId xmlns:a16="http://schemas.microsoft.com/office/drawing/2014/main" id="{5E310684-EB82-0F91-61CC-ACAABF75DC09}"/>
              </a:ext>
            </a:extLst>
          </p:cNvPr>
          <p:cNvSpPr txBox="1"/>
          <p:nvPr/>
        </p:nvSpPr>
        <p:spPr>
          <a:xfrm>
            <a:off x="6400800" y="2006600"/>
            <a:ext cx="4851400" cy="1200329"/>
          </a:xfrm>
          <a:prstGeom prst="rect">
            <a:avLst/>
          </a:prstGeom>
          <a:noFill/>
        </p:spPr>
        <p:txBody>
          <a:bodyPr vert="horz" rtlCol="0">
            <a:spAutoFit/>
          </a:bodyPr>
          <a:lstStyle/>
          <a:p>
            <a:r>
              <a:rPr lang="fr-FR" sz="1200">
                <a:solidFill>
                  <a:srgbClr val="2E2A26"/>
                </a:solidFill>
                <a:latin typeface="Arial" panose="020B0604020202020204" pitchFamily="34" charset="0"/>
              </a:rPr>
              <a:t>• Le perimetre de mission et les processus cibles sont clairement identifies dans la feuille Mission.</a:t>
            </a:r>
          </a:p>
          <a:p>
            <a:r>
              <a:rPr lang="fr-FR" sz="1200">
                <a:solidFill>
                  <a:srgbClr val="2E2A26"/>
                </a:solidFill>
                <a:latin typeface="Arial" panose="020B0604020202020204" pitchFamily="34" charset="0"/>
              </a:rPr>
              <a:t>• Des procedures compensatoires existent sur plusieurs constats, ce qui traduit une prise en compte partielle des risques.</a:t>
            </a:r>
          </a:p>
          <a:p>
            <a:r>
              <a:rPr lang="fr-FR" sz="1200">
                <a:solidFill>
                  <a:srgbClr val="2E2A26"/>
                </a:solidFill>
                <a:latin typeface="Arial" panose="020B0604020202020204" pitchFamily="34" charset="0"/>
              </a:rPr>
              <a:t>• Les interlocuteurs cles de la mission sont identifies, facilitant la gouvernance des plans d'action.</a:t>
            </a:r>
          </a:p>
        </p:txBody>
      </p:sp>
      <p:sp>
        <p:nvSpPr>
          <p:cNvPr id="14" name="Rectangle 13">
            <a:extLst>
              <a:ext uri="{FF2B5EF4-FFF2-40B4-BE49-F238E27FC236}">
                <a16:creationId xmlns:a16="http://schemas.microsoft.com/office/drawing/2014/main" id="{F236D926-38C1-A01C-B496-900CEBE8382D}"/>
              </a:ext>
            </a:extLst>
          </p:cNvPr>
          <p:cNvSpPr/>
          <p:nvPr/>
        </p:nvSpPr>
        <p:spPr>
          <a:xfrm>
            <a:off x="6223000" y="3556000"/>
            <a:ext cx="52070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E72FE52F-7C8B-E774-DC98-D5EB13A02010}"/>
              </a:ext>
            </a:extLst>
          </p:cNvPr>
          <p:cNvSpPr txBox="1"/>
          <p:nvPr/>
        </p:nvSpPr>
        <p:spPr>
          <a:xfrm>
            <a:off x="6400800" y="3683000"/>
            <a:ext cx="4902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Points d'attention</a:t>
            </a:r>
          </a:p>
        </p:txBody>
      </p:sp>
      <p:sp>
        <p:nvSpPr>
          <p:cNvPr id="16" name="ZoneTexte 15">
            <a:extLst>
              <a:ext uri="{FF2B5EF4-FFF2-40B4-BE49-F238E27FC236}">
                <a16:creationId xmlns:a16="http://schemas.microsoft.com/office/drawing/2014/main" id="{9A7A5B47-E2A8-8BED-2C79-3F596D1A13AE}"/>
              </a:ext>
            </a:extLst>
          </p:cNvPr>
          <p:cNvSpPr txBox="1"/>
          <p:nvPr/>
        </p:nvSpPr>
        <p:spPr>
          <a:xfrm>
            <a:off x="6400800" y="4038600"/>
            <a:ext cx="4851400" cy="1938992"/>
          </a:xfrm>
          <a:prstGeom prst="rect">
            <a:avLst/>
          </a:prstGeom>
          <a:noFill/>
        </p:spPr>
        <p:txBody>
          <a:bodyPr vert="horz" rtlCol="0">
            <a:spAutoFit/>
          </a:bodyPr>
          <a:lstStyle/>
          <a:p>
            <a:r>
              <a:rPr lang="fr-FR" sz="1200">
                <a:solidFill>
                  <a:srgbClr val="2E2A26"/>
                </a:solidFill>
                <a:latin typeface="Arial" panose="020B0604020202020204" pitchFamily="34" charset="0"/>
              </a:rPr>
              <a:t>• APD-01 - Comptes actifs après départ employés: 5 comptes utilisateurs restent actifs après départ; 1 connexion post-départ détectée. Impact potentiel: Accès non autorisé et risque de fuite de données.</a:t>
            </a:r>
          </a:p>
          <a:p>
            <a:r>
              <a:rPr lang="fr-FR" sz="1200">
                <a:solidFill>
                  <a:srgbClr val="2E2A26"/>
                </a:solidFill>
                <a:latin typeface="Arial" panose="020B0604020202020204" pitchFamily="34" charset="0"/>
              </a:rPr>
              <a:t>• APD-02 - Absence de validation des accès: 8 comptes créés sans validation. Impact potentiel: Risque de fraude ou erreur.</a:t>
            </a:r>
          </a:p>
          <a:p>
            <a:r>
              <a:rPr lang="fr-FR" sz="1200">
                <a:solidFill>
                  <a:srgbClr val="2E2A26"/>
                </a:solidFill>
                <a:latin typeface="Arial" panose="020B0604020202020204" pitchFamily="34" charset="0"/>
              </a:rPr>
              <a:t>• CO-01 - Absence de test de restauration: Aucun test sur 12 mois. Impact potentiel: Risque perte de données.</a:t>
            </a:r>
          </a:p>
          <a:p>
            <a:r>
              <a:rPr lang="fr-FR" sz="1200">
                <a:solidFill>
                  <a:srgbClr val="2E2A26"/>
                </a:solidFill>
                <a:latin typeface="Arial" panose="020B0604020202020204" pitchFamily="34" charset="0"/>
              </a:rPr>
              <a:t>• PC-01 - Changements non validés: 3 changements déployés sans validation. Impact potentiel: Instabilité système.</a:t>
            </a:r>
          </a:p>
        </p:txBody>
      </p:sp>
    </p:spTree>
    <p:extLst>
      <p:ext uri="{BB962C8B-B14F-4D97-AF65-F5344CB8AC3E}">
        <p14:creationId xmlns:p14="http://schemas.microsoft.com/office/powerpoint/2010/main" val="41887169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4BBEFED-491E-8BFB-6BF7-A6633F5DEB4F}"/>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5DFD18CD-948B-D3AD-5553-166CA2A36318}"/>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7E12CA75-EB8C-4DC5-9D0B-BC6E4EDE9B22}"/>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4B996B7B-9D66-ACA1-7B55-1D28F7B4DE71}"/>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Liste des controles couverts</a:t>
            </a:r>
          </a:p>
        </p:txBody>
      </p:sp>
      <p:sp>
        <p:nvSpPr>
          <p:cNvPr id="6" name="ZoneTexte 5">
            <a:extLst>
              <a:ext uri="{FF2B5EF4-FFF2-40B4-BE49-F238E27FC236}">
                <a16:creationId xmlns:a16="http://schemas.microsoft.com/office/drawing/2014/main" id="{59D8449C-F48A-AA4E-9695-DF027DFA3C81}"/>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Gestion des acces aux donnees et aux programmes</a:t>
            </a:r>
          </a:p>
        </p:txBody>
      </p:sp>
      <p:sp>
        <p:nvSpPr>
          <p:cNvPr id="7" name="ZoneTexte 6">
            <a:extLst>
              <a:ext uri="{FF2B5EF4-FFF2-40B4-BE49-F238E27FC236}">
                <a16:creationId xmlns:a16="http://schemas.microsoft.com/office/drawing/2014/main" id="{2B403F4C-A5FC-948D-0566-4095255A1786}"/>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04</a:t>
            </a:r>
          </a:p>
        </p:txBody>
      </p:sp>
      <p:sp>
        <p:nvSpPr>
          <p:cNvPr id="8" name="Rectangle 7">
            <a:extLst>
              <a:ext uri="{FF2B5EF4-FFF2-40B4-BE49-F238E27FC236}">
                <a16:creationId xmlns:a16="http://schemas.microsoft.com/office/drawing/2014/main" id="{B4E5B021-1BFE-5FF9-A277-903C355419CD}"/>
              </a:ext>
            </a:extLst>
          </p:cNvPr>
          <p:cNvSpPr/>
          <p:nvPr/>
        </p:nvSpPr>
        <p:spPr>
          <a:xfrm>
            <a:off x="431800" y="1473200"/>
            <a:ext cx="10922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F83CD5DA-5E5D-295A-FA68-9345CCD8FD93}"/>
              </a:ext>
            </a:extLst>
          </p:cNvPr>
          <p:cNvSpPr txBox="1"/>
          <p:nvPr/>
        </p:nvSpPr>
        <p:spPr>
          <a:xfrm>
            <a:off x="609600" y="16002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Gestion des acces aux donnees et aux programmes</a:t>
            </a:r>
          </a:p>
        </p:txBody>
      </p:sp>
      <p:sp>
        <p:nvSpPr>
          <p:cNvPr id="10" name="ZoneTexte 9">
            <a:extLst>
              <a:ext uri="{FF2B5EF4-FFF2-40B4-BE49-F238E27FC236}">
                <a16:creationId xmlns:a16="http://schemas.microsoft.com/office/drawing/2014/main" id="{D3B76242-74EB-8168-CE6D-3B318FFD25A2}"/>
              </a:ext>
            </a:extLst>
          </p:cNvPr>
          <p:cNvSpPr txBox="1"/>
          <p:nvPr/>
        </p:nvSpPr>
        <p:spPr>
          <a:xfrm>
            <a:off x="609600" y="1955800"/>
            <a:ext cx="10566400" cy="1938992"/>
          </a:xfrm>
          <a:prstGeom prst="rect">
            <a:avLst/>
          </a:prstGeom>
          <a:noFill/>
        </p:spPr>
        <p:txBody>
          <a:bodyPr vert="horz" rtlCol="0">
            <a:spAutoFit/>
          </a:bodyPr>
          <a:lstStyle/>
          <a:p>
            <a:r>
              <a:rPr lang="fr-FR" sz="1200">
                <a:solidFill>
                  <a:srgbClr val="2E2A26"/>
                </a:solidFill>
                <a:latin typeface="Arial" panose="020B0604020202020204" pitchFamily="34" charset="0"/>
              </a:rPr>
              <a:t>• APD-01 | Les demandes d'acces aux applications du systeme d'information sont autorisees et validees par le management. | Procedure de test: Verifier l'existence d'une validation formelle des creations et modifications d'acces.</a:t>
            </a:r>
          </a:p>
          <a:p>
            <a:r>
              <a:rPr lang="fr-FR" sz="1200">
                <a:solidFill>
                  <a:srgbClr val="2E2A26"/>
                </a:solidFill>
                <a:latin typeface="Arial" panose="020B0604020202020204" pitchFamily="34" charset="0"/>
              </a:rPr>
              <a:t>• APD-02 | Les droits d'acces des utilisateurs quittant l'entite sont retires en temps opportun. | Procedure de test: Comparer les departs / mobilites aux comptes toujours actifs dans les applications et infrastructures.</a:t>
            </a:r>
          </a:p>
          <a:p>
            <a:r>
              <a:rPr lang="fr-FR" sz="1200">
                <a:solidFill>
                  <a:srgbClr val="2E2A26"/>
                </a:solidFill>
                <a:latin typeface="Arial" panose="020B0604020202020204" pitchFamily="34" charset="0"/>
              </a:rPr>
              <a:t>• APD-03 | Les droits et transactions sensibles sont revus periodiquement. | Procedure de test: S'assurer qu'une revue periodique des acces et privileges etendus est planifiee et documentee.</a:t>
            </a:r>
          </a:p>
          <a:p>
            <a:r>
              <a:rPr lang="fr-FR" sz="1200">
                <a:solidFill>
                  <a:srgbClr val="2E2A26"/>
                </a:solidFill>
                <a:latin typeface="Arial" panose="020B0604020202020204" pitchFamily="34" charset="0"/>
              </a:rPr>
              <a:t>• APD-04 | Les comptes privilegies et generiques font l'objet d'un suivi adapte. | Procedure de test: Verifier l'encadrement des comptes d'administration et la surveillance des activites sensibles.</a:t>
            </a:r>
          </a:p>
          <a:p>
            <a:r>
              <a:rPr lang="fr-FR" sz="1200">
                <a:solidFill>
                  <a:srgbClr val="2E2A26"/>
                </a:solidFill>
                <a:latin typeface="Arial" panose="020B0604020202020204" pitchFamily="34" charset="0"/>
              </a:rPr>
              <a:t>• APD-05 | Les parametres de securite et mots de passe sont conformes aux politiques en vigueur. | Procedure de test: Revoir la configuration des parametres de securite et l'alignement avec la politique de securite.</a:t>
            </a:r>
          </a:p>
        </p:txBody>
      </p:sp>
    </p:spTree>
    <p:extLst>
      <p:ext uri="{BB962C8B-B14F-4D97-AF65-F5344CB8AC3E}">
        <p14:creationId xmlns:p14="http://schemas.microsoft.com/office/powerpoint/2010/main" val="246807669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914470E-5E95-2E04-8B37-39A301E882EA}"/>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3420B72C-3472-8F1E-D728-53A26E6C0177}"/>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566B862-E83F-12DB-660B-06BA8F31915B}"/>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0A172B6C-50D4-33F3-A3A0-3A461FC97ECD}"/>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Liste des controles couverts</a:t>
            </a:r>
          </a:p>
        </p:txBody>
      </p:sp>
      <p:sp>
        <p:nvSpPr>
          <p:cNvPr id="6" name="ZoneTexte 5">
            <a:extLst>
              <a:ext uri="{FF2B5EF4-FFF2-40B4-BE49-F238E27FC236}">
                <a16:creationId xmlns:a16="http://schemas.microsoft.com/office/drawing/2014/main" id="{7A18364E-BDFF-1635-9896-EAC9294B1758}"/>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Gestion des changements et developpements</a:t>
            </a:r>
          </a:p>
        </p:txBody>
      </p:sp>
      <p:sp>
        <p:nvSpPr>
          <p:cNvPr id="7" name="ZoneTexte 6">
            <a:extLst>
              <a:ext uri="{FF2B5EF4-FFF2-40B4-BE49-F238E27FC236}">
                <a16:creationId xmlns:a16="http://schemas.microsoft.com/office/drawing/2014/main" id="{B58E25A7-7112-F2F3-C1C8-FC5B5D510589}"/>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05</a:t>
            </a:r>
          </a:p>
        </p:txBody>
      </p:sp>
      <p:sp>
        <p:nvSpPr>
          <p:cNvPr id="8" name="Rectangle 7">
            <a:extLst>
              <a:ext uri="{FF2B5EF4-FFF2-40B4-BE49-F238E27FC236}">
                <a16:creationId xmlns:a16="http://schemas.microsoft.com/office/drawing/2014/main" id="{678347C6-1A68-9EC1-454B-63A8D1F2F401}"/>
              </a:ext>
            </a:extLst>
          </p:cNvPr>
          <p:cNvSpPr/>
          <p:nvPr/>
        </p:nvSpPr>
        <p:spPr>
          <a:xfrm>
            <a:off x="431800" y="1473200"/>
            <a:ext cx="10922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7DDD994E-C499-B2EE-706B-BEEFDE8F2E6F}"/>
              </a:ext>
            </a:extLst>
          </p:cNvPr>
          <p:cNvSpPr txBox="1"/>
          <p:nvPr/>
        </p:nvSpPr>
        <p:spPr>
          <a:xfrm>
            <a:off x="609600" y="16002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Gestion des changements et developpements</a:t>
            </a:r>
          </a:p>
        </p:txBody>
      </p:sp>
      <p:sp>
        <p:nvSpPr>
          <p:cNvPr id="10" name="ZoneTexte 9">
            <a:extLst>
              <a:ext uri="{FF2B5EF4-FFF2-40B4-BE49-F238E27FC236}">
                <a16:creationId xmlns:a16="http://schemas.microsoft.com/office/drawing/2014/main" id="{AACDFC5D-FFA5-D0FF-2D19-D1DBD0252BFE}"/>
              </a:ext>
            </a:extLst>
          </p:cNvPr>
          <p:cNvSpPr txBox="1"/>
          <p:nvPr/>
        </p:nvSpPr>
        <p:spPr>
          <a:xfrm>
            <a:off x="609600" y="1955800"/>
            <a:ext cx="10566400" cy="830997"/>
          </a:xfrm>
          <a:prstGeom prst="rect">
            <a:avLst/>
          </a:prstGeom>
          <a:noFill/>
        </p:spPr>
        <p:txBody>
          <a:bodyPr vert="horz" rtlCol="0">
            <a:spAutoFit/>
          </a:bodyPr>
          <a:lstStyle/>
          <a:p>
            <a:r>
              <a:rPr lang="fr-FR" sz="1200">
                <a:solidFill>
                  <a:srgbClr val="2E2A26"/>
                </a:solidFill>
                <a:latin typeface="Arial" panose="020B0604020202020204" pitchFamily="34" charset="0"/>
              </a:rPr>
              <a:t>• PC-01 | Les changements applicatifs sont testes et valides avant mise en production. | Procedure de test: Examiner un echantillon de changements et verifier les validations prealables a la mise en production.</a:t>
            </a:r>
          </a:p>
          <a:p>
            <a:r>
              <a:rPr lang="fr-FR" sz="1200">
                <a:solidFill>
                  <a:srgbClr val="2E2A26"/>
                </a:solidFill>
                <a:latin typeface="Arial" panose="020B0604020202020204" pitchFamily="34" charset="0"/>
              </a:rPr>
              <a:t>• PC-02 | Les environnements de developpement, de test et de production sont separes. | Procedure de test: Confirmer la separation logique et organisationnelle entre les environnements.</a:t>
            </a:r>
          </a:p>
        </p:txBody>
      </p:sp>
    </p:spTree>
    <p:extLst>
      <p:ext uri="{BB962C8B-B14F-4D97-AF65-F5344CB8AC3E}">
        <p14:creationId xmlns:p14="http://schemas.microsoft.com/office/powerpoint/2010/main" val="25160868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EAFDEA03-FF22-05B1-539C-F42D4810489C}"/>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D8790010-9144-B617-9281-7B87BE0CDF2D}"/>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E9FB33B9-D83C-196C-35E3-9C291021D610}"/>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4C5B18D5-59A7-F79B-0922-4E2AC6FDF25C}"/>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Liste des controles couverts</a:t>
            </a:r>
          </a:p>
        </p:txBody>
      </p:sp>
      <p:sp>
        <p:nvSpPr>
          <p:cNvPr id="6" name="ZoneTexte 5">
            <a:extLst>
              <a:ext uri="{FF2B5EF4-FFF2-40B4-BE49-F238E27FC236}">
                <a16:creationId xmlns:a16="http://schemas.microsoft.com/office/drawing/2014/main" id="{295423E7-A621-FF7F-8586-13C5374ECDC2}"/>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Exploitation informatique</a:t>
            </a:r>
          </a:p>
        </p:txBody>
      </p:sp>
      <p:sp>
        <p:nvSpPr>
          <p:cNvPr id="7" name="ZoneTexte 6">
            <a:extLst>
              <a:ext uri="{FF2B5EF4-FFF2-40B4-BE49-F238E27FC236}">
                <a16:creationId xmlns:a16="http://schemas.microsoft.com/office/drawing/2014/main" id="{434766A1-406A-70BA-929C-1AF0DFD798C4}"/>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06</a:t>
            </a:r>
          </a:p>
        </p:txBody>
      </p:sp>
      <p:sp>
        <p:nvSpPr>
          <p:cNvPr id="8" name="Rectangle 7">
            <a:extLst>
              <a:ext uri="{FF2B5EF4-FFF2-40B4-BE49-F238E27FC236}">
                <a16:creationId xmlns:a16="http://schemas.microsoft.com/office/drawing/2014/main" id="{3EFF5EDB-A6ED-C734-025C-95761D4DFA5E}"/>
              </a:ext>
            </a:extLst>
          </p:cNvPr>
          <p:cNvSpPr/>
          <p:nvPr/>
        </p:nvSpPr>
        <p:spPr>
          <a:xfrm>
            <a:off x="431800" y="1473200"/>
            <a:ext cx="10922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BE30336B-7DB6-9CD4-4AB1-5CE72B74571A}"/>
              </a:ext>
            </a:extLst>
          </p:cNvPr>
          <p:cNvSpPr txBox="1"/>
          <p:nvPr/>
        </p:nvSpPr>
        <p:spPr>
          <a:xfrm>
            <a:off x="609600" y="16002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Exploitation informatique</a:t>
            </a:r>
          </a:p>
        </p:txBody>
      </p:sp>
      <p:sp>
        <p:nvSpPr>
          <p:cNvPr id="10" name="ZoneTexte 9">
            <a:extLst>
              <a:ext uri="{FF2B5EF4-FFF2-40B4-BE49-F238E27FC236}">
                <a16:creationId xmlns:a16="http://schemas.microsoft.com/office/drawing/2014/main" id="{EEB9D4D0-B190-7577-8CC2-CA138DCACA7C}"/>
              </a:ext>
            </a:extLst>
          </p:cNvPr>
          <p:cNvSpPr txBox="1"/>
          <p:nvPr/>
        </p:nvSpPr>
        <p:spPr>
          <a:xfrm>
            <a:off x="609600" y="1955800"/>
            <a:ext cx="10566400" cy="1200329"/>
          </a:xfrm>
          <a:prstGeom prst="rect">
            <a:avLst/>
          </a:prstGeom>
          <a:noFill/>
        </p:spPr>
        <p:txBody>
          <a:bodyPr vert="horz" rtlCol="0">
            <a:spAutoFit/>
          </a:bodyPr>
          <a:lstStyle/>
          <a:p>
            <a:r>
              <a:rPr lang="fr-FR" sz="1200">
                <a:solidFill>
                  <a:srgbClr val="2E2A26"/>
                </a:solidFill>
                <a:latin typeface="Arial" panose="020B0604020202020204" pitchFamily="34" charset="0"/>
              </a:rPr>
              <a:t>• CO-01 | Les sauvegardes sont realisees et regulierement testees. | Procedure de test: Verifier la periodicite des sauvegardes et la realisation de tests de restauration.</a:t>
            </a:r>
          </a:p>
          <a:p>
            <a:r>
              <a:rPr lang="fr-FR" sz="1200">
                <a:solidFill>
                  <a:srgbClr val="2E2A26"/>
                </a:solidFill>
                <a:latin typeface="Arial" panose="020B0604020202020204" pitchFamily="34" charset="0"/>
              </a:rPr>
              <a:t>• CO-02 | Les incidents de production sont identifies, traces et resolus dans des delais appropries. | Procedure de test: Analyser le suivi des incidents et les delais de resolution associes.</a:t>
            </a:r>
          </a:p>
          <a:p>
            <a:r>
              <a:rPr lang="fr-FR" sz="1200">
                <a:solidFill>
                  <a:srgbClr val="2E2A26"/>
                </a:solidFill>
                <a:latin typeface="Arial" panose="020B0604020202020204" pitchFamily="34" charset="0"/>
              </a:rPr>
              <a:t>• CO-03 | Les prestations informatiques externalisees font l'objet d'un suivi adapte. | Procedure de test: Examiner les mecanismes de pilotage et de controle des prestataires IT externes.</a:t>
            </a:r>
          </a:p>
        </p:txBody>
      </p:sp>
    </p:spTree>
    <p:extLst>
      <p:ext uri="{BB962C8B-B14F-4D97-AF65-F5344CB8AC3E}">
        <p14:creationId xmlns:p14="http://schemas.microsoft.com/office/powerpoint/2010/main" val="32084647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4B056CD-E736-A43C-965F-BA6656B81CFC}"/>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C7F0616-1238-F68C-A690-F613F82F9040}"/>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00876E4F-2735-3202-58E1-AAC58A7DE67D}"/>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95E41B6B-9746-AA45-F197-AB7F5E488BE7}"/>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Synthese generale</a:t>
            </a:r>
          </a:p>
        </p:txBody>
      </p:sp>
      <p:sp>
        <p:nvSpPr>
          <p:cNvPr id="6" name="ZoneTexte 5">
            <a:extLst>
              <a:ext uri="{FF2B5EF4-FFF2-40B4-BE49-F238E27FC236}">
                <a16:creationId xmlns:a16="http://schemas.microsoft.com/office/drawing/2014/main" id="{4BCA200A-472A-7916-7625-6C04191240B6}"/>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Vue d'ensemble du dispositif audite</a:t>
            </a:r>
          </a:p>
        </p:txBody>
      </p:sp>
      <p:sp>
        <p:nvSpPr>
          <p:cNvPr id="7" name="ZoneTexte 6">
            <a:extLst>
              <a:ext uri="{FF2B5EF4-FFF2-40B4-BE49-F238E27FC236}">
                <a16:creationId xmlns:a16="http://schemas.microsoft.com/office/drawing/2014/main" id="{5F72D1FD-C0C9-40AF-FFB6-605AFEBF3C39}"/>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07</a:t>
            </a:r>
          </a:p>
        </p:txBody>
      </p:sp>
      <p:sp>
        <p:nvSpPr>
          <p:cNvPr id="8" name="Rectangle 7">
            <a:extLst>
              <a:ext uri="{FF2B5EF4-FFF2-40B4-BE49-F238E27FC236}">
                <a16:creationId xmlns:a16="http://schemas.microsoft.com/office/drawing/2014/main" id="{272F3084-75B9-4AEE-06C0-C7937A67984F}"/>
              </a:ext>
            </a:extLst>
          </p:cNvPr>
          <p:cNvSpPr/>
          <p:nvPr/>
        </p:nvSpPr>
        <p:spPr>
          <a:xfrm>
            <a:off x="355600" y="1422400"/>
            <a:ext cx="2667000" cy="1397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67AB8FC4-E569-DF71-8C17-4AA65DD6B980}"/>
              </a:ext>
            </a:extLst>
          </p:cNvPr>
          <p:cNvSpPr txBox="1"/>
          <p:nvPr/>
        </p:nvSpPr>
        <p:spPr>
          <a:xfrm>
            <a:off x="533400" y="1600200"/>
            <a:ext cx="2311400" cy="261610"/>
          </a:xfrm>
          <a:prstGeom prst="rect">
            <a:avLst/>
          </a:prstGeom>
          <a:noFill/>
        </p:spPr>
        <p:txBody>
          <a:bodyPr vert="horz" rtlCol="0">
            <a:spAutoFit/>
          </a:bodyPr>
          <a:lstStyle/>
          <a:p>
            <a:r>
              <a:rPr lang="fr-FR" sz="1100" b="1">
                <a:solidFill>
                  <a:srgbClr val="7A726B"/>
                </a:solidFill>
                <a:latin typeface="Arial" panose="020B0604020202020204" pitchFamily="34" charset="0"/>
              </a:rPr>
              <a:t>Applications auditees</a:t>
            </a:r>
          </a:p>
        </p:txBody>
      </p:sp>
      <p:sp>
        <p:nvSpPr>
          <p:cNvPr id="10" name="ZoneTexte 9">
            <a:extLst>
              <a:ext uri="{FF2B5EF4-FFF2-40B4-BE49-F238E27FC236}">
                <a16:creationId xmlns:a16="http://schemas.microsoft.com/office/drawing/2014/main" id="{616C3DFC-B098-629C-3843-BD128901582A}"/>
              </a:ext>
            </a:extLst>
          </p:cNvPr>
          <p:cNvSpPr txBox="1"/>
          <p:nvPr/>
        </p:nvSpPr>
        <p:spPr>
          <a:xfrm>
            <a:off x="533400" y="1930400"/>
            <a:ext cx="2311400" cy="461665"/>
          </a:xfrm>
          <a:prstGeom prst="rect">
            <a:avLst/>
          </a:prstGeom>
          <a:noFill/>
        </p:spPr>
        <p:txBody>
          <a:bodyPr vert="horz" rtlCol="0">
            <a:spAutoFit/>
          </a:bodyPr>
          <a:lstStyle/>
          <a:p>
            <a:r>
              <a:rPr lang="fr-FR" sz="2400" b="1">
                <a:solidFill>
                  <a:srgbClr val="005FEB"/>
                </a:solidFill>
                <a:latin typeface="Arial" panose="020B0604020202020204" pitchFamily="34" charset="0"/>
              </a:rPr>
              <a:t>4</a:t>
            </a:r>
          </a:p>
        </p:txBody>
      </p:sp>
      <p:sp>
        <p:nvSpPr>
          <p:cNvPr id="11" name="ZoneTexte 10">
            <a:extLst>
              <a:ext uri="{FF2B5EF4-FFF2-40B4-BE49-F238E27FC236}">
                <a16:creationId xmlns:a16="http://schemas.microsoft.com/office/drawing/2014/main" id="{6C6DD9D5-E7BF-1BFE-6E1D-CB9D6C68AC6E}"/>
              </a:ext>
            </a:extLst>
          </p:cNvPr>
          <p:cNvSpPr txBox="1"/>
          <p:nvPr/>
        </p:nvSpPr>
        <p:spPr>
          <a:xfrm>
            <a:off x="533400" y="2413000"/>
            <a:ext cx="2311400" cy="369332"/>
          </a:xfrm>
          <a:prstGeom prst="rect">
            <a:avLst/>
          </a:prstGeom>
          <a:noFill/>
        </p:spPr>
        <p:txBody>
          <a:bodyPr vert="horz" rtlCol="0">
            <a:spAutoFit/>
          </a:bodyPr>
          <a:lstStyle/>
          <a:p>
            <a:r>
              <a:rPr lang="fr-FR" sz="900">
                <a:solidFill>
                  <a:srgbClr val="7A726B"/>
                </a:solidFill>
                <a:latin typeface="Arial" panose="020B0604020202020204" pitchFamily="34" charset="0"/>
              </a:rPr>
              <a:t>Active Directory, SAP, Oracle, Serveur Backup</a:t>
            </a:r>
          </a:p>
        </p:txBody>
      </p:sp>
      <p:sp>
        <p:nvSpPr>
          <p:cNvPr id="12" name="Rectangle 11">
            <a:extLst>
              <a:ext uri="{FF2B5EF4-FFF2-40B4-BE49-F238E27FC236}">
                <a16:creationId xmlns:a16="http://schemas.microsoft.com/office/drawing/2014/main" id="{403A7AB9-751B-5A85-EE61-506B765C4412}"/>
              </a:ext>
            </a:extLst>
          </p:cNvPr>
          <p:cNvSpPr/>
          <p:nvPr/>
        </p:nvSpPr>
        <p:spPr>
          <a:xfrm>
            <a:off x="3251200" y="1422400"/>
            <a:ext cx="2667000" cy="1397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2FA9BC42-E14E-49E0-FCE8-D2D1168B9895}"/>
              </a:ext>
            </a:extLst>
          </p:cNvPr>
          <p:cNvSpPr txBox="1"/>
          <p:nvPr/>
        </p:nvSpPr>
        <p:spPr>
          <a:xfrm>
            <a:off x="3429000" y="1600200"/>
            <a:ext cx="2311400" cy="261610"/>
          </a:xfrm>
          <a:prstGeom prst="rect">
            <a:avLst/>
          </a:prstGeom>
          <a:noFill/>
        </p:spPr>
        <p:txBody>
          <a:bodyPr vert="horz" rtlCol="0">
            <a:spAutoFit/>
          </a:bodyPr>
          <a:lstStyle/>
          <a:p>
            <a:r>
              <a:rPr lang="fr-FR" sz="1100" b="1">
                <a:solidFill>
                  <a:srgbClr val="7A726B"/>
                </a:solidFill>
                <a:latin typeface="Arial" panose="020B0604020202020204" pitchFamily="34" charset="0"/>
              </a:rPr>
              <a:t>Observations relevees</a:t>
            </a:r>
          </a:p>
        </p:txBody>
      </p:sp>
      <p:sp>
        <p:nvSpPr>
          <p:cNvPr id="14" name="ZoneTexte 13">
            <a:extLst>
              <a:ext uri="{FF2B5EF4-FFF2-40B4-BE49-F238E27FC236}">
                <a16:creationId xmlns:a16="http://schemas.microsoft.com/office/drawing/2014/main" id="{E3215ACA-E772-FD07-15B8-0CE5ADA0E9C0}"/>
              </a:ext>
            </a:extLst>
          </p:cNvPr>
          <p:cNvSpPr txBox="1"/>
          <p:nvPr/>
        </p:nvSpPr>
        <p:spPr>
          <a:xfrm>
            <a:off x="3429000" y="1930400"/>
            <a:ext cx="2311400" cy="461665"/>
          </a:xfrm>
          <a:prstGeom prst="rect">
            <a:avLst/>
          </a:prstGeom>
          <a:noFill/>
        </p:spPr>
        <p:txBody>
          <a:bodyPr vert="horz" rtlCol="0">
            <a:spAutoFit/>
          </a:bodyPr>
          <a:lstStyle/>
          <a:p>
            <a:r>
              <a:rPr lang="fr-FR" sz="2400" b="1">
                <a:solidFill>
                  <a:srgbClr val="005FEB"/>
                </a:solidFill>
                <a:latin typeface="Arial" panose="020B0604020202020204" pitchFamily="34" charset="0"/>
              </a:rPr>
              <a:t>4</a:t>
            </a:r>
          </a:p>
        </p:txBody>
      </p:sp>
      <p:sp>
        <p:nvSpPr>
          <p:cNvPr id="15" name="ZoneTexte 14">
            <a:extLst>
              <a:ext uri="{FF2B5EF4-FFF2-40B4-BE49-F238E27FC236}">
                <a16:creationId xmlns:a16="http://schemas.microsoft.com/office/drawing/2014/main" id="{55941C07-9103-4C8F-8516-A213EF4A126A}"/>
              </a:ext>
            </a:extLst>
          </p:cNvPr>
          <p:cNvSpPr txBox="1"/>
          <p:nvPr/>
        </p:nvSpPr>
        <p:spPr>
          <a:xfrm>
            <a:off x="3429000" y="2413000"/>
            <a:ext cx="2311400" cy="369332"/>
          </a:xfrm>
          <a:prstGeom prst="rect">
            <a:avLst/>
          </a:prstGeom>
          <a:noFill/>
        </p:spPr>
        <p:txBody>
          <a:bodyPr vert="horz" rtlCol="0">
            <a:spAutoFit/>
          </a:bodyPr>
          <a:lstStyle/>
          <a:p>
            <a:r>
              <a:rPr lang="fr-FR" sz="900">
                <a:solidFill>
                  <a:srgbClr val="7A726B"/>
                </a:solidFill>
                <a:latin typeface="Arial" panose="020B0604020202020204" pitchFamily="34" charset="0"/>
              </a:rPr>
              <a:t>Constats valides issus de la feuille Observations</a:t>
            </a:r>
          </a:p>
        </p:txBody>
      </p:sp>
      <p:sp>
        <p:nvSpPr>
          <p:cNvPr id="16" name="Rectangle 15">
            <a:extLst>
              <a:ext uri="{FF2B5EF4-FFF2-40B4-BE49-F238E27FC236}">
                <a16:creationId xmlns:a16="http://schemas.microsoft.com/office/drawing/2014/main" id="{D0D1741F-5758-032F-A77C-1EDA03365AAC}"/>
              </a:ext>
            </a:extLst>
          </p:cNvPr>
          <p:cNvSpPr/>
          <p:nvPr/>
        </p:nvSpPr>
        <p:spPr>
          <a:xfrm>
            <a:off x="6146800" y="1422400"/>
            <a:ext cx="2667000" cy="1397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7" name="ZoneTexte 16">
            <a:extLst>
              <a:ext uri="{FF2B5EF4-FFF2-40B4-BE49-F238E27FC236}">
                <a16:creationId xmlns:a16="http://schemas.microsoft.com/office/drawing/2014/main" id="{D1E16CB8-25D4-80AD-9D18-E918A0942375}"/>
              </a:ext>
            </a:extLst>
          </p:cNvPr>
          <p:cNvSpPr txBox="1"/>
          <p:nvPr/>
        </p:nvSpPr>
        <p:spPr>
          <a:xfrm>
            <a:off x="6324600" y="1600200"/>
            <a:ext cx="2311400" cy="261610"/>
          </a:xfrm>
          <a:prstGeom prst="rect">
            <a:avLst/>
          </a:prstGeom>
          <a:noFill/>
        </p:spPr>
        <p:txBody>
          <a:bodyPr vert="horz" rtlCol="0">
            <a:spAutoFit/>
          </a:bodyPr>
          <a:lstStyle/>
          <a:p>
            <a:r>
              <a:rPr lang="fr-FR" sz="1100" b="1">
                <a:solidFill>
                  <a:srgbClr val="7A726B"/>
                </a:solidFill>
                <a:latin typeface="Arial" panose="020B0604020202020204" pitchFamily="34" charset="0"/>
              </a:rPr>
              <a:t>Processus couverts</a:t>
            </a:r>
          </a:p>
        </p:txBody>
      </p:sp>
      <p:sp>
        <p:nvSpPr>
          <p:cNvPr id="18" name="ZoneTexte 17">
            <a:extLst>
              <a:ext uri="{FF2B5EF4-FFF2-40B4-BE49-F238E27FC236}">
                <a16:creationId xmlns:a16="http://schemas.microsoft.com/office/drawing/2014/main" id="{FF29DCC4-DD9D-58A7-422D-F6E882E77CD1}"/>
              </a:ext>
            </a:extLst>
          </p:cNvPr>
          <p:cNvSpPr txBox="1"/>
          <p:nvPr/>
        </p:nvSpPr>
        <p:spPr>
          <a:xfrm>
            <a:off x="6324600" y="1930400"/>
            <a:ext cx="2311400" cy="461665"/>
          </a:xfrm>
          <a:prstGeom prst="rect">
            <a:avLst/>
          </a:prstGeom>
          <a:noFill/>
        </p:spPr>
        <p:txBody>
          <a:bodyPr vert="horz" rtlCol="0">
            <a:spAutoFit/>
          </a:bodyPr>
          <a:lstStyle/>
          <a:p>
            <a:r>
              <a:rPr lang="fr-FR" sz="2400" b="1">
                <a:solidFill>
                  <a:srgbClr val="005FEB"/>
                </a:solidFill>
                <a:latin typeface="Arial" panose="020B0604020202020204" pitchFamily="34" charset="0"/>
              </a:rPr>
              <a:t>3</a:t>
            </a:r>
          </a:p>
        </p:txBody>
      </p:sp>
      <p:sp>
        <p:nvSpPr>
          <p:cNvPr id="19" name="ZoneTexte 18">
            <a:extLst>
              <a:ext uri="{FF2B5EF4-FFF2-40B4-BE49-F238E27FC236}">
                <a16:creationId xmlns:a16="http://schemas.microsoft.com/office/drawing/2014/main" id="{98CF986A-DF06-DCD3-B26E-1E6A29E10D59}"/>
              </a:ext>
            </a:extLst>
          </p:cNvPr>
          <p:cNvSpPr txBox="1"/>
          <p:nvPr/>
        </p:nvSpPr>
        <p:spPr>
          <a:xfrm>
            <a:off x="6324600" y="2413000"/>
            <a:ext cx="2311400" cy="230832"/>
          </a:xfrm>
          <a:prstGeom prst="rect">
            <a:avLst/>
          </a:prstGeom>
          <a:noFill/>
        </p:spPr>
        <p:txBody>
          <a:bodyPr vert="horz" rtlCol="0">
            <a:spAutoFit/>
          </a:bodyPr>
          <a:lstStyle/>
          <a:p>
            <a:r>
              <a:rPr lang="fr-FR" sz="900">
                <a:solidFill>
                  <a:srgbClr val="7A726B"/>
                </a:solidFill>
                <a:latin typeface="Arial" panose="020B0604020202020204" pitchFamily="34" charset="0"/>
              </a:rPr>
              <a:t>APD, PC, CO</a:t>
            </a:r>
          </a:p>
        </p:txBody>
      </p:sp>
      <p:sp>
        <p:nvSpPr>
          <p:cNvPr id="20" name="Rectangle 19">
            <a:extLst>
              <a:ext uri="{FF2B5EF4-FFF2-40B4-BE49-F238E27FC236}">
                <a16:creationId xmlns:a16="http://schemas.microsoft.com/office/drawing/2014/main" id="{94EFFB4A-D54B-0D83-A217-1C0633BD1DFC}"/>
              </a:ext>
            </a:extLst>
          </p:cNvPr>
          <p:cNvSpPr/>
          <p:nvPr/>
        </p:nvSpPr>
        <p:spPr>
          <a:xfrm>
            <a:off x="9042400" y="1422400"/>
            <a:ext cx="2667000" cy="1397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1" name="ZoneTexte 20">
            <a:extLst>
              <a:ext uri="{FF2B5EF4-FFF2-40B4-BE49-F238E27FC236}">
                <a16:creationId xmlns:a16="http://schemas.microsoft.com/office/drawing/2014/main" id="{FBC76C30-B8EA-7AB5-2C63-A7EF734F8250}"/>
              </a:ext>
            </a:extLst>
          </p:cNvPr>
          <p:cNvSpPr txBox="1"/>
          <p:nvPr/>
        </p:nvSpPr>
        <p:spPr>
          <a:xfrm>
            <a:off x="9220200" y="1600200"/>
            <a:ext cx="2311400" cy="261610"/>
          </a:xfrm>
          <a:prstGeom prst="rect">
            <a:avLst/>
          </a:prstGeom>
          <a:noFill/>
        </p:spPr>
        <p:txBody>
          <a:bodyPr vert="horz" rtlCol="0">
            <a:spAutoFit/>
          </a:bodyPr>
          <a:lstStyle/>
          <a:p>
            <a:r>
              <a:rPr lang="fr-FR" sz="1100" b="1">
                <a:solidFill>
                  <a:srgbClr val="7A726B"/>
                </a:solidFill>
                <a:latin typeface="Arial" panose="020B0604020202020204" pitchFamily="34" charset="0"/>
              </a:rPr>
              <a:t>Priorite dominante</a:t>
            </a:r>
          </a:p>
        </p:txBody>
      </p:sp>
      <p:sp>
        <p:nvSpPr>
          <p:cNvPr id="22" name="ZoneTexte 21">
            <a:extLst>
              <a:ext uri="{FF2B5EF4-FFF2-40B4-BE49-F238E27FC236}">
                <a16:creationId xmlns:a16="http://schemas.microsoft.com/office/drawing/2014/main" id="{0006560F-3F17-7E1B-1011-CD3D40C78D8D}"/>
              </a:ext>
            </a:extLst>
          </p:cNvPr>
          <p:cNvSpPr txBox="1"/>
          <p:nvPr/>
        </p:nvSpPr>
        <p:spPr>
          <a:xfrm>
            <a:off x="9220200" y="1930400"/>
            <a:ext cx="2311400" cy="461665"/>
          </a:xfrm>
          <a:prstGeom prst="rect">
            <a:avLst/>
          </a:prstGeom>
          <a:noFill/>
        </p:spPr>
        <p:txBody>
          <a:bodyPr vert="horz" rtlCol="0">
            <a:spAutoFit/>
          </a:bodyPr>
          <a:lstStyle/>
          <a:p>
            <a:r>
              <a:rPr lang="fr-FR" sz="2400" b="1">
                <a:solidFill>
                  <a:srgbClr val="005FEB"/>
                </a:solidFill>
                <a:latin typeface="Arial" panose="020B0604020202020204" pitchFamily="34" charset="0"/>
              </a:rPr>
              <a:t>Critique</a:t>
            </a:r>
          </a:p>
        </p:txBody>
      </p:sp>
      <p:sp>
        <p:nvSpPr>
          <p:cNvPr id="23" name="ZoneTexte 22">
            <a:extLst>
              <a:ext uri="{FF2B5EF4-FFF2-40B4-BE49-F238E27FC236}">
                <a16:creationId xmlns:a16="http://schemas.microsoft.com/office/drawing/2014/main" id="{A47976A2-5F95-8B38-2F2B-D05DD26202D0}"/>
              </a:ext>
            </a:extLst>
          </p:cNvPr>
          <p:cNvSpPr txBox="1"/>
          <p:nvPr/>
        </p:nvSpPr>
        <p:spPr>
          <a:xfrm>
            <a:off x="9220200" y="2413000"/>
            <a:ext cx="2311400" cy="230832"/>
          </a:xfrm>
          <a:prstGeom prst="rect">
            <a:avLst/>
          </a:prstGeom>
          <a:noFill/>
        </p:spPr>
        <p:txBody>
          <a:bodyPr vert="horz" rtlCol="0">
            <a:spAutoFit/>
          </a:bodyPr>
          <a:lstStyle/>
          <a:p>
            <a:r>
              <a:rPr lang="fr-FR" sz="900">
                <a:solidFill>
                  <a:srgbClr val="7A726B"/>
                </a:solidFill>
                <a:latin typeface="Arial" panose="020B0604020202020204" pitchFamily="34" charset="0"/>
              </a:rPr>
              <a:t>2 observation(s)</a:t>
            </a:r>
          </a:p>
        </p:txBody>
      </p:sp>
      <p:sp>
        <p:nvSpPr>
          <p:cNvPr id="24" name="Rectangle 23">
            <a:extLst>
              <a:ext uri="{FF2B5EF4-FFF2-40B4-BE49-F238E27FC236}">
                <a16:creationId xmlns:a16="http://schemas.microsoft.com/office/drawing/2014/main" id="{221D7D4F-165A-A710-1A69-A7680258ACE5}"/>
              </a:ext>
            </a:extLst>
          </p:cNvPr>
          <p:cNvSpPr/>
          <p:nvPr/>
        </p:nvSpPr>
        <p:spPr>
          <a:xfrm>
            <a:off x="431800" y="3124200"/>
            <a:ext cx="5461000" cy="21844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5" name="ZoneTexte 24">
            <a:extLst>
              <a:ext uri="{FF2B5EF4-FFF2-40B4-BE49-F238E27FC236}">
                <a16:creationId xmlns:a16="http://schemas.microsoft.com/office/drawing/2014/main" id="{43F14C11-CCB7-45F3-6FC1-13E3D81A7C9E}"/>
              </a:ext>
            </a:extLst>
          </p:cNvPr>
          <p:cNvSpPr txBox="1"/>
          <p:nvPr/>
        </p:nvSpPr>
        <p:spPr>
          <a:xfrm>
            <a:off x="609600" y="3302000"/>
            <a:ext cx="5105400" cy="1015663"/>
          </a:xfrm>
          <a:prstGeom prst="rect">
            <a:avLst/>
          </a:prstGeom>
          <a:noFill/>
        </p:spPr>
        <p:txBody>
          <a:bodyPr vert="horz" rtlCol="0">
            <a:spAutoFit/>
          </a:bodyPr>
          <a:lstStyle/>
          <a:p>
            <a:r>
              <a:rPr lang="fr-FR" sz="1200">
                <a:solidFill>
                  <a:srgbClr val="2E2A26"/>
                </a:solidFill>
                <a:latin typeface="Arial" panose="020B0604020202020204" pitchFamily="34" charset="0"/>
              </a:rPr>
              <a:t>La revue ITGC menee sur Direction des Systèmes d'Information – Groupe XYZ met en evidence 4 observation(s) sur les applications Active Directory, SAP, Oracle, Serveur Backup. Les constats portent principalement sur la gestion des acces, la maitrise des changements et les sauvegardes.</a:t>
            </a:r>
          </a:p>
        </p:txBody>
      </p:sp>
      <p:sp>
        <p:nvSpPr>
          <p:cNvPr id="26" name="Rectangle 25">
            <a:extLst>
              <a:ext uri="{FF2B5EF4-FFF2-40B4-BE49-F238E27FC236}">
                <a16:creationId xmlns:a16="http://schemas.microsoft.com/office/drawing/2014/main" id="{2D1C80B2-3B36-AEFB-9441-41918FB18BB3}"/>
              </a:ext>
            </a:extLst>
          </p:cNvPr>
          <p:cNvSpPr/>
          <p:nvPr/>
        </p:nvSpPr>
        <p:spPr>
          <a:xfrm>
            <a:off x="6121400" y="3124200"/>
            <a:ext cx="5232400" cy="21844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7" name="ZoneTexte 26">
            <a:extLst>
              <a:ext uri="{FF2B5EF4-FFF2-40B4-BE49-F238E27FC236}">
                <a16:creationId xmlns:a16="http://schemas.microsoft.com/office/drawing/2014/main" id="{3AEE13BA-2A6C-66BE-DFA3-1FA92FC10788}"/>
              </a:ext>
            </a:extLst>
          </p:cNvPr>
          <p:cNvSpPr txBox="1"/>
          <p:nvPr/>
        </p:nvSpPr>
        <p:spPr>
          <a:xfrm>
            <a:off x="6299200" y="3302000"/>
            <a:ext cx="4876800" cy="1938992"/>
          </a:xfrm>
          <a:prstGeom prst="rect">
            <a:avLst/>
          </a:prstGeom>
          <a:noFill/>
        </p:spPr>
        <p:txBody>
          <a:bodyPr vert="horz" rtlCol="0">
            <a:spAutoFit/>
          </a:bodyPr>
          <a:lstStyle/>
          <a:p>
            <a:r>
              <a:rPr lang="fr-FR" sz="1200">
                <a:solidFill>
                  <a:srgbClr val="2E2A26"/>
                </a:solidFill>
                <a:latin typeface="Arial" panose="020B0604020202020204" pitchFamily="34" charset="0"/>
              </a:rPr>
              <a:t>Le niveau de maitrise du perimetre audite apparait perfectible, avec 4 observation(s) de priorite elevee ou critique. Sur Active Directory, le controle APD-01 presente une faiblesse caracterisee par 5 comptes utilisateurs restent actifs après départ; 1 connexion post-départ détectée. Sur SAP, le controle APD-02 presente une faiblesse caracterisee par 8 comptes créés sans validation. Sur Serveur Backup, le controle CO-01 presente une faiblesse caracterisee par aucun test sur 12 mois. Des procedures compensatoires existent sur certains sujets, mais elles ne suffisent pas a elles seules a ramener le risque a un niveau acceptable.</a:t>
            </a:r>
          </a:p>
        </p:txBody>
      </p:sp>
      <p:sp>
        <p:nvSpPr>
          <p:cNvPr id="28" name="Rectangle 27">
            <a:extLst>
              <a:ext uri="{FF2B5EF4-FFF2-40B4-BE49-F238E27FC236}">
                <a16:creationId xmlns:a16="http://schemas.microsoft.com/office/drawing/2014/main" id="{B179775C-A1CF-9DB6-FD3B-CB50DC245D02}"/>
              </a:ext>
            </a:extLst>
          </p:cNvPr>
          <p:cNvSpPr/>
          <p:nvPr/>
        </p:nvSpPr>
        <p:spPr>
          <a:xfrm>
            <a:off x="431800" y="5486400"/>
            <a:ext cx="10922000" cy="10668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9" name="ZoneTexte 28">
            <a:extLst>
              <a:ext uri="{FF2B5EF4-FFF2-40B4-BE49-F238E27FC236}">
                <a16:creationId xmlns:a16="http://schemas.microsoft.com/office/drawing/2014/main" id="{BFDA3FE6-6499-07B7-1503-D26E067B9926}"/>
              </a:ext>
            </a:extLst>
          </p:cNvPr>
          <p:cNvSpPr txBox="1"/>
          <p:nvPr/>
        </p:nvSpPr>
        <p:spPr>
          <a:xfrm>
            <a:off x="609600" y="56134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Messages cles</a:t>
            </a:r>
          </a:p>
        </p:txBody>
      </p:sp>
      <p:sp>
        <p:nvSpPr>
          <p:cNvPr id="30" name="ZoneTexte 29">
            <a:extLst>
              <a:ext uri="{FF2B5EF4-FFF2-40B4-BE49-F238E27FC236}">
                <a16:creationId xmlns:a16="http://schemas.microsoft.com/office/drawing/2014/main" id="{D3632490-613A-3D47-835F-F78EE050AC81}"/>
              </a:ext>
            </a:extLst>
          </p:cNvPr>
          <p:cNvSpPr txBox="1"/>
          <p:nvPr/>
        </p:nvSpPr>
        <p:spPr>
          <a:xfrm>
            <a:off x="609600" y="5969000"/>
            <a:ext cx="10566400" cy="646331"/>
          </a:xfrm>
          <a:prstGeom prst="rect">
            <a:avLst/>
          </a:prstGeom>
          <a:noFill/>
        </p:spPr>
        <p:txBody>
          <a:bodyPr vert="horz" rtlCol="0">
            <a:spAutoFit/>
          </a:bodyPr>
          <a:lstStyle/>
          <a:p>
            <a:r>
              <a:rPr lang="fr-FR" sz="1200">
                <a:solidFill>
                  <a:srgbClr val="2E2A26"/>
                </a:solidFill>
                <a:latin typeface="Arial" panose="020B0604020202020204" pitchFamily="34" charset="0"/>
              </a:rPr>
              <a:t>• Active Directory - Comptes actifs après départ employés: Accès non autorisé et risque de fuite de données (priorite critique).</a:t>
            </a:r>
          </a:p>
          <a:p>
            <a:r>
              <a:rPr lang="fr-FR" sz="1200">
                <a:solidFill>
                  <a:srgbClr val="2E2A26"/>
                </a:solidFill>
                <a:latin typeface="Arial" panose="020B0604020202020204" pitchFamily="34" charset="0"/>
              </a:rPr>
              <a:t>• SAP - Absence de validation des accès: Risque de fraude ou erreur (priorite critique).</a:t>
            </a:r>
          </a:p>
          <a:p>
            <a:r>
              <a:rPr lang="fr-FR" sz="1200">
                <a:solidFill>
                  <a:srgbClr val="2E2A26"/>
                </a:solidFill>
                <a:latin typeface="Arial" panose="020B0604020202020204" pitchFamily="34" charset="0"/>
              </a:rPr>
              <a:t>• Serveur Backup - Absence de test de restauration: Risque perte de données (priorite elevee).</a:t>
            </a:r>
          </a:p>
        </p:txBody>
      </p:sp>
    </p:spTree>
    <p:extLst>
      <p:ext uri="{BB962C8B-B14F-4D97-AF65-F5344CB8AC3E}">
        <p14:creationId xmlns:p14="http://schemas.microsoft.com/office/powerpoint/2010/main" val="34286921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FA4F6E11-6E24-34E5-3F4B-7657B8275E6D}"/>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2B93F91E-401A-464A-BA89-DFA968D5606F}"/>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80DDB96-63CD-D5C4-DC71-B26167FF626B}"/>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D9BB4B8C-01B8-5AB4-B052-4732D18FC577}"/>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Synthese des priorites</a:t>
            </a:r>
          </a:p>
        </p:txBody>
      </p:sp>
      <p:sp>
        <p:nvSpPr>
          <p:cNvPr id="6" name="ZoneTexte 5">
            <a:extLst>
              <a:ext uri="{FF2B5EF4-FFF2-40B4-BE49-F238E27FC236}">
                <a16:creationId xmlns:a16="http://schemas.microsoft.com/office/drawing/2014/main" id="{85114B80-1EA2-B669-E621-D5A91B2AE64F}"/>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Repartition des observations par niveau de risque</a:t>
            </a:r>
          </a:p>
        </p:txBody>
      </p:sp>
      <p:sp>
        <p:nvSpPr>
          <p:cNvPr id="7" name="ZoneTexte 6">
            <a:extLst>
              <a:ext uri="{FF2B5EF4-FFF2-40B4-BE49-F238E27FC236}">
                <a16:creationId xmlns:a16="http://schemas.microsoft.com/office/drawing/2014/main" id="{7447F84F-8388-BBDF-F80B-15BF4FD9C3D7}"/>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08</a:t>
            </a:r>
          </a:p>
        </p:txBody>
      </p:sp>
      <p:sp>
        <p:nvSpPr>
          <p:cNvPr id="8" name="Rectangle 7">
            <a:extLst>
              <a:ext uri="{FF2B5EF4-FFF2-40B4-BE49-F238E27FC236}">
                <a16:creationId xmlns:a16="http://schemas.microsoft.com/office/drawing/2014/main" id="{5A374E54-E1E2-F193-8B86-046AB46FF301}"/>
              </a:ext>
            </a:extLst>
          </p:cNvPr>
          <p:cNvSpPr/>
          <p:nvPr/>
        </p:nvSpPr>
        <p:spPr>
          <a:xfrm>
            <a:off x="508000" y="1524000"/>
            <a:ext cx="2413000" cy="1651000"/>
          </a:xfrm>
          <a:prstGeom prst="rect">
            <a:avLst/>
          </a:prstGeom>
          <a:solidFill>
            <a:srgbClr val="FFFFFF"/>
          </a:solidFill>
          <a:ln>
            <a:solidFill>
              <a:srgbClr val="B42318"/>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Rectangle 8">
            <a:extLst>
              <a:ext uri="{FF2B5EF4-FFF2-40B4-BE49-F238E27FC236}">
                <a16:creationId xmlns:a16="http://schemas.microsoft.com/office/drawing/2014/main" id="{0D6FA1EF-6ED4-4E8F-E67F-666227C740B7}"/>
              </a:ext>
            </a:extLst>
          </p:cNvPr>
          <p:cNvSpPr/>
          <p:nvPr/>
        </p:nvSpPr>
        <p:spPr>
          <a:xfrm>
            <a:off x="508000" y="1524000"/>
            <a:ext cx="2413000" cy="203200"/>
          </a:xfrm>
          <a:prstGeom prst="rect">
            <a:avLst/>
          </a:prstGeom>
          <a:solidFill>
            <a:srgbClr val="B423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191B8285-EE56-CEA6-66EC-8912AA098627}"/>
              </a:ext>
            </a:extLst>
          </p:cNvPr>
          <p:cNvSpPr txBox="1"/>
          <p:nvPr/>
        </p:nvSpPr>
        <p:spPr>
          <a:xfrm>
            <a:off x="685800" y="1828800"/>
            <a:ext cx="20574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Critical</a:t>
            </a:r>
          </a:p>
        </p:txBody>
      </p:sp>
      <p:sp>
        <p:nvSpPr>
          <p:cNvPr id="11" name="ZoneTexte 10">
            <a:extLst>
              <a:ext uri="{FF2B5EF4-FFF2-40B4-BE49-F238E27FC236}">
                <a16:creationId xmlns:a16="http://schemas.microsoft.com/office/drawing/2014/main" id="{D8F1DCFB-05A6-AED3-00BE-14ABA16A3B2C}"/>
              </a:ext>
            </a:extLst>
          </p:cNvPr>
          <p:cNvSpPr txBox="1"/>
          <p:nvPr/>
        </p:nvSpPr>
        <p:spPr>
          <a:xfrm>
            <a:off x="685800" y="2184400"/>
            <a:ext cx="2057400" cy="523220"/>
          </a:xfrm>
          <a:prstGeom prst="rect">
            <a:avLst/>
          </a:prstGeom>
          <a:noFill/>
        </p:spPr>
        <p:txBody>
          <a:bodyPr vert="horz" rtlCol="0">
            <a:spAutoFit/>
          </a:bodyPr>
          <a:lstStyle/>
          <a:p>
            <a:r>
              <a:rPr lang="fr-FR" sz="2800" b="1">
                <a:solidFill>
                  <a:srgbClr val="B42318"/>
                </a:solidFill>
                <a:latin typeface="Arial" panose="020B0604020202020204" pitchFamily="34" charset="0"/>
              </a:rPr>
              <a:t>2</a:t>
            </a:r>
          </a:p>
        </p:txBody>
      </p:sp>
      <p:sp>
        <p:nvSpPr>
          <p:cNvPr id="12" name="ZoneTexte 11">
            <a:extLst>
              <a:ext uri="{FF2B5EF4-FFF2-40B4-BE49-F238E27FC236}">
                <a16:creationId xmlns:a16="http://schemas.microsoft.com/office/drawing/2014/main" id="{D809EB07-D188-4C98-BE54-03C84EFBFA1C}"/>
              </a:ext>
            </a:extLst>
          </p:cNvPr>
          <p:cNvSpPr txBox="1"/>
          <p:nvPr/>
        </p:nvSpPr>
        <p:spPr>
          <a:xfrm>
            <a:off x="685800" y="2692400"/>
            <a:ext cx="2057400" cy="246221"/>
          </a:xfrm>
          <a:prstGeom prst="rect">
            <a:avLst/>
          </a:prstGeom>
          <a:noFill/>
        </p:spPr>
        <p:txBody>
          <a:bodyPr vert="horz" rtlCol="0">
            <a:spAutoFit/>
          </a:bodyPr>
          <a:lstStyle/>
          <a:p>
            <a:r>
              <a:rPr lang="fr-FR" sz="1000">
                <a:solidFill>
                  <a:srgbClr val="7A726B"/>
                </a:solidFill>
                <a:latin typeface="Arial" panose="020B0604020202020204" pitchFamily="34" charset="0"/>
              </a:rPr>
              <a:t>50.0% du total</a:t>
            </a:r>
          </a:p>
        </p:txBody>
      </p:sp>
      <p:sp>
        <p:nvSpPr>
          <p:cNvPr id="13" name="Rectangle 12">
            <a:extLst>
              <a:ext uri="{FF2B5EF4-FFF2-40B4-BE49-F238E27FC236}">
                <a16:creationId xmlns:a16="http://schemas.microsoft.com/office/drawing/2014/main" id="{4539E396-C58E-DD41-32B2-C8CBA1C00A56}"/>
              </a:ext>
            </a:extLst>
          </p:cNvPr>
          <p:cNvSpPr/>
          <p:nvPr/>
        </p:nvSpPr>
        <p:spPr>
          <a:xfrm>
            <a:off x="3200400" y="1524000"/>
            <a:ext cx="2413000" cy="1651000"/>
          </a:xfrm>
          <a:prstGeom prst="rect">
            <a:avLst/>
          </a:prstGeom>
          <a:solidFill>
            <a:srgbClr val="FFFFFF"/>
          </a:solidFill>
          <a:ln>
            <a:solidFill>
              <a:srgbClr val="EC6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4" name="Rectangle 13">
            <a:extLst>
              <a:ext uri="{FF2B5EF4-FFF2-40B4-BE49-F238E27FC236}">
                <a16:creationId xmlns:a16="http://schemas.microsoft.com/office/drawing/2014/main" id="{71690B54-7A76-95F9-2373-812C474ADD3B}"/>
              </a:ext>
            </a:extLst>
          </p:cNvPr>
          <p:cNvSpPr/>
          <p:nvPr/>
        </p:nvSpPr>
        <p:spPr>
          <a:xfrm>
            <a:off x="3200400" y="1524000"/>
            <a:ext cx="2413000" cy="203200"/>
          </a:xfrm>
          <a:prstGeom prst="rect">
            <a:avLst/>
          </a:prstGeom>
          <a:solidFill>
            <a:srgbClr val="EC6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5" name="ZoneTexte 14">
            <a:extLst>
              <a:ext uri="{FF2B5EF4-FFF2-40B4-BE49-F238E27FC236}">
                <a16:creationId xmlns:a16="http://schemas.microsoft.com/office/drawing/2014/main" id="{0925D547-99B0-EA8A-F328-0B96D88EF1EA}"/>
              </a:ext>
            </a:extLst>
          </p:cNvPr>
          <p:cNvSpPr txBox="1"/>
          <p:nvPr/>
        </p:nvSpPr>
        <p:spPr>
          <a:xfrm>
            <a:off x="3378200" y="1828800"/>
            <a:ext cx="2057400" cy="307777"/>
          </a:xfrm>
          <a:prstGeom prst="rect">
            <a:avLst/>
          </a:prstGeom>
          <a:noFill/>
        </p:spPr>
        <p:txBody>
          <a:bodyPr vert="horz" rtlCol="0">
            <a:spAutoFit/>
          </a:bodyPr>
          <a:lstStyle/>
          <a:p>
            <a:r>
              <a:rPr lang="fr-FR" sz="1400" b="1">
                <a:solidFill>
                  <a:srgbClr val="2E2A26"/>
                </a:solidFill>
                <a:latin typeface="Arial" panose="020B0604020202020204" pitchFamily="34" charset="0"/>
              </a:rPr>
              <a:t>High</a:t>
            </a:r>
          </a:p>
        </p:txBody>
      </p:sp>
      <p:sp>
        <p:nvSpPr>
          <p:cNvPr id="16" name="ZoneTexte 15">
            <a:extLst>
              <a:ext uri="{FF2B5EF4-FFF2-40B4-BE49-F238E27FC236}">
                <a16:creationId xmlns:a16="http://schemas.microsoft.com/office/drawing/2014/main" id="{873AD6C8-0408-CACA-173B-4C46B8728EE5}"/>
              </a:ext>
            </a:extLst>
          </p:cNvPr>
          <p:cNvSpPr txBox="1"/>
          <p:nvPr/>
        </p:nvSpPr>
        <p:spPr>
          <a:xfrm>
            <a:off x="3378200" y="2184400"/>
            <a:ext cx="2057400" cy="523220"/>
          </a:xfrm>
          <a:prstGeom prst="rect">
            <a:avLst/>
          </a:prstGeom>
          <a:noFill/>
        </p:spPr>
        <p:txBody>
          <a:bodyPr vert="horz" rtlCol="0">
            <a:spAutoFit/>
          </a:bodyPr>
          <a:lstStyle/>
          <a:p>
            <a:r>
              <a:rPr lang="fr-FR" sz="2800" b="1">
                <a:solidFill>
                  <a:srgbClr val="EC6000"/>
                </a:solidFill>
                <a:latin typeface="Arial" panose="020B0604020202020204" pitchFamily="34" charset="0"/>
              </a:rPr>
              <a:t>2</a:t>
            </a:r>
          </a:p>
        </p:txBody>
      </p:sp>
      <p:sp>
        <p:nvSpPr>
          <p:cNvPr id="17" name="ZoneTexte 16">
            <a:extLst>
              <a:ext uri="{FF2B5EF4-FFF2-40B4-BE49-F238E27FC236}">
                <a16:creationId xmlns:a16="http://schemas.microsoft.com/office/drawing/2014/main" id="{A4607F1A-DCEA-510A-2116-93671E5BF137}"/>
              </a:ext>
            </a:extLst>
          </p:cNvPr>
          <p:cNvSpPr txBox="1"/>
          <p:nvPr/>
        </p:nvSpPr>
        <p:spPr>
          <a:xfrm>
            <a:off x="3378200" y="2692400"/>
            <a:ext cx="2057400" cy="246221"/>
          </a:xfrm>
          <a:prstGeom prst="rect">
            <a:avLst/>
          </a:prstGeom>
          <a:noFill/>
        </p:spPr>
        <p:txBody>
          <a:bodyPr vert="horz" rtlCol="0">
            <a:spAutoFit/>
          </a:bodyPr>
          <a:lstStyle/>
          <a:p>
            <a:r>
              <a:rPr lang="fr-FR" sz="1000">
                <a:solidFill>
                  <a:srgbClr val="7A726B"/>
                </a:solidFill>
                <a:latin typeface="Arial" panose="020B0604020202020204" pitchFamily="34" charset="0"/>
              </a:rPr>
              <a:t>50.0% du total</a:t>
            </a:r>
          </a:p>
        </p:txBody>
      </p:sp>
      <p:sp>
        <p:nvSpPr>
          <p:cNvPr id="18" name="Rectangle 17">
            <a:extLst>
              <a:ext uri="{FF2B5EF4-FFF2-40B4-BE49-F238E27FC236}">
                <a16:creationId xmlns:a16="http://schemas.microsoft.com/office/drawing/2014/main" id="{3AE24D7C-EF93-88FE-1B4E-6D9D32BCCF50}"/>
              </a:ext>
            </a:extLst>
          </p:cNvPr>
          <p:cNvSpPr/>
          <p:nvPr/>
        </p:nvSpPr>
        <p:spPr>
          <a:xfrm>
            <a:off x="508000" y="3683000"/>
            <a:ext cx="10922000" cy="1905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A0FD0743-62FA-C43C-D59D-B192084812DE}"/>
              </a:ext>
            </a:extLst>
          </p:cNvPr>
          <p:cNvSpPr txBox="1"/>
          <p:nvPr/>
        </p:nvSpPr>
        <p:spPr>
          <a:xfrm>
            <a:off x="685800" y="38100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Observations les plus sensibles</a:t>
            </a:r>
          </a:p>
        </p:txBody>
      </p:sp>
      <p:sp>
        <p:nvSpPr>
          <p:cNvPr id="20" name="ZoneTexte 19">
            <a:extLst>
              <a:ext uri="{FF2B5EF4-FFF2-40B4-BE49-F238E27FC236}">
                <a16:creationId xmlns:a16="http://schemas.microsoft.com/office/drawing/2014/main" id="{7339E451-CB24-3138-1BB9-1C0BF2F46BFC}"/>
              </a:ext>
            </a:extLst>
          </p:cNvPr>
          <p:cNvSpPr txBox="1"/>
          <p:nvPr/>
        </p:nvSpPr>
        <p:spPr>
          <a:xfrm>
            <a:off x="685800" y="4165600"/>
            <a:ext cx="10566400" cy="830997"/>
          </a:xfrm>
          <a:prstGeom prst="rect">
            <a:avLst/>
          </a:prstGeom>
          <a:noFill/>
        </p:spPr>
        <p:txBody>
          <a:bodyPr vert="horz" rtlCol="0">
            <a:spAutoFit/>
          </a:bodyPr>
          <a:lstStyle/>
          <a:p>
            <a:r>
              <a:rPr lang="fr-FR" sz="1200">
                <a:solidFill>
                  <a:srgbClr val="2E2A26"/>
                </a:solidFill>
                <a:latin typeface="Arial" panose="020B0604020202020204" pitchFamily="34" charset="0"/>
              </a:rPr>
              <a:t>• APD-01 | Active Directory | Comptes actifs après départ employés | Priorite Critique</a:t>
            </a:r>
          </a:p>
          <a:p>
            <a:r>
              <a:rPr lang="fr-FR" sz="1200">
                <a:solidFill>
                  <a:srgbClr val="2E2A26"/>
                </a:solidFill>
                <a:latin typeface="Arial" panose="020B0604020202020204" pitchFamily="34" charset="0"/>
              </a:rPr>
              <a:t>• APD-02 | SAP | Absence de validation des accès | Priorite Critique</a:t>
            </a:r>
          </a:p>
          <a:p>
            <a:r>
              <a:rPr lang="fr-FR" sz="1200">
                <a:solidFill>
                  <a:srgbClr val="2E2A26"/>
                </a:solidFill>
                <a:latin typeface="Arial" panose="020B0604020202020204" pitchFamily="34" charset="0"/>
              </a:rPr>
              <a:t>• CO-01 | Serveur Backup | Absence de test de restauration | Priorite Elevee</a:t>
            </a:r>
          </a:p>
          <a:p>
            <a:r>
              <a:rPr lang="fr-FR" sz="1200">
                <a:solidFill>
                  <a:srgbClr val="2E2A26"/>
                </a:solidFill>
                <a:latin typeface="Arial" panose="020B0604020202020204" pitchFamily="34" charset="0"/>
              </a:rPr>
              <a:t>• PC-01 | Oracle | Changements non validés | Priorite Elevee</a:t>
            </a:r>
          </a:p>
        </p:txBody>
      </p:sp>
    </p:spTree>
    <p:extLst>
      <p:ext uri="{BB962C8B-B14F-4D97-AF65-F5344CB8AC3E}">
        <p14:creationId xmlns:p14="http://schemas.microsoft.com/office/powerpoint/2010/main" val="14100723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BDCB8EBB-7FE2-E5E6-B0BD-DC3095BE1F5D}"/>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79BAE7A-37B1-C67A-81DC-EEE02FFB709E}"/>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FA23416-3886-E972-1C3B-6E5F1B00FE7D}"/>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41A816BF-4F46-F79B-DF08-31689FE72B75}"/>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Synthese par controle et application</a:t>
            </a:r>
          </a:p>
        </p:txBody>
      </p:sp>
      <p:sp>
        <p:nvSpPr>
          <p:cNvPr id="6" name="ZoneTexte 5">
            <a:extLst>
              <a:ext uri="{FF2B5EF4-FFF2-40B4-BE49-F238E27FC236}">
                <a16:creationId xmlns:a16="http://schemas.microsoft.com/office/drawing/2014/main" id="{3D1BC7C7-6175-D336-E539-347B99B850E2}"/>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Vue consolidee des points releves</a:t>
            </a:r>
          </a:p>
        </p:txBody>
      </p:sp>
      <p:sp>
        <p:nvSpPr>
          <p:cNvPr id="7" name="ZoneTexte 6">
            <a:extLst>
              <a:ext uri="{FF2B5EF4-FFF2-40B4-BE49-F238E27FC236}">
                <a16:creationId xmlns:a16="http://schemas.microsoft.com/office/drawing/2014/main" id="{3E628314-4AEA-7765-1264-1AAFFA97F753}"/>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09</a:t>
            </a:r>
          </a:p>
        </p:txBody>
      </p:sp>
      <p:sp>
        <p:nvSpPr>
          <p:cNvPr id="8" name="Rectangle 7">
            <a:extLst>
              <a:ext uri="{FF2B5EF4-FFF2-40B4-BE49-F238E27FC236}">
                <a16:creationId xmlns:a16="http://schemas.microsoft.com/office/drawing/2014/main" id="{C1546115-BEF4-DB60-21CA-DD2A0150B3BC}"/>
              </a:ext>
            </a:extLst>
          </p:cNvPr>
          <p:cNvSpPr/>
          <p:nvPr/>
        </p:nvSpPr>
        <p:spPr>
          <a:xfrm>
            <a:off x="431800" y="1473200"/>
            <a:ext cx="10922000" cy="406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79B63267-6C56-08C8-58C4-8000F887D992}"/>
              </a:ext>
            </a:extLst>
          </p:cNvPr>
          <p:cNvSpPr txBox="1"/>
          <p:nvPr/>
        </p:nvSpPr>
        <p:spPr>
          <a:xfrm>
            <a:off x="609600" y="16002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Tableau de synthese</a:t>
            </a:r>
          </a:p>
        </p:txBody>
      </p:sp>
      <p:sp>
        <p:nvSpPr>
          <p:cNvPr id="10" name="ZoneTexte 9">
            <a:extLst>
              <a:ext uri="{FF2B5EF4-FFF2-40B4-BE49-F238E27FC236}">
                <a16:creationId xmlns:a16="http://schemas.microsoft.com/office/drawing/2014/main" id="{968119F0-5131-80DF-3946-FA15DFA77FB0}"/>
              </a:ext>
            </a:extLst>
          </p:cNvPr>
          <p:cNvSpPr txBox="1"/>
          <p:nvPr/>
        </p:nvSpPr>
        <p:spPr>
          <a:xfrm>
            <a:off x="609600" y="1955800"/>
            <a:ext cx="10566400" cy="830997"/>
          </a:xfrm>
          <a:prstGeom prst="rect">
            <a:avLst/>
          </a:prstGeom>
          <a:noFill/>
        </p:spPr>
        <p:txBody>
          <a:bodyPr vert="horz" rtlCol="0">
            <a:spAutoFit/>
          </a:bodyPr>
          <a:lstStyle/>
          <a:p>
            <a:r>
              <a:rPr lang="fr-FR" sz="1200">
                <a:solidFill>
                  <a:srgbClr val="2E2A26"/>
                </a:solidFill>
                <a:latin typeface="Arial" panose="020B0604020202020204" pitchFamily="34" charset="0"/>
              </a:rPr>
              <a:t>• APD-01 | Active Directory | Point releve | Priorite Critique</a:t>
            </a:r>
          </a:p>
          <a:p>
            <a:r>
              <a:rPr lang="fr-FR" sz="1200">
                <a:solidFill>
                  <a:srgbClr val="2E2A26"/>
                </a:solidFill>
                <a:latin typeface="Arial" panose="020B0604020202020204" pitchFamily="34" charset="0"/>
              </a:rPr>
              <a:t>• APD-02 | SAP | Point releve | Priorite Critique</a:t>
            </a:r>
          </a:p>
          <a:p>
            <a:r>
              <a:rPr lang="fr-FR" sz="1200">
                <a:solidFill>
                  <a:srgbClr val="2E2A26"/>
                </a:solidFill>
                <a:latin typeface="Arial" panose="020B0604020202020204" pitchFamily="34" charset="0"/>
              </a:rPr>
              <a:t>• CO-01 | Serveur Backup | Point releve | Priorite Elevee</a:t>
            </a:r>
          </a:p>
          <a:p>
            <a:r>
              <a:rPr lang="fr-FR" sz="1200">
                <a:solidFill>
                  <a:srgbClr val="2E2A26"/>
                </a:solidFill>
                <a:latin typeface="Arial" panose="020B0604020202020204" pitchFamily="34" charset="0"/>
              </a:rPr>
              <a:t>• PC-01 | Oracle | Point releve | Priorite Elevee</a:t>
            </a:r>
          </a:p>
        </p:txBody>
      </p:sp>
    </p:spTree>
    <p:extLst>
      <p:ext uri="{BB962C8B-B14F-4D97-AF65-F5344CB8AC3E}">
        <p14:creationId xmlns:p14="http://schemas.microsoft.com/office/powerpoint/2010/main" val="54476990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D6251EA3-2F54-C803-CD0F-B86665B60CD0}"/>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C526AD84-EA61-F928-6670-55EBE73FE6B8}"/>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EAE6D852-4AF7-5A80-B01D-F95C65AA3E0B}"/>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874DC59B-686D-1E86-5EA2-1D4974D946FC}"/>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Point releve</a:t>
            </a:r>
          </a:p>
        </p:txBody>
      </p:sp>
      <p:sp>
        <p:nvSpPr>
          <p:cNvPr id="6" name="ZoneTexte 5">
            <a:extLst>
              <a:ext uri="{FF2B5EF4-FFF2-40B4-BE49-F238E27FC236}">
                <a16:creationId xmlns:a16="http://schemas.microsoft.com/office/drawing/2014/main" id="{959F4285-82BA-7C74-E481-5C8D6BCA1C4A}"/>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APD-01 | Active Directory | Priorite Critique</a:t>
            </a:r>
          </a:p>
        </p:txBody>
      </p:sp>
      <p:sp>
        <p:nvSpPr>
          <p:cNvPr id="7" name="ZoneTexte 6">
            <a:extLst>
              <a:ext uri="{FF2B5EF4-FFF2-40B4-BE49-F238E27FC236}">
                <a16:creationId xmlns:a16="http://schemas.microsoft.com/office/drawing/2014/main" id="{EF6430ED-B1FD-3BBC-CBE9-F0931E9E963B}"/>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10</a:t>
            </a:r>
          </a:p>
        </p:txBody>
      </p:sp>
      <p:sp>
        <p:nvSpPr>
          <p:cNvPr id="8" name="ZoneTexte 7">
            <a:extLst>
              <a:ext uri="{FF2B5EF4-FFF2-40B4-BE49-F238E27FC236}">
                <a16:creationId xmlns:a16="http://schemas.microsoft.com/office/drawing/2014/main" id="{48676A1B-6A4B-C5EC-5E43-DDFAEA949737}"/>
              </a:ext>
            </a:extLst>
          </p:cNvPr>
          <p:cNvSpPr txBox="1"/>
          <p:nvPr/>
        </p:nvSpPr>
        <p:spPr>
          <a:xfrm>
            <a:off x="457200" y="1320800"/>
            <a:ext cx="10922000" cy="369332"/>
          </a:xfrm>
          <a:prstGeom prst="rect">
            <a:avLst/>
          </a:prstGeom>
          <a:noFill/>
        </p:spPr>
        <p:txBody>
          <a:bodyPr vert="horz" rtlCol="0">
            <a:spAutoFit/>
          </a:bodyPr>
          <a:lstStyle/>
          <a:p>
            <a:r>
              <a:rPr lang="fr-FR" b="1">
                <a:solidFill>
                  <a:srgbClr val="2E2A26"/>
                </a:solidFill>
                <a:latin typeface="Arial" panose="020B0604020202020204" pitchFamily="34" charset="0"/>
              </a:rPr>
              <a:t>Comptes actifs après départ employés</a:t>
            </a:r>
          </a:p>
        </p:txBody>
      </p:sp>
      <p:sp>
        <p:nvSpPr>
          <p:cNvPr id="9" name="Rectangle 8">
            <a:extLst>
              <a:ext uri="{FF2B5EF4-FFF2-40B4-BE49-F238E27FC236}">
                <a16:creationId xmlns:a16="http://schemas.microsoft.com/office/drawing/2014/main" id="{C37C32E3-620B-A489-9738-115DAB3CF4FD}"/>
              </a:ext>
            </a:extLst>
          </p:cNvPr>
          <p:cNvSpPr/>
          <p:nvPr/>
        </p:nvSpPr>
        <p:spPr>
          <a:xfrm>
            <a:off x="4318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CC254ACE-ECF7-51D5-37DF-C2BD6EB5659A}"/>
              </a:ext>
            </a:extLst>
          </p:cNvPr>
          <p:cNvSpPr txBox="1"/>
          <p:nvPr/>
        </p:nvSpPr>
        <p:spPr>
          <a:xfrm>
            <a:off x="6096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Constat</a:t>
            </a:r>
          </a:p>
        </p:txBody>
      </p:sp>
      <p:sp>
        <p:nvSpPr>
          <p:cNvPr id="11" name="ZoneTexte 10">
            <a:extLst>
              <a:ext uri="{FF2B5EF4-FFF2-40B4-BE49-F238E27FC236}">
                <a16:creationId xmlns:a16="http://schemas.microsoft.com/office/drawing/2014/main" id="{EC29CEF6-C3AA-8BEA-2EBE-4289F9AA7213}"/>
              </a:ext>
            </a:extLst>
          </p:cNvPr>
          <p:cNvSpPr txBox="1"/>
          <p:nvPr/>
        </p:nvSpPr>
        <p:spPr>
          <a:xfrm>
            <a:off x="609600" y="2260600"/>
            <a:ext cx="4876800" cy="1200329"/>
          </a:xfrm>
          <a:prstGeom prst="rect">
            <a:avLst/>
          </a:prstGeom>
          <a:noFill/>
        </p:spPr>
        <p:txBody>
          <a:bodyPr vert="horz" rtlCol="0">
            <a:spAutoFit/>
          </a:bodyPr>
          <a:lstStyle/>
          <a:p>
            <a:r>
              <a:rPr lang="fr-FR" sz="1200">
                <a:solidFill>
                  <a:srgbClr val="2E2A26"/>
                </a:solidFill>
                <a:latin typeface="Arial" panose="020B0604020202020204" pitchFamily="34" charset="0"/>
              </a:rPr>
              <a:t>• 5 comptes utilisateurs restent actifs après départ; 1 connexion post-départ détectée</a:t>
            </a:r>
          </a:p>
          <a:p>
            <a:r>
              <a:rPr lang="fr-FR" sz="1200">
                <a:solidFill>
                  <a:srgbClr val="2E2A26"/>
                </a:solidFill>
                <a:latin typeface="Arial" panose="020B0604020202020204" pitchFamily="34" charset="0"/>
              </a:rPr>
              <a:t>• Le constat OBS-001 concerne Active Directory et traduit une faiblesse sur le controle APD-01. Compte tenu de l'impact potentiel identifie (Accès non autorisé et risque de fuite de données), la priorite proposee est critique.</a:t>
            </a:r>
          </a:p>
        </p:txBody>
      </p:sp>
      <p:sp>
        <p:nvSpPr>
          <p:cNvPr id="12" name="Rectangle 11">
            <a:extLst>
              <a:ext uri="{FF2B5EF4-FFF2-40B4-BE49-F238E27FC236}">
                <a16:creationId xmlns:a16="http://schemas.microsoft.com/office/drawing/2014/main" id="{E7D2EB62-0F3D-50C6-A363-C62B0503F872}"/>
              </a:ext>
            </a:extLst>
          </p:cNvPr>
          <p:cNvSpPr/>
          <p:nvPr/>
        </p:nvSpPr>
        <p:spPr>
          <a:xfrm>
            <a:off x="61214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A47DDEC1-BD91-1412-F9ED-3CBD0AB68219}"/>
              </a:ext>
            </a:extLst>
          </p:cNvPr>
          <p:cNvSpPr txBox="1"/>
          <p:nvPr/>
        </p:nvSpPr>
        <p:spPr>
          <a:xfrm>
            <a:off x="62992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Controle attendu</a:t>
            </a:r>
          </a:p>
        </p:txBody>
      </p:sp>
      <p:sp>
        <p:nvSpPr>
          <p:cNvPr id="14" name="ZoneTexte 13">
            <a:extLst>
              <a:ext uri="{FF2B5EF4-FFF2-40B4-BE49-F238E27FC236}">
                <a16:creationId xmlns:a16="http://schemas.microsoft.com/office/drawing/2014/main" id="{09C3B19F-5FB7-7A9B-CCE4-ACA4C62CF6F2}"/>
              </a:ext>
            </a:extLst>
          </p:cNvPr>
          <p:cNvSpPr txBox="1"/>
          <p:nvPr/>
        </p:nvSpPr>
        <p:spPr>
          <a:xfrm>
            <a:off x="6299200" y="2260600"/>
            <a:ext cx="4876800" cy="646331"/>
          </a:xfrm>
          <a:prstGeom prst="rect">
            <a:avLst/>
          </a:prstGeom>
          <a:noFill/>
        </p:spPr>
        <p:txBody>
          <a:bodyPr vert="horz" rtlCol="0">
            <a:spAutoFit/>
          </a:bodyPr>
          <a:lstStyle/>
          <a:p>
            <a:r>
              <a:rPr lang="fr-FR" sz="1200">
                <a:solidFill>
                  <a:srgbClr val="2E2A26"/>
                </a:solidFill>
                <a:latin typeface="Arial" panose="020B0604020202020204" pitchFamily="34" charset="0"/>
              </a:rPr>
              <a:t>• Les comptes utilisateurs doivent être désactivés immédiatement après le départ des employés</a:t>
            </a:r>
          </a:p>
          <a:p>
            <a:r>
              <a:rPr lang="fr-FR" sz="1200">
                <a:solidFill>
                  <a:srgbClr val="2E2A26"/>
                </a:solidFill>
                <a:latin typeface="Arial" panose="020B0604020202020204" pitchFamily="34" charset="0"/>
              </a:rPr>
              <a:t>• Categorie: Révocation des accès</a:t>
            </a:r>
          </a:p>
        </p:txBody>
      </p:sp>
      <p:sp>
        <p:nvSpPr>
          <p:cNvPr id="15" name="Rectangle 14">
            <a:extLst>
              <a:ext uri="{FF2B5EF4-FFF2-40B4-BE49-F238E27FC236}">
                <a16:creationId xmlns:a16="http://schemas.microsoft.com/office/drawing/2014/main" id="{94F28665-543C-311F-4520-A9A428D908D2}"/>
              </a:ext>
            </a:extLst>
          </p:cNvPr>
          <p:cNvSpPr/>
          <p:nvPr/>
        </p:nvSpPr>
        <p:spPr>
          <a:xfrm>
            <a:off x="4318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3A0A85FA-6A1D-5FA4-4810-A97CFEA0713F}"/>
              </a:ext>
            </a:extLst>
          </p:cNvPr>
          <p:cNvSpPr txBox="1"/>
          <p:nvPr/>
        </p:nvSpPr>
        <p:spPr>
          <a:xfrm>
            <a:off x="6096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Risque / impact</a:t>
            </a:r>
          </a:p>
        </p:txBody>
      </p:sp>
      <p:sp>
        <p:nvSpPr>
          <p:cNvPr id="17" name="ZoneTexte 16">
            <a:extLst>
              <a:ext uri="{FF2B5EF4-FFF2-40B4-BE49-F238E27FC236}">
                <a16:creationId xmlns:a16="http://schemas.microsoft.com/office/drawing/2014/main" id="{661B76A7-7D9C-5E2C-D07C-B5FA6E49F3E7}"/>
              </a:ext>
            </a:extLst>
          </p:cNvPr>
          <p:cNvSpPr txBox="1"/>
          <p:nvPr/>
        </p:nvSpPr>
        <p:spPr>
          <a:xfrm>
            <a:off x="609600" y="44704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Accès non autorisé et risque de fuite de données</a:t>
            </a:r>
          </a:p>
          <a:p>
            <a:r>
              <a:rPr lang="fr-FR" sz="1200">
                <a:solidFill>
                  <a:srgbClr val="2E2A26"/>
                </a:solidFill>
                <a:latin typeface="Arial" panose="020B0604020202020204" pitchFamily="34" charset="0"/>
              </a:rPr>
              <a:t>• Commentaire auditeur: Extraction AD du 15/01/2025</a:t>
            </a:r>
          </a:p>
        </p:txBody>
      </p:sp>
      <p:sp>
        <p:nvSpPr>
          <p:cNvPr id="18" name="Rectangle 17">
            <a:extLst>
              <a:ext uri="{FF2B5EF4-FFF2-40B4-BE49-F238E27FC236}">
                <a16:creationId xmlns:a16="http://schemas.microsoft.com/office/drawing/2014/main" id="{8647E9DC-5823-0B34-F608-231D41052446}"/>
              </a:ext>
            </a:extLst>
          </p:cNvPr>
          <p:cNvSpPr/>
          <p:nvPr/>
        </p:nvSpPr>
        <p:spPr>
          <a:xfrm>
            <a:off x="61214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D290D9D4-B078-A481-A1A8-DC100C815991}"/>
              </a:ext>
            </a:extLst>
          </p:cNvPr>
          <p:cNvSpPr txBox="1"/>
          <p:nvPr/>
        </p:nvSpPr>
        <p:spPr>
          <a:xfrm>
            <a:off x="62992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Procedure compensatoire et recommandation</a:t>
            </a:r>
          </a:p>
        </p:txBody>
      </p:sp>
      <p:sp>
        <p:nvSpPr>
          <p:cNvPr id="20" name="ZoneTexte 19">
            <a:extLst>
              <a:ext uri="{FF2B5EF4-FFF2-40B4-BE49-F238E27FC236}">
                <a16:creationId xmlns:a16="http://schemas.microsoft.com/office/drawing/2014/main" id="{2B318EAA-B9B6-F0EE-AD66-CAEA4B04F614}"/>
              </a:ext>
            </a:extLst>
          </p:cNvPr>
          <p:cNvSpPr txBox="1"/>
          <p:nvPr/>
        </p:nvSpPr>
        <p:spPr>
          <a:xfrm>
            <a:off x="6299200" y="4470400"/>
            <a:ext cx="4876800" cy="646331"/>
          </a:xfrm>
          <a:prstGeom prst="rect">
            <a:avLst/>
          </a:prstGeom>
          <a:noFill/>
        </p:spPr>
        <p:txBody>
          <a:bodyPr vert="horz" rtlCol="0">
            <a:spAutoFit/>
          </a:bodyPr>
          <a:lstStyle/>
          <a:p>
            <a:r>
              <a:rPr lang="fr-FR" sz="1200">
                <a:solidFill>
                  <a:srgbClr val="2E2A26"/>
                </a:solidFill>
                <a:latin typeface="Arial" panose="020B0604020202020204" pitchFamily="34" charset="0"/>
              </a:rPr>
              <a:t>• Revue mensuelle existante mais non systématique</a:t>
            </a:r>
          </a:p>
          <a:p>
            <a:r>
              <a:rPr lang="fr-FR" sz="1200">
                <a:solidFill>
                  <a:srgbClr val="2E2A26"/>
                </a:solidFill>
                <a:latin typeface="Arial" panose="020B0604020202020204" pitchFamily="34" charset="0"/>
              </a:rPr>
              <a:t>• Mettre en place un rapprochement formel entre les departs RH et les comptes actifs, avec desactivation immediate et piste de revue.</a:t>
            </a:r>
          </a:p>
        </p:txBody>
      </p:sp>
      <p:sp>
        <p:nvSpPr>
          <p:cNvPr id="21" name="Rectangle 20">
            <a:extLst>
              <a:ext uri="{FF2B5EF4-FFF2-40B4-BE49-F238E27FC236}">
                <a16:creationId xmlns:a16="http://schemas.microsoft.com/office/drawing/2014/main" id="{E4A452B9-8D99-6E45-CC09-36EB444176E8}"/>
              </a:ext>
            </a:extLst>
          </p:cNvPr>
          <p:cNvSpPr/>
          <p:nvPr/>
        </p:nvSpPr>
        <p:spPr>
          <a:xfrm>
            <a:off x="9271000" y="1295400"/>
            <a:ext cx="2082800" cy="304800"/>
          </a:xfrm>
          <a:prstGeom prst="rect">
            <a:avLst/>
          </a:prstGeom>
          <a:solidFill>
            <a:srgbClr val="B423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78BAEC12-4CB4-C3CA-39B7-098231228D0D}"/>
              </a:ext>
            </a:extLst>
          </p:cNvPr>
          <p:cNvSpPr txBox="1"/>
          <p:nvPr/>
        </p:nvSpPr>
        <p:spPr>
          <a:xfrm>
            <a:off x="9271000" y="1320800"/>
            <a:ext cx="20828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Priorite Critique</a:t>
            </a:r>
          </a:p>
        </p:txBody>
      </p:sp>
    </p:spTree>
    <p:extLst>
      <p:ext uri="{BB962C8B-B14F-4D97-AF65-F5344CB8AC3E}">
        <p14:creationId xmlns:p14="http://schemas.microsoft.com/office/powerpoint/2010/main" val="1285254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8844692-2266-D849-449F-AFB41E91E2BF}"/>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555945BD-28FA-D0CB-21D6-72D50B56A525}"/>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6F248442-BDDD-00CC-095D-8047B5DE9A00}"/>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CA89FEA-EC93-6F6D-71A5-50B58745489B}"/>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Point releve</a:t>
            </a:r>
          </a:p>
        </p:txBody>
      </p:sp>
      <p:sp>
        <p:nvSpPr>
          <p:cNvPr id="6" name="ZoneTexte 5">
            <a:extLst>
              <a:ext uri="{FF2B5EF4-FFF2-40B4-BE49-F238E27FC236}">
                <a16:creationId xmlns:a16="http://schemas.microsoft.com/office/drawing/2014/main" id="{BD0BE3A2-E19F-26E0-61EF-7E88A3AABF19}"/>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APD-02 | SAP | Priorite Critique</a:t>
            </a:r>
          </a:p>
        </p:txBody>
      </p:sp>
      <p:sp>
        <p:nvSpPr>
          <p:cNvPr id="7" name="ZoneTexte 6">
            <a:extLst>
              <a:ext uri="{FF2B5EF4-FFF2-40B4-BE49-F238E27FC236}">
                <a16:creationId xmlns:a16="http://schemas.microsoft.com/office/drawing/2014/main" id="{619B0267-4092-417F-C8BC-31929D131019}"/>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11</a:t>
            </a:r>
          </a:p>
        </p:txBody>
      </p:sp>
      <p:sp>
        <p:nvSpPr>
          <p:cNvPr id="8" name="ZoneTexte 7">
            <a:extLst>
              <a:ext uri="{FF2B5EF4-FFF2-40B4-BE49-F238E27FC236}">
                <a16:creationId xmlns:a16="http://schemas.microsoft.com/office/drawing/2014/main" id="{850FB299-C75B-1971-29FE-A2351859B2F4}"/>
              </a:ext>
            </a:extLst>
          </p:cNvPr>
          <p:cNvSpPr txBox="1"/>
          <p:nvPr/>
        </p:nvSpPr>
        <p:spPr>
          <a:xfrm>
            <a:off x="457200" y="1320800"/>
            <a:ext cx="10922000" cy="369332"/>
          </a:xfrm>
          <a:prstGeom prst="rect">
            <a:avLst/>
          </a:prstGeom>
          <a:noFill/>
        </p:spPr>
        <p:txBody>
          <a:bodyPr vert="horz" rtlCol="0">
            <a:spAutoFit/>
          </a:bodyPr>
          <a:lstStyle/>
          <a:p>
            <a:r>
              <a:rPr lang="fr-FR" b="1">
                <a:solidFill>
                  <a:srgbClr val="2E2A26"/>
                </a:solidFill>
                <a:latin typeface="Arial" panose="020B0604020202020204" pitchFamily="34" charset="0"/>
              </a:rPr>
              <a:t>Absence de validation des accès</a:t>
            </a:r>
          </a:p>
        </p:txBody>
      </p:sp>
      <p:sp>
        <p:nvSpPr>
          <p:cNvPr id="9" name="Rectangle 8">
            <a:extLst>
              <a:ext uri="{FF2B5EF4-FFF2-40B4-BE49-F238E27FC236}">
                <a16:creationId xmlns:a16="http://schemas.microsoft.com/office/drawing/2014/main" id="{51085E9E-16A1-C231-75A4-9E18B33DC54A}"/>
              </a:ext>
            </a:extLst>
          </p:cNvPr>
          <p:cNvSpPr/>
          <p:nvPr/>
        </p:nvSpPr>
        <p:spPr>
          <a:xfrm>
            <a:off x="4318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CEFA4339-BE59-34D5-D252-5C8EDC856688}"/>
              </a:ext>
            </a:extLst>
          </p:cNvPr>
          <p:cNvSpPr txBox="1"/>
          <p:nvPr/>
        </p:nvSpPr>
        <p:spPr>
          <a:xfrm>
            <a:off x="6096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Constat</a:t>
            </a:r>
          </a:p>
        </p:txBody>
      </p:sp>
      <p:sp>
        <p:nvSpPr>
          <p:cNvPr id="11" name="ZoneTexte 10">
            <a:extLst>
              <a:ext uri="{FF2B5EF4-FFF2-40B4-BE49-F238E27FC236}">
                <a16:creationId xmlns:a16="http://schemas.microsoft.com/office/drawing/2014/main" id="{FC9126EF-0D2B-3AA0-1013-ADD1CA5D4730}"/>
              </a:ext>
            </a:extLst>
          </p:cNvPr>
          <p:cNvSpPr txBox="1"/>
          <p:nvPr/>
        </p:nvSpPr>
        <p:spPr>
          <a:xfrm>
            <a:off x="609600" y="2260600"/>
            <a:ext cx="4876800" cy="830997"/>
          </a:xfrm>
          <a:prstGeom prst="rect">
            <a:avLst/>
          </a:prstGeom>
          <a:noFill/>
        </p:spPr>
        <p:txBody>
          <a:bodyPr vert="horz" rtlCol="0">
            <a:spAutoFit/>
          </a:bodyPr>
          <a:lstStyle/>
          <a:p>
            <a:r>
              <a:rPr lang="fr-FR" sz="1200">
                <a:solidFill>
                  <a:srgbClr val="2E2A26"/>
                </a:solidFill>
                <a:latin typeface="Arial" panose="020B0604020202020204" pitchFamily="34" charset="0"/>
              </a:rPr>
              <a:t>• 8 comptes créés sans validation</a:t>
            </a:r>
          </a:p>
          <a:p>
            <a:r>
              <a:rPr lang="fr-FR" sz="1200">
                <a:solidFill>
                  <a:srgbClr val="2E2A26"/>
                </a:solidFill>
                <a:latin typeface="Arial" panose="020B0604020202020204" pitchFamily="34" charset="0"/>
              </a:rPr>
              <a:t>• Le constat OBS-002 concerne SAP et traduit une faiblesse sur le controle APD-02. Compte tenu de l'impact potentiel identifie (Risque de fraude ou erreur), la priorite proposee est critique.</a:t>
            </a:r>
          </a:p>
        </p:txBody>
      </p:sp>
      <p:sp>
        <p:nvSpPr>
          <p:cNvPr id="12" name="Rectangle 11">
            <a:extLst>
              <a:ext uri="{FF2B5EF4-FFF2-40B4-BE49-F238E27FC236}">
                <a16:creationId xmlns:a16="http://schemas.microsoft.com/office/drawing/2014/main" id="{6372227A-227E-7B4C-17D2-97D96241B27E}"/>
              </a:ext>
            </a:extLst>
          </p:cNvPr>
          <p:cNvSpPr/>
          <p:nvPr/>
        </p:nvSpPr>
        <p:spPr>
          <a:xfrm>
            <a:off x="61214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3EF28A31-79A7-FFFA-0B8F-6EE533462D67}"/>
              </a:ext>
            </a:extLst>
          </p:cNvPr>
          <p:cNvSpPr txBox="1"/>
          <p:nvPr/>
        </p:nvSpPr>
        <p:spPr>
          <a:xfrm>
            <a:off x="62992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Controle attendu</a:t>
            </a:r>
          </a:p>
        </p:txBody>
      </p:sp>
      <p:sp>
        <p:nvSpPr>
          <p:cNvPr id="14" name="ZoneTexte 13">
            <a:extLst>
              <a:ext uri="{FF2B5EF4-FFF2-40B4-BE49-F238E27FC236}">
                <a16:creationId xmlns:a16="http://schemas.microsoft.com/office/drawing/2014/main" id="{5EDBBDD1-B861-0256-DFA0-88159C46C5B3}"/>
              </a:ext>
            </a:extLst>
          </p:cNvPr>
          <p:cNvSpPr txBox="1"/>
          <p:nvPr/>
        </p:nvSpPr>
        <p:spPr>
          <a:xfrm>
            <a:off x="6299200" y="22606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Toute création d’accès doit être validée</a:t>
            </a:r>
          </a:p>
          <a:p>
            <a:r>
              <a:rPr lang="fr-FR" sz="1200">
                <a:solidFill>
                  <a:srgbClr val="2E2A26"/>
                </a:solidFill>
                <a:latin typeface="Arial" panose="020B0604020202020204" pitchFamily="34" charset="0"/>
              </a:rPr>
              <a:t>• Categorie: Création des accès</a:t>
            </a:r>
          </a:p>
        </p:txBody>
      </p:sp>
      <p:sp>
        <p:nvSpPr>
          <p:cNvPr id="15" name="Rectangle 14">
            <a:extLst>
              <a:ext uri="{FF2B5EF4-FFF2-40B4-BE49-F238E27FC236}">
                <a16:creationId xmlns:a16="http://schemas.microsoft.com/office/drawing/2014/main" id="{CCF40FE9-3C87-332E-9B8A-4FC106354228}"/>
              </a:ext>
            </a:extLst>
          </p:cNvPr>
          <p:cNvSpPr/>
          <p:nvPr/>
        </p:nvSpPr>
        <p:spPr>
          <a:xfrm>
            <a:off x="4318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A589D50C-0EA4-30FE-9299-9A73E689AF2D}"/>
              </a:ext>
            </a:extLst>
          </p:cNvPr>
          <p:cNvSpPr txBox="1"/>
          <p:nvPr/>
        </p:nvSpPr>
        <p:spPr>
          <a:xfrm>
            <a:off x="6096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Risque / impact</a:t>
            </a:r>
          </a:p>
        </p:txBody>
      </p:sp>
      <p:sp>
        <p:nvSpPr>
          <p:cNvPr id="17" name="ZoneTexte 16">
            <a:extLst>
              <a:ext uri="{FF2B5EF4-FFF2-40B4-BE49-F238E27FC236}">
                <a16:creationId xmlns:a16="http://schemas.microsoft.com/office/drawing/2014/main" id="{8326F6CC-9B3E-AE84-685F-1DFD0B2CDC23}"/>
              </a:ext>
            </a:extLst>
          </p:cNvPr>
          <p:cNvSpPr txBox="1"/>
          <p:nvPr/>
        </p:nvSpPr>
        <p:spPr>
          <a:xfrm>
            <a:off x="609600" y="44704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Risque de fraude ou erreur</a:t>
            </a:r>
          </a:p>
          <a:p>
            <a:r>
              <a:rPr lang="fr-FR" sz="1200">
                <a:solidFill>
                  <a:srgbClr val="2E2A26"/>
                </a:solidFill>
                <a:latin typeface="Arial" panose="020B0604020202020204" pitchFamily="34" charset="0"/>
              </a:rPr>
              <a:t>• Commentaire auditeur: Analyse SAP février 2025</a:t>
            </a:r>
          </a:p>
        </p:txBody>
      </p:sp>
      <p:sp>
        <p:nvSpPr>
          <p:cNvPr id="18" name="Rectangle 17">
            <a:extLst>
              <a:ext uri="{FF2B5EF4-FFF2-40B4-BE49-F238E27FC236}">
                <a16:creationId xmlns:a16="http://schemas.microsoft.com/office/drawing/2014/main" id="{AE927307-EB13-48A4-933E-1922702E4620}"/>
              </a:ext>
            </a:extLst>
          </p:cNvPr>
          <p:cNvSpPr/>
          <p:nvPr/>
        </p:nvSpPr>
        <p:spPr>
          <a:xfrm>
            <a:off x="61214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0EEE9E82-ABBB-6629-19E6-8D0E20B4D69B}"/>
              </a:ext>
            </a:extLst>
          </p:cNvPr>
          <p:cNvSpPr txBox="1"/>
          <p:nvPr/>
        </p:nvSpPr>
        <p:spPr>
          <a:xfrm>
            <a:off x="62992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Procedure compensatoire et recommandation</a:t>
            </a:r>
          </a:p>
        </p:txBody>
      </p:sp>
      <p:sp>
        <p:nvSpPr>
          <p:cNvPr id="20" name="ZoneTexte 19">
            <a:extLst>
              <a:ext uri="{FF2B5EF4-FFF2-40B4-BE49-F238E27FC236}">
                <a16:creationId xmlns:a16="http://schemas.microsoft.com/office/drawing/2014/main" id="{CAB4C88A-9EF6-A002-B696-4BAA911F0AA4}"/>
              </a:ext>
            </a:extLst>
          </p:cNvPr>
          <p:cNvSpPr txBox="1"/>
          <p:nvPr/>
        </p:nvSpPr>
        <p:spPr>
          <a:xfrm>
            <a:off x="6299200" y="4470400"/>
            <a:ext cx="4876800" cy="646331"/>
          </a:xfrm>
          <a:prstGeom prst="rect">
            <a:avLst/>
          </a:prstGeom>
          <a:noFill/>
        </p:spPr>
        <p:txBody>
          <a:bodyPr vert="horz" rtlCol="0">
            <a:spAutoFit/>
          </a:bodyPr>
          <a:lstStyle/>
          <a:p>
            <a:r>
              <a:rPr lang="fr-FR" sz="1200">
                <a:solidFill>
                  <a:srgbClr val="2E2A26"/>
                </a:solidFill>
                <a:latin typeface="Arial" panose="020B0604020202020204" pitchFamily="34" charset="0"/>
              </a:rPr>
              <a:t>• Validation informelle par email</a:t>
            </a:r>
          </a:p>
          <a:p>
            <a:r>
              <a:rPr lang="fr-FR" sz="1200">
                <a:solidFill>
                  <a:srgbClr val="2E2A26"/>
                </a:solidFill>
                <a:latin typeface="Arial" panose="020B0604020202020204" pitchFamily="34" charset="0"/>
              </a:rPr>
              <a:t>• Exiger une validation hierarchique tracee avant toute creation d'acces et bloquer techniquement les demandes incompletes.</a:t>
            </a:r>
          </a:p>
        </p:txBody>
      </p:sp>
      <p:sp>
        <p:nvSpPr>
          <p:cNvPr id="21" name="Rectangle 20">
            <a:extLst>
              <a:ext uri="{FF2B5EF4-FFF2-40B4-BE49-F238E27FC236}">
                <a16:creationId xmlns:a16="http://schemas.microsoft.com/office/drawing/2014/main" id="{2059FE23-0761-919F-FF0A-6AADA526D3FE}"/>
              </a:ext>
            </a:extLst>
          </p:cNvPr>
          <p:cNvSpPr/>
          <p:nvPr/>
        </p:nvSpPr>
        <p:spPr>
          <a:xfrm>
            <a:off x="9271000" y="1295400"/>
            <a:ext cx="2082800" cy="304800"/>
          </a:xfrm>
          <a:prstGeom prst="rect">
            <a:avLst/>
          </a:prstGeom>
          <a:solidFill>
            <a:srgbClr val="B42318"/>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6B21429F-233E-2E9C-E2BE-2118AE9384C2}"/>
              </a:ext>
            </a:extLst>
          </p:cNvPr>
          <p:cNvSpPr txBox="1"/>
          <p:nvPr/>
        </p:nvSpPr>
        <p:spPr>
          <a:xfrm>
            <a:off x="9271000" y="1320800"/>
            <a:ext cx="20828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Priorite Critique</a:t>
            </a:r>
          </a:p>
        </p:txBody>
      </p:sp>
    </p:spTree>
    <p:extLst>
      <p:ext uri="{BB962C8B-B14F-4D97-AF65-F5344CB8AC3E}">
        <p14:creationId xmlns:p14="http://schemas.microsoft.com/office/powerpoint/2010/main" val="4553986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E5F0BD6-A4A3-E05A-0288-3FD855C990A9}"/>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6BAB66AD-C801-4BD2-3460-0166E1D10B2F}"/>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34FC768B-3DE3-7947-544B-07B392222EB2}"/>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8AB6043B-82F5-B171-54E8-D7F861099E57}"/>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Point releve</a:t>
            </a:r>
          </a:p>
        </p:txBody>
      </p:sp>
      <p:sp>
        <p:nvSpPr>
          <p:cNvPr id="6" name="ZoneTexte 5">
            <a:extLst>
              <a:ext uri="{FF2B5EF4-FFF2-40B4-BE49-F238E27FC236}">
                <a16:creationId xmlns:a16="http://schemas.microsoft.com/office/drawing/2014/main" id="{A3DD9E2A-9F88-2527-0D74-BAABA1D29412}"/>
              </a:ext>
            </a:extLst>
          </p:cNvPr>
          <p:cNvSpPr txBox="1"/>
          <p:nvPr/>
        </p:nvSpPr>
        <p:spPr>
          <a:xfrm>
            <a:off x="355600" y="889000"/>
            <a:ext cx="11176000" cy="261610"/>
          </a:xfrm>
          <a:prstGeom prst="rect">
            <a:avLst/>
          </a:prstGeom>
          <a:noFill/>
        </p:spPr>
        <p:txBody>
          <a:bodyPr vert="horz" rtlCol="0">
            <a:spAutoFit/>
          </a:bodyPr>
          <a:lstStyle/>
          <a:p>
            <a:r>
              <a:rPr lang="en-US" sz="1100">
                <a:solidFill>
                  <a:srgbClr val="7A726B"/>
                </a:solidFill>
                <a:latin typeface="Arial" panose="020B0604020202020204" pitchFamily="34" charset="0"/>
              </a:rPr>
              <a:t>CO-01 | Serveur Backup | Priorite Elevee</a:t>
            </a:r>
            <a:endParaRPr lang="fr-FR" sz="1100">
              <a:solidFill>
                <a:srgbClr val="7A726B"/>
              </a:solidFill>
              <a:latin typeface="Arial" panose="020B0604020202020204" pitchFamily="34" charset="0"/>
            </a:endParaRPr>
          </a:p>
        </p:txBody>
      </p:sp>
      <p:sp>
        <p:nvSpPr>
          <p:cNvPr id="7" name="ZoneTexte 6">
            <a:extLst>
              <a:ext uri="{FF2B5EF4-FFF2-40B4-BE49-F238E27FC236}">
                <a16:creationId xmlns:a16="http://schemas.microsoft.com/office/drawing/2014/main" id="{9CBC1D32-9790-D97E-8270-AA3B2F810349}"/>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12</a:t>
            </a:r>
          </a:p>
        </p:txBody>
      </p:sp>
      <p:sp>
        <p:nvSpPr>
          <p:cNvPr id="8" name="ZoneTexte 7">
            <a:extLst>
              <a:ext uri="{FF2B5EF4-FFF2-40B4-BE49-F238E27FC236}">
                <a16:creationId xmlns:a16="http://schemas.microsoft.com/office/drawing/2014/main" id="{17197D00-1318-4380-B429-F210465256D4}"/>
              </a:ext>
            </a:extLst>
          </p:cNvPr>
          <p:cNvSpPr txBox="1"/>
          <p:nvPr/>
        </p:nvSpPr>
        <p:spPr>
          <a:xfrm>
            <a:off x="457200" y="1320800"/>
            <a:ext cx="10922000" cy="369332"/>
          </a:xfrm>
          <a:prstGeom prst="rect">
            <a:avLst/>
          </a:prstGeom>
          <a:noFill/>
        </p:spPr>
        <p:txBody>
          <a:bodyPr vert="horz" rtlCol="0">
            <a:spAutoFit/>
          </a:bodyPr>
          <a:lstStyle/>
          <a:p>
            <a:r>
              <a:rPr lang="fr-FR" b="1">
                <a:solidFill>
                  <a:srgbClr val="2E2A26"/>
                </a:solidFill>
                <a:latin typeface="Arial" panose="020B0604020202020204" pitchFamily="34" charset="0"/>
              </a:rPr>
              <a:t>Absence de test de restauration</a:t>
            </a:r>
          </a:p>
        </p:txBody>
      </p:sp>
      <p:sp>
        <p:nvSpPr>
          <p:cNvPr id="9" name="Rectangle 8">
            <a:extLst>
              <a:ext uri="{FF2B5EF4-FFF2-40B4-BE49-F238E27FC236}">
                <a16:creationId xmlns:a16="http://schemas.microsoft.com/office/drawing/2014/main" id="{9AB9DA9F-83BB-CA6A-E093-B305FF525F1B}"/>
              </a:ext>
            </a:extLst>
          </p:cNvPr>
          <p:cNvSpPr/>
          <p:nvPr/>
        </p:nvSpPr>
        <p:spPr>
          <a:xfrm>
            <a:off x="4318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D95E78E6-8831-77A1-F545-AA26AB8A14FA}"/>
              </a:ext>
            </a:extLst>
          </p:cNvPr>
          <p:cNvSpPr txBox="1"/>
          <p:nvPr/>
        </p:nvSpPr>
        <p:spPr>
          <a:xfrm>
            <a:off x="6096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Constat</a:t>
            </a:r>
          </a:p>
        </p:txBody>
      </p:sp>
      <p:sp>
        <p:nvSpPr>
          <p:cNvPr id="11" name="ZoneTexte 10">
            <a:extLst>
              <a:ext uri="{FF2B5EF4-FFF2-40B4-BE49-F238E27FC236}">
                <a16:creationId xmlns:a16="http://schemas.microsoft.com/office/drawing/2014/main" id="{5124028F-85E2-0DB4-9650-607E98B3EBBA}"/>
              </a:ext>
            </a:extLst>
          </p:cNvPr>
          <p:cNvSpPr txBox="1"/>
          <p:nvPr/>
        </p:nvSpPr>
        <p:spPr>
          <a:xfrm>
            <a:off x="609600" y="2260600"/>
            <a:ext cx="4876800" cy="830997"/>
          </a:xfrm>
          <a:prstGeom prst="rect">
            <a:avLst/>
          </a:prstGeom>
          <a:noFill/>
        </p:spPr>
        <p:txBody>
          <a:bodyPr vert="horz" rtlCol="0">
            <a:spAutoFit/>
          </a:bodyPr>
          <a:lstStyle/>
          <a:p>
            <a:r>
              <a:rPr lang="fr-FR" sz="1200">
                <a:solidFill>
                  <a:srgbClr val="2E2A26"/>
                </a:solidFill>
                <a:latin typeface="Arial" panose="020B0604020202020204" pitchFamily="34" charset="0"/>
              </a:rPr>
              <a:t>• Aucun test sur 12 mois</a:t>
            </a:r>
          </a:p>
          <a:p>
            <a:r>
              <a:rPr lang="fr-FR" sz="1200">
                <a:solidFill>
                  <a:srgbClr val="2E2A26"/>
                </a:solidFill>
                <a:latin typeface="Arial" panose="020B0604020202020204" pitchFamily="34" charset="0"/>
              </a:rPr>
              <a:t>• Le constat OBS-004 concerne Serveur Backup et traduit une faiblesse sur le controle CO-01. Compte tenu de l'impact potentiel identifie (Risque perte de données), la priorite proposee est elevee.</a:t>
            </a:r>
          </a:p>
        </p:txBody>
      </p:sp>
      <p:sp>
        <p:nvSpPr>
          <p:cNvPr id="12" name="Rectangle 11">
            <a:extLst>
              <a:ext uri="{FF2B5EF4-FFF2-40B4-BE49-F238E27FC236}">
                <a16:creationId xmlns:a16="http://schemas.microsoft.com/office/drawing/2014/main" id="{AFD5D9BA-630F-4FE0-303A-C521C4092FA3}"/>
              </a:ext>
            </a:extLst>
          </p:cNvPr>
          <p:cNvSpPr/>
          <p:nvPr/>
        </p:nvSpPr>
        <p:spPr>
          <a:xfrm>
            <a:off x="61214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2BEE1816-C34B-93BE-EC03-5C9BEB0B05D2}"/>
              </a:ext>
            </a:extLst>
          </p:cNvPr>
          <p:cNvSpPr txBox="1"/>
          <p:nvPr/>
        </p:nvSpPr>
        <p:spPr>
          <a:xfrm>
            <a:off x="62992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Controle attendu</a:t>
            </a:r>
          </a:p>
        </p:txBody>
      </p:sp>
      <p:sp>
        <p:nvSpPr>
          <p:cNvPr id="14" name="ZoneTexte 13">
            <a:extLst>
              <a:ext uri="{FF2B5EF4-FFF2-40B4-BE49-F238E27FC236}">
                <a16:creationId xmlns:a16="http://schemas.microsoft.com/office/drawing/2014/main" id="{B241A22A-8566-B3D4-D2FC-812A397FD523}"/>
              </a:ext>
            </a:extLst>
          </p:cNvPr>
          <p:cNvSpPr txBox="1"/>
          <p:nvPr/>
        </p:nvSpPr>
        <p:spPr>
          <a:xfrm>
            <a:off x="6299200" y="22606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Les sauvegardes doivent être testées</a:t>
            </a:r>
          </a:p>
          <a:p>
            <a:r>
              <a:rPr lang="fr-FR" sz="1200">
                <a:solidFill>
                  <a:srgbClr val="2E2A26"/>
                </a:solidFill>
                <a:latin typeface="Arial" panose="020B0604020202020204" pitchFamily="34" charset="0"/>
              </a:rPr>
              <a:t>• Categorie: Sauvegardes</a:t>
            </a:r>
          </a:p>
        </p:txBody>
      </p:sp>
      <p:sp>
        <p:nvSpPr>
          <p:cNvPr id="15" name="Rectangle 14">
            <a:extLst>
              <a:ext uri="{FF2B5EF4-FFF2-40B4-BE49-F238E27FC236}">
                <a16:creationId xmlns:a16="http://schemas.microsoft.com/office/drawing/2014/main" id="{F55F4A21-1A60-D691-E80A-79F455130C26}"/>
              </a:ext>
            </a:extLst>
          </p:cNvPr>
          <p:cNvSpPr/>
          <p:nvPr/>
        </p:nvSpPr>
        <p:spPr>
          <a:xfrm>
            <a:off x="4318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17D31D85-A97C-6D16-7B5D-2FF62B1EA077}"/>
              </a:ext>
            </a:extLst>
          </p:cNvPr>
          <p:cNvSpPr txBox="1"/>
          <p:nvPr/>
        </p:nvSpPr>
        <p:spPr>
          <a:xfrm>
            <a:off x="6096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Risque / impact</a:t>
            </a:r>
          </a:p>
        </p:txBody>
      </p:sp>
      <p:sp>
        <p:nvSpPr>
          <p:cNvPr id="17" name="ZoneTexte 16">
            <a:extLst>
              <a:ext uri="{FF2B5EF4-FFF2-40B4-BE49-F238E27FC236}">
                <a16:creationId xmlns:a16="http://schemas.microsoft.com/office/drawing/2014/main" id="{6E502A36-F4AF-33CC-3DF6-8E8F9CC6A99D}"/>
              </a:ext>
            </a:extLst>
          </p:cNvPr>
          <p:cNvSpPr txBox="1"/>
          <p:nvPr/>
        </p:nvSpPr>
        <p:spPr>
          <a:xfrm>
            <a:off x="609600" y="44704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Risque perte de données</a:t>
            </a:r>
          </a:p>
          <a:p>
            <a:r>
              <a:rPr lang="fr-FR" sz="1200">
                <a:solidFill>
                  <a:srgbClr val="2E2A26"/>
                </a:solidFill>
                <a:latin typeface="Arial" panose="020B0604020202020204" pitchFamily="34" charset="0"/>
              </a:rPr>
              <a:t>• Commentaire auditeur: Logs backup mars 2025</a:t>
            </a:r>
          </a:p>
        </p:txBody>
      </p:sp>
      <p:sp>
        <p:nvSpPr>
          <p:cNvPr id="18" name="Rectangle 17">
            <a:extLst>
              <a:ext uri="{FF2B5EF4-FFF2-40B4-BE49-F238E27FC236}">
                <a16:creationId xmlns:a16="http://schemas.microsoft.com/office/drawing/2014/main" id="{D1BBE8F3-9451-4954-3B65-AAC4DB1A3C17}"/>
              </a:ext>
            </a:extLst>
          </p:cNvPr>
          <p:cNvSpPr/>
          <p:nvPr/>
        </p:nvSpPr>
        <p:spPr>
          <a:xfrm>
            <a:off x="61214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22604FFF-1E7D-348C-9E4E-52D9CF7D19B6}"/>
              </a:ext>
            </a:extLst>
          </p:cNvPr>
          <p:cNvSpPr txBox="1"/>
          <p:nvPr/>
        </p:nvSpPr>
        <p:spPr>
          <a:xfrm>
            <a:off x="62992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Procedure compensatoire et recommandation</a:t>
            </a:r>
          </a:p>
        </p:txBody>
      </p:sp>
      <p:sp>
        <p:nvSpPr>
          <p:cNvPr id="20" name="ZoneTexte 19">
            <a:extLst>
              <a:ext uri="{FF2B5EF4-FFF2-40B4-BE49-F238E27FC236}">
                <a16:creationId xmlns:a16="http://schemas.microsoft.com/office/drawing/2014/main" id="{501C6C50-04C9-DBF2-7D77-BC0E52110798}"/>
              </a:ext>
            </a:extLst>
          </p:cNvPr>
          <p:cNvSpPr txBox="1"/>
          <p:nvPr/>
        </p:nvSpPr>
        <p:spPr>
          <a:xfrm>
            <a:off x="6299200" y="4470400"/>
            <a:ext cx="4876800" cy="646331"/>
          </a:xfrm>
          <a:prstGeom prst="rect">
            <a:avLst/>
          </a:prstGeom>
          <a:noFill/>
        </p:spPr>
        <p:txBody>
          <a:bodyPr vert="horz" rtlCol="0">
            <a:spAutoFit/>
          </a:bodyPr>
          <a:lstStyle/>
          <a:p>
            <a:r>
              <a:rPr lang="fr-FR" sz="1200">
                <a:solidFill>
                  <a:srgbClr val="2E2A26"/>
                </a:solidFill>
                <a:latin typeface="Arial" panose="020B0604020202020204" pitchFamily="34" charset="0"/>
              </a:rPr>
              <a:t>• Sauvegardes quotidiennes</a:t>
            </a:r>
          </a:p>
          <a:p>
            <a:r>
              <a:rPr lang="fr-FR" sz="1200">
                <a:solidFill>
                  <a:srgbClr val="2E2A26"/>
                </a:solidFill>
                <a:latin typeface="Arial" panose="020B0604020202020204" pitchFamily="34" charset="0"/>
              </a:rPr>
              <a:t>• Planifier et documenter des tests de restauration periodiques afin de confirmer la recuperabilite effective des sauvegardes.</a:t>
            </a:r>
          </a:p>
        </p:txBody>
      </p:sp>
      <p:sp>
        <p:nvSpPr>
          <p:cNvPr id="21" name="Rectangle 20">
            <a:extLst>
              <a:ext uri="{FF2B5EF4-FFF2-40B4-BE49-F238E27FC236}">
                <a16:creationId xmlns:a16="http://schemas.microsoft.com/office/drawing/2014/main" id="{E7D75667-C6B8-8DD8-968A-A55EAF57CDBA}"/>
              </a:ext>
            </a:extLst>
          </p:cNvPr>
          <p:cNvSpPr/>
          <p:nvPr/>
        </p:nvSpPr>
        <p:spPr>
          <a:xfrm>
            <a:off x="9271000" y="1295400"/>
            <a:ext cx="2082800" cy="304800"/>
          </a:xfrm>
          <a:prstGeom prst="rect">
            <a:avLst/>
          </a:prstGeom>
          <a:solidFill>
            <a:srgbClr val="EC6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F6B5114A-541D-C30C-4865-04176523BB53}"/>
              </a:ext>
            </a:extLst>
          </p:cNvPr>
          <p:cNvSpPr txBox="1"/>
          <p:nvPr/>
        </p:nvSpPr>
        <p:spPr>
          <a:xfrm>
            <a:off x="9271000" y="1320800"/>
            <a:ext cx="20828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Priorite Elevee</a:t>
            </a:r>
          </a:p>
        </p:txBody>
      </p:sp>
    </p:spTree>
    <p:extLst>
      <p:ext uri="{BB962C8B-B14F-4D97-AF65-F5344CB8AC3E}">
        <p14:creationId xmlns:p14="http://schemas.microsoft.com/office/powerpoint/2010/main" val="241964461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475971C0-5AF5-ED6A-BB81-4586D6983E59}"/>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33660B1A-B2F5-DD49-AE48-00D2FB21ED94}"/>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B4FFD654-4CC3-633A-75F2-8E94BD0B36C0}"/>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9DCCDAB0-B4E0-8ABB-D4FA-E52C6576F6F0}"/>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Point releve</a:t>
            </a:r>
          </a:p>
        </p:txBody>
      </p:sp>
      <p:sp>
        <p:nvSpPr>
          <p:cNvPr id="6" name="ZoneTexte 5">
            <a:extLst>
              <a:ext uri="{FF2B5EF4-FFF2-40B4-BE49-F238E27FC236}">
                <a16:creationId xmlns:a16="http://schemas.microsoft.com/office/drawing/2014/main" id="{FDB77853-6D19-2926-6A5C-BB4B87DEB446}"/>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PC-01 | Oracle | Priorite Elevee</a:t>
            </a:r>
          </a:p>
        </p:txBody>
      </p:sp>
      <p:sp>
        <p:nvSpPr>
          <p:cNvPr id="7" name="ZoneTexte 6">
            <a:extLst>
              <a:ext uri="{FF2B5EF4-FFF2-40B4-BE49-F238E27FC236}">
                <a16:creationId xmlns:a16="http://schemas.microsoft.com/office/drawing/2014/main" id="{0669CCBF-63D1-DAC0-050D-8256B93557AD}"/>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13</a:t>
            </a:r>
          </a:p>
        </p:txBody>
      </p:sp>
      <p:sp>
        <p:nvSpPr>
          <p:cNvPr id="8" name="ZoneTexte 7">
            <a:extLst>
              <a:ext uri="{FF2B5EF4-FFF2-40B4-BE49-F238E27FC236}">
                <a16:creationId xmlns:a16="http://schemas.microsoft.com/office/drawing/2014/main" id="{2068A197-D13D-D2EA-7EEB-897D67950137}"/>
              </a:ext>
            </a:extLst>
          </p:cNvPr>
          <p:cNvSpPr txBox="1"/>
          <p:nvPr/>
        </p:nvSpPr>
        <p:spPr>
          <a:xfrm>
            <a:off x="457200" y="1320800"/>
            <a:ext cx="10922000" cy="369332"/>
          </a:xfrm>
          <a:prstGeom prst="rect">
            <a:avLst/>
          </a:prstGeom>
          <a:noFill/>
        </p:spPr>
        <p:txBody>
          <a:bodyPr vert="horz" rtlCol="0">
            <a:spAutoFit/>
          </a:bodyPr>
          <a:lstStyle/>
          <a:p>
            <a:r>
              <a:rPr lang="fr-FR" b="1">
                <a:solidFill>
                  <a:srgbClr val="2E2A26"/>
                </a:solidFill>
                <a:latin typeface="Arial" panose="020B0604020202020204" pitchFamily="34" charset="0"/>
              </a:rPr>
              <a:t>Changements non validés</a:t>
            </a:r>
          </a:p>
        </p:txBody>
      </p:sp>
      <p:sp>
        <p:nvSpPr>
          <p:cNvPr id="9" name="Rectangle 8">
            <a:extLst>
              <a:ext uri="{FF2B5EF4-FFF2-40B4-BE49-F238E27FC236}">
                <a16:creationId xmlns:a16="http://schemas.microsoft.com/office/drawing/2014/main" id="{BFA2E552-41F2-463D-48A8-5936DE89F237}"/>
              </a:ext>
            </a:extLst>
          </p:cNvPr>
          <p:cNvSpPr/>
          <p:nvPr/>
        </p:nvSpPr>
        <p:spPr>
          <a:xfrm>
            <a:off x="4318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0" name="ZoneTexte 9">
            <a:extLst>
              <a:ext uri="{FF2B5EF4-FFF2-40B4-BE49-F238E27FC236}">
                <a16:creationId xmlns:a16="http://schemas.microsoft.com/office/drawing/2014/main" id="{E49EEB2A-AA35-CF15-7B2B-F61439C3653F}"/>
              </a:ext>
            </a:extLst>
          </p:cNvPr>
          <p:cNvSpPr txBox="1"/>
          <p:nvPr/>
        </p:nvSpPr>
        <p:spPr>
          <a:xfrm>
            <a:off x="6096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Constat</a:t>
            </a:r>
          </a:p>
        </p:txBody>
      </p:sp>
      <p:sp>
        <p:nvSpPr>
          <p:cNvPr id="11" name="ZoneTexte 10">
            <a:extLst>
              <a:ext uri="{FF2B5EF4-FFF2-40B4-BE49-F238E27FC236}">
                <a16:creationId xmlns:a16="http://schemas.microsoft.com/office/drawing/2014/main" id="{40B192CF-3D98-2791-5A8D-6336D6F6D637}"/>
              </a:ext>
            </a:extLst>
          </p:cNvPr>
          <p:cNvSpPr txBox="1"/>
          <p:nvPr/>
        </p:nvSpPr>
        <p:spPr>
          <a:xfrm>
            <a:off x="609600" y="2260600"/>
            <a:ext cx="4876800" cy="830997"/>
          </a:xfrm>
          <a:prstGeom prst="rect">
            <a:avLst/>
          </a:prstGeom>
          <a:noFill/>
        </p:spPr>
        <p:txBody>
          <a:bodyPr vert="horz" rtlCol="0">
            <a:spAutoFit/>
          </a:bodyPr>
          <a:lstStyle/>
          <a:p>
            <a:r>
              <a:rPr lang="fr-FR" sz="1200">
                <a:solidFill>
                  <a:srgbClr val="2E2A26"/>
                </a:solidFill>
                <a:latin typeface="Arial" panose="020B0604020202020204" pitchFamily="34" charset="0"/>
              </a:rPr>
              <a:t>• 3 changements déployés sans validation</a:t>
            </a:r>
          </a:p>
          <a:p>
            <a:r>
              <a:rPr lang="fr-FR" sz="1200">
                <a:solidFill>
                  <a:srgbClr val="2E2A26"/>
                </a:solidFill>
                <a:latin typeface="Arial" panose="020B0604020202020204" pitchFamily="34" charset="0"/>
              </a:rPr>
              <a:t>• Le constat OBS-003 concerne Oracle et traduit une faiblesse sur le controle PC-01. Compte tenu de l'impact potentiel identifie (Instabilité système), la priorite proposee est elevee.</a:t>
            </a:r>
          </a:p>
        </p:txBody>
      </p:sp>
      <p:sp>
        <p:nvSpPr>
          <p:cNvPr id="12" name="Rectangle 11">
            <a:extLst>
              <a:ext uri="{FF2B5EF4-FFF2-40B4-BE49-F238E27FC236}">
                <a16:creationId xmlns:a16="http://schemas.microsoft.com/office/drawing/2014/main" id="{E40F53B2-BB39-206A-FD88-B167F21000D6}"/>
              </a:ext>
            </a:extLst>
          </p:cNvPr>
          <p:cNvSpPr/>
          <p:nvPr/>
        </p:nvSpPr>
        <p:spPr>
          <a:xfrm>
            <a:off x="6121400" y="1778000"/>
            <a:ext cx="5232400" cy="19685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3" name="ZoneTexte 12">
            <a:extLst>
              <a:ext uri="{FF2B5EF4-FFF2-40B4-BE49-F238E27FC236}">
                <a16:creationId xmlns:a16="http://schemas.microsoft.com/office/drawing/2014/main" id="{9DCB5D05-54D7-5959-231E-533B24C604C4}"/>
              </a:ext>
            </a:extLst>
          </p:cNvPr>
          <p:cNvSpPr txBox="1"/>
          <p:nvPr/>
        </p:nvSpPr>
        <p:spPr>
          <a:xfrm>
            <a:off x="6299200" y="19050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Controle attendu</a:t>
            </a:r>
          </a:p>
        </p:txBody>
      </p:sp>
      <p:sp>
        <p:nvSpPr>
          <p:cNvPr id="14" name="ZoneTexte 13">
            <a:extLst>
              <a:ext uri="{FF2B5EF4-FFF2-40B4-BE49-F238E27FC236}">
                <a16:creationId xmlns:a16="http://schemas.microsoft.com/office/drawing/2014/main" id="{9AD7250E-B2C6-044F-FC0C-3F6C710352E9}"/>
              </a:ext>
            </a:extLst>
          </p:cNvPr>
          <p:cNvSpPr txBox="1"/>
          <p:nvPr/>
        </p:nvSpPr>
        <p:spPr>
          <a:xfrm>
            <a:off x="6299200" y="22606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Tout changement doit être testé et validé</a:t>
            </a:r>
          </a:p>
          <a:p>
            <a:r>
              <a:rPr lang="fr-FR" sz="1200">
                <a:solidFill>
                  <a:srgbClr val="2E2A26"/>
                </a:solidFill>
                <a:latin typeface="Arial" panose="020B0604020202020204" pitchFamily="34" charset="0"/>
              </a:rPr>
              <a:t>• Categorie: Validation des changements</a:t>
            </a:r>
          </a:p>
        </p:txBody>
      </p:sp>
      <p:sp>
        <p:nvSpPr>
          <p:cNvPr id="15" name="Rectangle 14">
            <a:extLst>
              <a:ext uri="{FF2B5EF4-FFF2-40B4-BE49-F238E27FC236}">
                <a16:creationId xmlns:a16="http://schemas.microsoft.com/office/drawing/2014/main" id="{2CA6BBAF-276B-9866-3399-CF09E48193E5}"/>
              </a:ext>
            </a:extLst>
          </p:cNvPr>
          <p:cNvSpPr/>
          <p:nvPr/>
        </p:nvSpPr>
        <p:spPr>
          <a:xfrm>
            <a:off x="4318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6" name="ZoneTexte 15">
            <a:extLst>
              <a:ext uri="{FF2B5EF4-FFF2-40B4-BE49-F238E27FC236}">
                <a16:creationId xmlns:a16="http://schemas.microsoft.com/office/drawing/2014/main" id="{746AB578-74AF-FE33-5B25-A03EF73CAB69}"/>
              </a:ext>
            </a:extLst>
          </p:cNvPr>
          <p:cNvSpPr txBox="1"/>
          <p:nvPr/>
        </p:nvSpPr>
        <p:spPr>
          <a:xfrm>
            <a:off x="6096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Risque / impact</a:t>
            </a:r>
          </a:p>
        </p:txBody>
      </p:sp>
      <p:sp>
        <p:nvSpPr>
          <p:cNvPr id="17" name="ZoneTexte 16">
            <a:extLst>
              <a:ext uri="{FF2B5EF4-FFF2-40B4-BE49-F238E27FC236}">
                <a16:creationId xmlns:a16="http://schemas.microsoft.com/office/drawing/2014/main" id="{6AB9D490-3E80-A130-711D-19A5CC05880D}"/>
              </a:ext>
            </a:extLst>
          </p:cNvPr>
          <p:cNvSpPr txBox="1"/>
          <p:nvPr/>
        </p:nvSpPr>
        <p:spPr>
          <a:xfrm>
            <a:off x="609600" y="4470400"/>
            <a:ext cx="4876800" cy="461665"/>
          </a:xfrm>
          <a:prstGeom prst="rect">
            <a:avLst/>
          </a:prstGeom>
          <a:noFill/>
        </p:spPr>
        <p:txBody>
          <a:bodyPr vert="horz" rtlCol="0">
            <a:spAutoFit/>
          </a:bodyPr>
          <a:lstStyle/>
          <a:p>
            <a:r>
              <a:rPr lang="fr-FR" sz="1200">
                <a:solidFill>
                  <a:srgbClr val="2E2A26"/>
                </a:solidFill>
                <a:latin typeface="Arial" panose="020B0604020202020204" pitchFamily="34" charset="0"/>
              </a:rPr>
              <a:t>• Instabilité système</a:t>
            </a:r>
          </a:p>
          <a:p>
            <a:r>
              <a:rPr lang="fr-FR" sz="1200">
                <a:solidFill>
                  <a:srgbClr val="2E2A26"/>
                </a:solidFill>
                <a:latin typeface="Arial" panose="020B0604020202020204" pitchFamily="34" charset="0"/>
              </a:rPr>
              <a:t>• Commentaire auditeur: Logs Oracle mars 2025</a:t>
            </a:r>
          </a:p>
        </p:txBody>
      </p:sp>
      <p:sp>
        <p:nvSpPr>
          <p:cNvPr id="18" name="Rectangle 17">
            <a:extLst>
              <a:ext uri="{FF2B5EF4-FFF2-40B4-BE49-F238E27FC236}">
                <a16:creationId xmlns:a16="http://schemas.microsoft.com/office/drawing/2014/main" id="{7310339A-C6EA-78F1-1129-2D677FB1AC45}"/>
              </a:ext>
            </a:extLst>
          </p:cNvPr>
          <p:cNvSpPr/>
          <p:nvPr/>
        </p:nvSpPr>
        <p:spPr>
          <a:xfrm>
            <a:off x="6121400" y="3987800"/>
            <a:ext cx="5232400" cy="1778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9" name="ZoneTexte 18">
            <a:extLst>
              <a:ext uri="{FF2B5EF4-FFF2-40B4-BE49-F238E27FC236}">
                <a16:creationId xmlns:a16="http://schemas.microsoft.com/office/drawing/2014/main" id="{30B73832-61D2-30AD-2878-6A83A7D9BB06}"/>
              </a:ext>
            </a:extLst>
          </p:cNvPr>
          <p:cNvSpPr txBox="1"/>
          <p:nvPr/>
        </p:nvSpPr>
        <p:spPr>
          <a:xfrm>
            <a:off x="6299200" y="4114800"/>
            <a:ext cx="49276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Procedure compensatoire et recommandation</a:t>
            </a:r>
          </a:p>
        </p:txBody>
      </p:sp>
      <p:sp>
        <p:nvSpPr>
          <p:cNvPr id="20" name="ZoneTexte 19">
            <a:extLst>
              <a:ext uri="{FF2B5EF4-FFF2-40B4-BE49-F238E27FC236}">
                <a16:creationId xmlns:a16="http://schemas.microsoft.com/office/drawing/2014/main" id="{5480EB01-A9BC-2F61-1054-982F8F0A5D5E}"/>
              </a:ext>
            </a:extLst>
          </p:cNvPr>
          <p:cNvSpPr txBox="1"/>
          <p:nvPr/>
        </p:nvSpPr>
        <p:spPr>
          <a:xfrm>
            <a:off x="6299200" y="4470400"/>
            <a:ext cx="4876800" cy="646331"/>
          </a:xfrm>
          <a:prstGeom prst="rect">
            <a:avLst/>
          </a:prstGeom>
          <a:noFill/>
        </p:spPr>
        <p:txBody>
          <a:bodyPr vert="horz" rtlCol="0">
            <a:spAutoFit/>
          </a:bodyPr>
          <a:lstStyle/>
          <a:p>
            <a:r>
              <a:rPr lang="fr-FR" sz="1200">
                <a:solidFill>
                  <a:srgbClr val="2E2A26"/>
                </a:solidFill>
                <a:latin typeface="Arial" panose="020B0604020202020204" pitchFamily="34" charset="0"/>
              </a:rPr>
              <a:t>• Tests post-déploiement</a:t>
            </a:r>
          </a:p>
          <a:p>
            <a:r>
              <a:rPr lang="fr-FR" sz="1200">
                <a:solidFill>
                  <a:srgbClr val="2E2A26"/>
                </a:solidFill>
                <a:latin typeface="Arial" panose="020B0604020202020204" pitchFamily="34" charset="0"/>
              </a:rPr>
              <a:t>• Formaliser la validation prealable des changements et interdire toute mise en production sans evidence de test et d'approbation.</a:t>
            </a:r>
          </a:p>
        </p:txBody>
      </p:sp>
      <p:sp>
        <p:nvSpPr>
          <p:cNvPr id="21" name="Rectangle 20">
            <a:extLst>
              <a:ext uri="{FF2B5EF4-FFF2-40B4-BE49-F238E27FC236}">
                <a16:creationId xmlns:a16="http://schemas.microsoft.com/office/drawing/2014/main" id="{EEE20CE1-8CCA-7B85-53AA-7C1BDC6E8A26}"/>
              </a:ext>
            </a:extLst>
          </p:cNvPr>
          <p:cNvSpPr/>
          <p:nvPr/>
        </p:nvSpPr>
        <p:spPr>
          <a:xfrm>
            <a:off x="9271000" y="1295400"/>
            <a:ext cx="2082800" cy="304800"/>
          </a:xfrm>
          <a:prstGeom prst="rect">
            <a:avLst/>
          </a:prstGeom>
          <a:solidFill>
            <a:srgbClr val="EC6000"/>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22" name="ZoneTexte 21">
            <a:extLst>
              <a:ext uri="{FF2B5EF4-FFF2-40B4-BE49-F238E27FC236}">
                <a16:creationId xmlns:a16="http://schemas.microsoft.com/office/drawing/2014/main" id="{ED3970FC-A84D-7EA0-21BE-1703D570124E}"/>
              </a:ext>
            </a:extLst>
          </p:cNvPr>
          <p:cNvSpPr txBox="1"/>
          <p:nvPr/>
        </p:nvSpPr>
        <p:spPr>
          <a:xfrm>
            <a:off x="9271000" y="1320800"/>
            <a:ext cx="20828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Priorite Elevee</a:t>
            </a:r>
          </a:p>
        </p:txBody>
      </p:sp>
    </p:spTree>
    <p:extLst>
      <p:ext uri="{BB962C8B-B14F-4D97-AF65-F5344CB8AC3E}">
        <p14:creationId xmlns:p14="http://schemas.microsoft.com/office/powerpoint/2010/main" val="20513239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9151813B-796C-B56B-2E7F-2E41F7F91F34}"/>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E3877B5F-EF9D-5851-2A8D-3D59E73B035F}"/>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D18C4C9F-3AE2-F245-02A1-027821B7B234}"/>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7C397CE8-800B-C3B7-F393-0E5FEE1F4DB1}"/>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Recommandations detaillees</a:t>
            </a:r>
          </a:p>
        </p:txBody>
      </p:sp>
      <p:sp>
        <p:nvSpPr>
          <p:cNvPr id="6" name="ZoneTexte 5">
            <a:extLst>
              <a:ext uri="{FF2B5EF4-FFF2-40B4-BE49-F238E27FC236}">
                <a16:creationId xmlns:a16="http://schemas.microsoft.com/office/drawing/2014/main" id="{7ECC639A-7263-664F-5498-3A79759AC17F}"/>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Actions prioritaires proposees</a:t>
            </a:r>
          </a:p>
        </p:txBody>
      </p:sp>
      <p:sp>
        <p:nvSpPr>
          <p:cNvPr id="7" name="ZoneTexte 6">
            <a:extLst>
              <a:ext uri="{FF2B5EF4-FFF2-40B4-BE49-F238E27FC236}">
                <a16:creationId xmlns:a16="http://schemas.microsoft.com/office/drawing/2014/main" id="{B586AEC4-0E2D-4528-37F7-B8E1FA17B3E9}"/>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14</a:t>
            </a:r>
          </a:p>
        </p:txBody>
      </p:sp>
      <p:sp>
        <p:nvSpPr>
          <p:cNvPr id="8" name="Rectangle 7">
            <a:extLst>
              <a:ext uri="{FF2B5EF4-FFF2-40B4-BE49-F238E27FC236}">
                <a16:creationId xmlns:a16="http://schemas.microsoft.com/office/drawing/2014/main" id="{B609B393-28B1-FB1A-C78F-AA82101D8375}"/>
              </a:ext>
            </a:extLst>
          </p:cNvPr>
          <p:cNvSpPr/>
          <p:nvPr/>
        </p:nvSpPr>
        <p:spPr>
          <a:xfrm>
            <a:off x="431800" y="1524000"/>
            <a:ext cx="10922000" cy="3810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2EEE71B1-8D9D-10E7-23AE-F3C589190AB7}"/>
              </a:ext>
            </a:extLst>
          </p:cNvPr>
          <p:cNvSpPr txBox="1"/>
          <p:nvPr/>
        </p:nvSpPr>
        <p:spPr>
          <a:xfrm>
            <a:off x="609600" y="16510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Plan d'action recommande</a:t>
            </a:r>
          </a:p>
        </p:txBody>
      </p:sp>
      <p:sp>
        <p:nvSpPr>
          <p:cNvPr id="10" name="ZoneTexte 9">
            <a:extLst>
              <a:ext uri="{FF2B5EF4-FFF2-40B4-BE49-F238E27FC236}">
                <a16:creationId xmlns:a16="http://schemas.microsoft.com/office/drawing/2014/main" id="{6F13DC09-EE8D-2205-7051-B73F50E7456C}"/>
              </a:ext>
            </a:extLst>
          </p:cNvPr>
          <p:cNvSpPr txBox="1"/>
          <p:nvPr/>
        </p:nvSpPr>
        <p:spPr>
          <a:xfrm>
            <a:off x="609600" y="2006600"/>
            <a:ext cx="10566400" cy="1384995"/>
          </a:xfrm>
          <a:prstGeom prst="rect">
            <a:avLst/>
          </a:prstGeom>
          <a:noFill/>
        </p:spPr>
        <p:txBody>
          <a:bodyPr vert="horz" rtlCol="0">
            <a:spAutoFit/>
          </a:bodyPr>
          <a:lstStyle/>
          <a:p>
            <a:r>
              <a:rPr lang="fr-FR" sz="1200">
                <a:solidFill>
                  <a:srgbClr val="2E2A26"/>
                </a:solidFill>
                <a:latin typeface="Arial" panose="020B0604020202020204" pitchFamily="34" charset="0"/>
              </a:rPr>
              <a:t>• APD-01 | Active Directory | Critique | Mettre en place un rapprochement formel entre les departs RH et les comptes actifs, avec desactivation immediate et piste de revue.</a:t>
            </a:r>
          </a:p>
          <a:p>
            <a:r>
              <a:rPr lang="fr-FR" sz="1200">
                <a:solidFill>
                  <a:srgbClr val="2E2A26"/>
                </a:solidFill>
                <a:latin typeface="Arial" panose="020B0604020202020204" pitchFamily="34" charset="0"/>
              </a:rPr>
              <a:t>• APD-02 | SAP | Critique | Exiger une validation hierarchique tracee avant toute creation d'acces et bloquer techniquement les demandes incompletes.</a:t>
            </a:r>
          </a:p>
          <a:p>
            <a:r>
              <a:rPr lang="fr-FR" sz="1200">
                <a:solidFill>
                  <a:srgbClr val="2E2A26"/>
                </a:solidFill>
                <a:latin typeface="Arial" panose="020B0604020202020204" pitchFamily="34" charset="0"/>
              </a:rPr>
              <a:t>• CO-01 | Serveur Backup | Elevee | Planifier et documenter des tests de restauration periodiques afin de confirmer la recuperabilite effective des sauvegardes.</a:t>
            </a:r>
          </a:p>
          <a:p>
            <a:r>
              <a:rPr lang="fr-FR" sz="1200">
                <a:solidFill>
                  <a:srgbClr val="2E2A26"/>
                </a:solidFill>
                <a:latin typeface="Arial" panose="020B0604020202020204" pitchFamily="34" charset="0"/>
              </a:rPr>
              <a:t>• PC-01 | Oracle | Elevee | Formaliser la validation prealable des changements et interdire toute mise en production sans evidence de test et d'approbation.</a:t>
            </a:r>
          </a:p>
        </p:txBody>
      </p:sp>
    </p:spTree>
    <p:extLst>
      <p:ext uri="{BB962C8B-B14F-4D97-AF65-F5344CB8AC3E}">
        <p14:creationId xmlns:p14="http://schemas.microsoft.com/office/powerpoint/2010/main" val="20863441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4C9259E-4B80-152F-448D-2CD16E23A3A1}"/>
              </a:ext>
            </a:extLst>
          </p:cNvPr>
          <p:cNvSpPr/>
          <p:nvPr/>
        </p:nvSpPr>
        <p:spPr>
          <a:xfrm>
            <a:off x="0" y="0"/>
            <a:ext cx="12192000" cy="736600"/>
          </a:xfrm>
          <a:prstGeom prst="rect">
            <a:avLst/>
          </a:prstGeom>
          <a:solidFill>
            <a:srgbClr val="2E2A26"/>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3" name="Rectangle 2">
            <a:extLst>
              <a:ext uri="{FF2B5EF4-FFF2-40B4-BE49-F238E27FC236}">
                <a16:creationId xmlns:a16="http://schemas.microsoft.com/office/drawing/2014/main" id="{895FD67A-AB2C-7667-F19E-9744D9A368AC}"/>
              </a:ext>
            </a:extLst>
          </p:cNvPr>
          <p:cNvSpPr/>
          <p:nvPr/>
        </p:nvSpPr>
        <p:spPr>
          <a:xfrm>
            <a:off x="0" y="736600"/>
            <a:ext cx="12192000" cy="101600"/>
          </a:xfrm>
          <a:prstGeom prst="rect">
            <a:avLst/>
          </a:prstGeom>
          <a:solidFill>
            <a:srgbClr val="005FEB"/>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4" name="Rectangle 3">
            <a:extLst>
              <a:ext uri="{FF2B5EF4-FFF2-40B4-BE49-F238E27FC236}">
                <a16:creationId xmlns:a16="http://schemas.microsoft.com/office/drawing/2014/main" id="{E69F1AF6-4ADA-FF23-9FD2-E97958467071}"/>
              </a:ext>
            </a:extLst>
          </p:cNvPr>
          <p:cNvSpPr/>
          <p:nvPr/>
        </p:nvSpPr>
        <p:spPr>
          <a:xfrm>
            <a:off x="0" y="6553200"/>
            <a:ext cx="12192000" cy="304800"/>
          </a:xfrm>
          <a:prstGeom prst="rect">
            <a:avLst/>
          </a:prstGeom>
          <a:solidFill>
            <a:srgbClr val="F3F0ED"/>
          </a:solidFill>
          <a:ln w="19050" cap="flat" cmpd="sng" algn="ctr">
            <a:noFill/>
            <a:prstDash val="solid"/>
            <a:miter lim="800000"/>
          </a:ln>
          <a:effectLst/>
          <a:extLst>
            <a:ext uri="{91240B29-F687-4F45-9708-019B960494DF}">
              <a14:hiddenLine xmlns:a14="http://schemas.microsoft.com/office/drawing/2010/main" w="1905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5" name="ZoneTexte 4">
            <a:extLst>
              <a:ext uri="{FF2B5EF4-FFF2-40B4-BE49-F238E27FC236}">
                <a16:creationId xmlns:a16="http://schemas.microsoft.com/office/drawing/2014/main" id="{25BD0039-CE70-A8AF-899F-EE482ADF4FDF}"/>
              </a:ext>
            </a:extLst>
          </p:cNvPr>
          <p:cNvSpPr txBox="1"/>
          <p:nvPr/>
        </p:nvSpPr>
        <p:spPr>
          <a:xfrm>
            <a:off x="355600" y="177800"/>
            <a:ext cx="9398000" cy="461665"/>
          </a:xfrm>
          <a:prstGeom prst="rect">
            <a:avLst/>
          </a:prstGeom>
          <a:noFill/>
        </p:spPr>
        <p:txBody>
          <a:bodyPr vert="horz" rtlCol="0">
            <a:spAutoFit/>
          </a:bodyPr>
          <a:lstStyle/>
          <a:p>
            <a:r>
              <a:rPr lang="fr-FR" sz="2400" b="1">
                <a:solidFill>
                  <a:srgbClr val="FFFFFF"/>
                </a:solidFill>
                <a:latin typeface="Arial" panose="020B0604020202020204" pitchFamily="34" charset="0"/>
              </a:rPr>
              <a:t>Conclusion</a:t>
            </a:r>
          </a:p>
        </p:txBody>
      </p:sp>
      <p:sp>
        <p:nvSpPr>
          <p:cNvPr id="6" name="ZoneTexte 5">
            <a:extLst>
              <a:ext uri="{FF2B5EF4-FFF2-40B4-BE49-F238E27FC236}">
                <a16:creationId xmlns:a16="http://schemas.microsoft.com/office/drawing/2014/main" id="{8800EC23-2258-5D79-5DAB-3899413DD24A}"/>
              </a:ext>
            </a:extLst>
          </p:cNvPr>
          <p:cNvSpPr txBox="1"/>
          <p:nvPr/>
        </p:nvSpPr>
        <p:spPr>
          <a:xfrm>
            <a:off x="355600" y="889000"/>
            <a:ext cx="11176000" cy="261610"/>
          </a:xfrm>
          <a:prstGeom prst="rect">
            <a:avLst/>
          </a:prstGeom>
          <a:noFill/>
        </p:spPr>
        <p:txBody>
          <a:bodyPr vert="horz" rtlCol="0">
            <a:spAutoFit/>
          </a:bodyPr>
          <a:lstStyle/>
          <a:p>
            <a:r>
              <a:rPr lang="fr-FR" sz="1100">
                <a:solidFill>
                  <a:srgbClr val="7A726B"/>
                </a:solidFill>
                <a:latin typeface="Arial" panose="020B0604020202020204" pitchFamily="34" charset="0"/>
              </a:rPr>
              <a:t>Messages de cloture</a:t>
            </a:r>
          </a:p>
        </p:txBody>
      </p:sp>
      <p:sp>
        <p:nvSpPr>
          <p:cNvPr id="7" name="ZoneTexte 6">
            <a:extLst>
              <a:ext uri="{FF2B5EF4-FFF2-40B4-BE49-F238E27FC236}">
                <a16:creationId xmlns:a16="http://schemas.microsoft.com/office/drawing/2014/main" id="{9CA82AE6-84FC-7B0A-511A-11DC4345BDE3}"/>
              </a:ext>
            </a:extLst>
          </p:cNvPr>
          <p:cNvSpPr txBox="1"/>
          <p:nvPr/>
        </p:nvSpPr>
        <p:spPr>
          <a:xfrm>
            <a:off x="10287000" y="152400"/>
            <a:ext cx="1524000" cy="246221"/>
          </a:xfrm>
          <a:prstGeom prst="rect">
            <a:avLst/>
          </a:prstGeom>
          <a:noFill/>
        </p:spPr>
        <p:txBody>
          <a:bodyPr vert="horz" rtlCol="0">
            <a:spAutoFit/>
          </a:bodyPr>
          <a:lstStyle/>
          <a:p>
            <a:pPr algn="ctr"/>
            <a:r>
              <a:rPr lang="fr-FR" sz="1000" b="1">
                <a:solidFill>
                  <a:srgbClr val="FFFFFF"/>
                </a:solidFill>
                <a:latin typeface="Arial" panose="020B0604020202020204" pitchFamily="34" charset="0"/>
              </a:rPr>
              <a:t>15</a:t>
            </a:r>
          </a:p>
        </p:txBody>
      </p:sp>
      <p:sp>
        <p:nvSpPr>
          <p:cNvPr id="8" name="Rectangle 7">
            <a:extLst>
              <a:ext uri="{FF2B5EF4-FFF2-40B4-BE49-F238E27FC236}">
                <a16:creationId xmlns:a16="http://schemas.microsoft.com/office/drawing/2014/main" id="{1749398A-FEBF-A6F9-2685-7FAF65322AE1}"/>
              </a:ext>
            </a:extLst>
          </p:cNvPr>
          <p:cNvSpPr/>
          <p:nvPr/>
        </p:nvSpPr>
        <p:spPr>
          <a:xfrm>
            <a:off x="431800" y="1524000"/>
            <a:ext cx="10922000" cy="1524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9" name="ZoneTexte 8">
            <a:extLst>
              <a:ext uri="{FF2B5EF4-FFF2-40B4-BE49-F238E27FC236}">
                <a16:creationId xmlns:a16="http://schemas.microsoft.com/office/drawing/2014/main" id="{BF100FEB-C4D2-2A84-7D1A-40A1F3BE6463}"/>
              </a:ext>
            </a:extLst>
          </p:cNvPr>
          <p:cNvSpPr txBox="1"/>
          <p:nvPr/>
        </p:nvSpPr>
        <p:spPr>
          <a:xfrm>
            <a:off x="609600" y="1701800"/>
            <a:ext cx="10566400" cy="461665"/>
          </a:xfrm>
          <a:prstGeom prst="rect">
            <a:avLst/>
          </a:prstGeom>
          <a:noFill/>
        </p:spPr>
        <p:txBody>
          <a:bodyPr vert="horz" rtlCol="0">
            <a:spAutoFit/>
          </a:bodyPr>
          <a:lstStyle/>
          <a:p>
            <a:r>
              <a:rPr lang="fr-FR" sz="1200">
                <a:solidFill>
                  <a:srgbClr val="2E2A26"/>
                </a:solidFill>
                <a:latin typeface="Arial" panose="020B0604020202020204" pitchFamily="34" charset="0"/>
              </a:rPr>
              <a:t>Au regard des constats releves, nous recommandons la mise en oeuvre prioritaire d'un plan d'action cible sur les controles de gestion des acces, la validation des changements et les tests de restauration, ainsi qu'un suivi formel des actions correctrices par le management.</a:t>
            </a:r>
          </a:p>
        </p:txBody>
      </p:sp>
      <p:sp>
        <p:nvSpPr>
          <p:cNvPr id="10" name="Rectangle 9">
            <a:extLst>
              <a:ext uri="{FF2B5EF4-FFF2-40B4-BE49-F238E27FC236}">
                <a16:creationId xmlns:a16="http://schemas.microsoft.com/office/drawing/2014/main" id="{834EB58C-1650-4061-8888-A919F57C3F78}"/>
              </a:ext>
            </a:extLst>
          </p:cNvPr>
          <p:cNvSpPr/>
          <p:nvPr/>
        </p:nvSpPr>
        <p:spPr>
          <a:xfrm>
            <a:off x="431800" y="3302000"/>
            <a:ext cx="10922000" cy="2286000"/>
          </a:xfrm>
          <a:prstGeom prst="rect">
            <a:avLst/>
          </a:prstGeom>
          <a:solidFill>
            <a:srgbClr val="FFFFFF"/>
          </a:solidFill>
          <a:ln>
            <a:solidFill>
              <a:srgbClr val="F3F0E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FR"/>
          </a:p>
        </p:txBody>
      </p:sp>
      <p:sp>
        <p:nvSpPr>
          <p:cNvPr id="11" name="ZoneTexte 10">
            <a:extLst>
              <a:ext uri="{FF2B5EF4-FFF2-40B4-BE49-F238E27FC236}">
                <a16:creationId xmlns:a16="http://schemas.microsoft.com/office/drawing/2014/main" id="{6A86E44E-07E9-D4CE-6D45-374DBF50DC43}"/>
              </a:ext>
            </a:extLst>
          </p:cNvPr>
          <p:cNvSpPr txBox="1"/>
          <p:nvPr/>
        </p:nvSpPr>
        <p:spPr>
          <a:xfrm>
            <a:off x="609600" y="3429000"/>
            <a:ext cx="10617200" cy="307777"/>
          </a:xfrm>
          <a:prstGeom prst="rect">
            <a:avLst/>
          </a:prstGeom>
          <a:noFill/>
        </p:spPr>
        <p:txBody>
          <a:bodyPr vert="horz" rtlCol="0">
            <a:spAutoFit/>
          </a:bodyPr>
          <a:lstStyle/>
          <a:p>
            <a:r>
              <a:rPr lang="fr-FR" sz="1400" b="1">
                <a:solidFill>
                  <a:srgbClr val="2E2A26"/>
                </a:solidFill>
                <a:latin typeface="Arial" panose="020B0604020202020204" pitchFamily="34" charset="0"/>
              </a:rPr>
              <a:t>Axes de suivi recommandes</a:t>
            </a:r>
          </a:p>
        </p:txBody>
      </p:sp>
      <p:sp>
        <p:nvSpPr>
          <p:cNvPr id="12" name="ZoneTexte 11">
            <a:extLst>
              <a:ext uri="{FF2B5EF4-FFF2-40B4-BE49-F238E27FC236}">
                <a16:creationId xmlns:a16="http://schemas.microsoft.com/office/drawing/2014/main" id="{5A32C798-8D2F-7239-E746-094B3D0BA702}"/>
              </a:ext>
            </a:extLst>
          </p:cNvPr>
          <p:cNvSpPr txBox="1"/>
          <p:nvPr/>
        </p:nvSpPr>
        <p:spPr>
          <a:xfrm>
            <a:off x="609600" y="3784600"/>
            <a:ext cx="10566400" cy="1015663"/>
          </a:xfrm>
          <a:prstGeom prst="rect">
            <a:avLst/>
          </a:prstGeom>
          <a:noFill/>
        </p:spPr>
        <p:txBody>
          <a:bodyPr vert="horz" rtlCol="0">
            <a:spAutoFit/>
          </a:bodyPr>
          <a:lstStyle/>
          <a:p>
            <a:r>
              <a:rPr lang="fr-FR" sz="1200">
                <a:solidFill>
                  <a:srgbClr val="2E2A26"/>
                </a:solidFill>
                <a:latin typeface="Arial" panose="020B0604020202020204" pitchFamily="34" charset="0"/>
              </a:rPr>
              <a:t>• APD-01 - Comptes actifs après départ employés: 5 comptes utilisateurs restent actifs après départ; 1 connexion post-départ détectée. Impact potentiel: Accès non autorisé et risque de fuite de données.</a:t>
            </a:r>
          </a:p>
          <a:p>
            <a:r>
              <a:rPr lang="fr-FR" sz="1200">
                <a:solidFill>
                  <a:srgbClr val="2E2A26"/>
                </a:solidFill>
                <a:latin typeface="Arial" panose="020B0604020202020204" pitchFamily="34" charset="0"/>
              </a:rPr>
              <a:t>• APD-02 - Absence de validation des accès: 8 comptes créés sans validation. Impact potentiel: Risque de fraude ou erreur.</a:t>
            </a:r>
          </a:p>
          <a:p>
            <a:r>
              <a:rPr lang="fr-FR" sz="1200">
                <a:solidFill>
                  <a:srgbClr val="2E2A26"/>
                </a:solidFill>
                <a:latin typeface="Arial" panose="020B0604020202020204" pitchFamily="34" charset="0"/>
              </a:rPr>
              <a:t>• CO-01 - Absence de test de restauration: Aucun test sur 12 mois. Impact potentiel: Risque perte de données.</a:t>
            </a:r>
          </a:p>
          <a:p>
            <a:r>
              <a:rPr lang="fr-FR" sz="1200">
                <a:solidFill>
                  <a:srgbClr val="2E2A26"/>
                </a:solidFill>
                <a:latin typeface="Arial" panose="020B0604020202020204" pitchFamily="34" charset="0"/>
              </a:rPr>
              <a:t>• PC-01 - Changements non validés: 3 changements déployés sans validation. Impact potentiel: Instabilité système.</a:t>
            </a:r>
          </a:p>
        </p:txBody>
      </p:sp>
    </p:spTree>
    <p:extLst>
      <p:ext uri="{BB962C8B-B14F-4D97-AF65-F5344CB8AC3E}">
        <p14:creationId xmlns:p14="http://schemas.microsoft.com/office/powerpoint/2010/main" val="2218835384"/>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2063</Words>
  <Application>Microsoft Office PowerPoint</Application>
  <PresentationFormat>Grand écran</PresentationFormat>
  <Paragraphs>203</Paragraphs>
  <Slides>16</Slides>
  <Notes>0</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16</vt:i4>
      </vt:variant>
    </vt:vector>
  </HeadingPairs>
  <TitlesOfParts>
    <vt:vector size="20" baseType="lpstr">
      <vt:lpstr>Aptos</vt:lpstr>
      <vt:lpstr>Aptos Display</vt:lpstr>
      <vt:lpstr>Arial</vt:lpstr>
      <vt:lpstr>Thème Office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Ahlem BOUCHAHOUA</dc:creator>
  <cp:lastModifiedBy>Ahlem BOUCHAHOUA</cp:lastModifiedBy>
  <cp:revision>1</cp:revision>
  <dcterms:created xsi:type="dcterms:W3CDTF">2026-04-06T13:43:05Z</dcterms:created>
  <dcterms:modified xsi:type="dcterms:W3CDTF">2026-04-06T13:43:06Z</dcterms:modified>
</cp:coreProperties>
</file>